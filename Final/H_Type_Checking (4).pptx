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6858000" cx="12192000"/>
  <p:notesSz cx="6858000" cy="9144000"/>
  <p:embeddedFontLst>
    <p:embeddedFont>
      <p:font typeface="Radley"/>
      <p:regular r:id="rId51"/>
      <p:italic r:id="rId52"/>
    </p:embeddedFont>
    <p:embeddedFont>
      <p:font typeface="Lemon"/>
      <p:regular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j3DuxxAgpd0G5VWX6nlVmXIear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adley-regular.fntdata"/><Relationship Id="rId50" Type="http://schemas.openxmlformats.org/officeDocument/2006/relationships/slide" Target="slides/slide46.xml"/><Relationship Id="rId53" Type="http://schemas.openxmlformats.org/officeDocument/2006/relationships/font" Target="fonts/Lemon-regular.fntdata"/><Relationship Id="rId52" Type="http://schemas.openxmlformats.org/officeDocument/2006/relationships/font" Target="fonts/Radley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”Infer” there is a circular pattern. If we know expression types we can infer new variables’ types. If we know variables’ types we can infer expressions’ types.</a:t>
            </a:r>
            <a:endParaRPr/>
          </a:p>
        </p:txBody>
      </p:sp>
      <p:sp>
        <p:nvSpPr>
          <p:cNvPr id="245" name="Google Shape;2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”Infer” there is a circular pattern. If we know expression types we can infer new variables’ types. If we know variables’ types we can infer expressions’ types.</a:t>
            </a:r>
            <a:endParaRPr/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define a procedure whose declared return type does not match the type of the body of the procedure;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apply a non-procedure as a procedure;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apply a procedure to the wrong number of actual parameters;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apply a procedure to actual parameters whose types do not match the declared types of the corresponding formal parameters;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use a non-Boolean as the test in an if statement;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have expressions of different types in the then and else parts of an if statement;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assign a value to a variable with a set statement where the type of the variable does not match the type of the RHS expression.</a:t>
            </a:r>
            <a:endParaRPr/>
          </a:p>
        </p:txBody>
      </p:sp>
      <p:sp>
        <p:nvSpPr>
          <p:cNvPr id="286" name="Google Shape;2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define a procedure whose declared return type does not match the type of the body of the procedure;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apply a non-procedure as a procedure;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apply a procedure to the wrong number of actual parameters;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apply a procedure to actual parameters whose types do not match the declared types of the corresponding formal parameters;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use a non-Boolean as the test in an if statement;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have expressions of different types in the then and else parts of an if statement;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assign a value to a variable with a set statement where the type of the variable does not match the type of the RHS expression.</a:t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define a procedure whose declared return type does not match the type of the body of the procedure;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apply a non-procedure as a procedure;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apply a procedure to the wrong number of actual parameters;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apply a procedure to actual parameters whose types do not match the declared types of the corresponding formal parameters;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use a non-Boolean as the test in an if statement;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have expressions of different types in the then and else parts of an if statement;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an attempt to assign a value to a variable with a set statement where the type of the variable does not match the type of the RHS expression.</a:t>
            </a:r>
            <a:endParaRPr/>
          </a:p>
        </p:txBody>
      </p:sp>
      <p:sp>
        <p:nvSpPr>
          <p:cNvPr id="304" name="Google Shape;30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don't need to save a type closure because the only time you'll actually check type compatibility is right now.</a:t>
            </a:r>
            <a:endParaRPr/>
          </a:p>
        </p:txBody>
      </p:sp>
      <p:sp>
        <p:nvSpPr>
          <p:cNvPr id="460" name="Google Shape;46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7" name="Google Shape;1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" name="Google Shape;1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7" name="Google Shape;27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8" name="Google Shape;2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9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9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4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9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7" name="Google Shape;3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8" name="Google Shape;3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0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8" name="Google Shape;4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9" name="Google Shape;4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57" name="Google Shape;57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3" name="Google Shape;63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4" name="Google Shape;6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3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3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3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3" name="Google Shape;73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4" name="Google Shape;7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4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4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54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54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5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6" name="Google Shape;86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7" name="Google Shape;8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5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5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55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5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7" name="Google Shape;97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8" name="Google Shape;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6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6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03" name="Google Shape;103;p56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5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8" name="Google Shape;108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9" name="Google Shape;10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7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7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7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7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4" name="Google Shape;114;p57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5" name="Google Shape;115;p5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7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9" name="Google Shape;11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0" name="Google Shape;12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8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8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8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8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5" name="Google Shape;125;p5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8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9" name="Google Shape;12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0" name="Google Shape;13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9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9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9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9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59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5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9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59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en-US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/>
          </a:p>
        </p:txBody>
      </p:sp>
      <p:sp>
        <p:nvSpPr>
          <p:cNvPr id="140" name="Google Shape;140;p59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lang="en-US" sz="7200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2" name="Google Shape;142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3" name="Google Shape;14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0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0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0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6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60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2" name="Google Shape;152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53" name="Google Shape;15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1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61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61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61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0" name="Google Shape;160;p61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1" name="Google Shape;161;p61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61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3" name="Google Shape;163;p6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6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6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7" name="Google Shape;167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8" name="Google Shape;16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2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2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62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3" name="Google Shape;173;p62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4" name="Google Shape;174;p62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62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6" name="Google Shape;176;p62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7" name="Google Shape;177;p62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8" name="Google Shape;178;p62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p62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80" name="Google Shape;180;p62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1" name="Google Shape;181;p6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6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6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5" name="Google Shape;185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6" name="Google Shape;18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3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3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63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6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6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6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4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4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4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64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64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64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64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algn="ctr">
              <a:spcBef>
                <a:spcPts val="0"/>
              </a:spcBef>
              <a:buNone/>
              <a:defRPr sz="3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10" name="Google Shape;10;p47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47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3" name="Google Shape;13;p4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" name="Google Shape;15;p4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34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Notices</a:t>
            </a:r>
            <a:endParaRPr/>
          </a:p>
        </p:txBody>
      </p:sp>
      <p:sp>
        <p:nvSpPr>
          <p:cNvPr id="207" name="Google Shape;207;p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Exam delayed to Monday March 29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We will spend some time Friday March 26 discussing the exam.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Because of the exam, no Homework that gets graded will be assigned next week.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I will post an optional, </a:t>
            </a:r>
            <a:r>
              <a:rPr lang="en-US" u="sng"/>
              <a:t>ungraded</a:t>
            </a:r>
            <a:r>
              <a:rPr lang="en-US"/>
              <a:t> homework with answers that you can use to help you prepare for type-checking on the exam.</a:t>
            </a:r>
            <a:endParaRPr/>
          </a:p>
        </p:txBody>
      </p:sp>
      <p:sp>
        <p:nvSpPr>
          <p:cNvPr id="208" name="Google Shape;208;p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209" name="Google Shape;209;p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en-US"/>
              <a:t>Type Checking</a:t>
            </a:r>
            <a:endParaRPr/>
          </a:p>
        </p:txBody>
      </p:sp>
      <p:sp>
        <p:nvSpPr>
          <p:cNvPr id="216" name="Google Shape;216;p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Spring 2021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"/>
          <p:cNvSpPr txBox="1"/>
          <p:nvPr>
            <p:ph type="title"/>
          </p:nvPr>
        </p:nvSpPr>
        <p:spPr>
          <a:xfrm>
            <a:off x="680321" y="753228"/>
            <a:ext cx="977732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Aside: Steps to Implement Booleans (TYPE0)</a:t>
            </a:r>
            <a:endParaRPr/>
          </a:p>
        </p:txBody>
      </p:sp>
      <p:sp>
        <p:nvSpPr>
          <p:cNvPr id="223" name="Google Shape;223;p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Define literals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true</a:t>
            </a:r>
            <a:r>
              <a:rPr lang="en-US"/>
              <a:t> and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false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Define corresponding expression types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TrueExp</a:t>
            </a:r>
            <a:r>
              <a:rPr lang="en-US"/>
              <a:t> and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FalseExp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Add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isTrue</a:t>
            </a:r>
            <a:r>
              <a:rPr lang="en-US"/>
              <a:t> method in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Exp</a:t>
            </a:r>
            <a:r>
              <a:rPr lang="en-US"/>
              <a:t> class.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For now, if statements still accept integer tests as well.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0 =&gt;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false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Anything else =&gt;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true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Allow bool as a legitimate type expression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Since types aren't checked, we don't need to fully define the type.</a:t>
            </a:r>
            <a:endParaRPr/>
          </a:p>
        </p:txBody>
      </p:sp>
      <p:sp>
        <p:nvSpPr>
          <p:cNvPr id="224" name="Google Shape;224;p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225" name="Google Shape;225;p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Discussion: Where to </a:t>
            </a:r>
            <a:r>
              <a:rPr lang="en-US" u="sng"/>
              <a:t>add</a:t>
            </a:r>
            <a:r>
              <a:rPr lang="en-US"/>
              <a:t> type info to existing language elements</a:t>
            </a:r>
            <a:endParaRPr/>
          </a:p>
        </p:txBody>
      </p:sp>
      <p:sp>
        <p:nvSpPr>
          <p:cNvPr id="231" name="Google Shape;231;p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Syntax changes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Check if a proc application's expression is really a proc.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Restrict proc applications to variable names, defined as procs.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Leaves of the parse tree should somehow have obvious types.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Work your way up the tree, deducing types as you go, and checking.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Perhaps, at the leaves, matching patterns to types.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Preassign primitive returns to types.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Need a way of anticipating what type an expression will return.</a:t>
            </a:r>
            <a:endParaRPr/>
          </a:p>
        </p:txBody>
      </p:sp>
      <p:sp>
        <p:nvSpPr>
          <p:cNvPr id="232" name="Google Shape;232;p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233" name="Google Shape;233;p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Discussion: Where to </a:t>
            </a:r>
            <a:r>
              <a:rPr lang="en-US" u="sng"/>
              <a:t>add</a:t>
            </a:r>
            <a:r>
              <a:rPr lang="en-US"/>
              <a:t> type info to existing language elements</a:t>
            </a:r>
            <a:endParaRPr/>
          </a:p>
        </p:txBody>
      </p:sp>
      <p:sp>
        <p:nvSpPr>
          <p:cNvPr id="239" name="Google Shape;239;p5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We know that 1,2,3 are ints, and true,false are bools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Declare the types of procs' formal parameters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Declare procs' return types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Declare variable types in let &amp; define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0" name="Google Shape;240;p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241" name="Google Shape;241;p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"/>
          <p:cNvSpPr/>
          <p:nvPr/>
        </p:nvSpPr>
        <p:spPr>
          <a:xfrm>
            <a:off x="391886" y="3508310"/>
            <a:ext cx="10151706" cy="2427877"/>
          </a:xfrm>
          <a:prstGeom prst="rect">
            <a:avLst/>
          </a:prstGeom>
          <a:solidFill>
            <a:srgbClr val="D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When to Declare Types; When to </a:t>
            </a:r>
            <a:r>
              <a:rPr i="1" lang="en-US"/>
              <a:t>Infer</a:t>
            </a:r>
            <a:endParaRPr/>
          </a:p>
        </p:txBody>
      </p:sp>
      <p:sp>
        <p:nvSpPr>
          <p:cNvPr id="249" name="Google Shape;249;p6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There is not one answer here!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The less we declare, the more the compiler must figure out what will happen at run 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Our choices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Declare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types of proc formal parameters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type proc returns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Infer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types of variables in define statements and let expressions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/>
              <a:t>all expressions’ types</a:t>
            </a:r>
            <a:endParaRPr/>
          </a:p>
        </p:txBody>
      </p:sp>
      <p:sp>
        <p:nvSpPr>
          <p:cNvPr id="250" name="Google Shape;250;p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251" name="Google Shape;251;p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The PLCC Languages: Infer All Types?</a:t>
            </a:r>
            <a:endParaRPr/>
          </a:p>
        </p:txBody>
      </p:sp>
      <p:sp>
        <p:nvSpPr>
          <p:cNvPr id="258" name="Google Shape;258;p7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The PLCC languages cannot go to complete type inference.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define p = proc( x, y, p2 ) .p2( x, y )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endParaRPr>
              <a:latin typeface="Lemon"/>
              <a:ea typeface="Lemon"/>
              <a:cs typeface="Lemon"/>
              <a:sym typeface="Lemo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This is a legitimate proc in the REF language.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We cannot infer the types of anything here until the proc is applied.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Other languages handle this by making sure that any applications of the proc are sound…</a:t>
            </a:r>
            <a:endParaRPr/>
          </a:p>
        </p:txBody>
      </p:sp>
      <p:sp>
        <p:nvSpPr>
          <p:cNvPr id="259" name="Google Shape;259;p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260" name="Google Shape;260;p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Haskell: Full Type Inferencing when desired</a:t>
            </a:r>
            <a:br>
              <a:rPr lang="en-US"/>
            </a:br>
            <a:r>
              <a:rPr lang="en-US" sz="1400"/>
              <a:t>(defining the proc from the previous page in Haskell)</a:t>
            </a:r>
            <a:endParaRPr/>
          </a:p>
        </p:txBody>
      </p:sp>
      <p:sp>
        <p:nvSpPr>
          <p:cNvPr id="267" name="Google Shape;267;p8"/>
          <p:cNvSpPr txBox="1"/>
          <p:nvPr>
            <p:ph idx="1" type="body"/>
          </p:nvPr>
        </p:nvSpPr>
        <p:spPr>
          <a:xfrm>
            <a:off x="268196" y="2336873"/>
            <a:ext cx="4342441" cy="35993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&gt; let p = \ x y p2 -&gt; p2 x 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&gt; let f1 = \ a b -&gt; a + 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&gt; f1 3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&gt; let f2 = \ a b -&gt; a &gt; 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&gt; f2 3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False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&gt; p 3 5 f1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&gt; p 3 5 f2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False</a:t>
            </a:r>
            <a:endParaRPr/>
          </a:p>
        </p:txBody>
      </p:sp>
      <p:sp>
        <p:nvSpPr>
          <p:cNvPr id="268" name="Google Shape;268;p8"/>
          <p:cNvSpPr txBox="1"/>
          <p:nvPr>
            <p:ph idx="2" type="body"/>
          </p:nvPr>
        </p:nvSpPr>
        <p:spPr>
          <a:xfrm>
            <a:off x="4829577" y="2336873"/>
            <a:ext cx="7109138" cy="359931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&gt; p 3 True f1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&lt;interactive&gt;:10:3: error: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• No instance for (Num Bool) arising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    from the literal ‘3’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• In the first argument of ‘p’, namely ‘3’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In the expression: p 3 True f1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In an equation for ‘it’: it = p 3 True f1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269" name="Google Shape;269;p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270" name="Google Shape;270;p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Examples</a:t>
            </a:r>
            <a:endParaRPr/>
          </a:p>
        </p:txBody>
      </p:sp>
      <p:sp>
        <p:nvSpPr>
          <p:cNvPr id="277" name="Google Shape;277;p9"/>
          <p:cNvSpPr txBox="1"/>
          <p:nvPr>
            <p:ph idx="1" type="body"/>
          </p:nvPr>
        </p:nvSpPr>
        <p:spPr>
          <a:xfrm>
            <a:off x="680321" y="2336873"/>
            <a:ext cx="9613861" cy="3819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let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condition = true   % inferred bool variable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quantity = 7       % inferred int variable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foo = proc( x: int, y: bool ): int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if y then add1(x) else 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% Procs are explicitly typed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.foo( quantity, condition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278" name="Google Shape;278;p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9594762" y="4317265"/>
            <a:ext cx="2202287" cy="1159098"/>
          </a:xfrm>
          <a:prstGeom prst="wedgeEllipseCallout">
            <a:avLst>
              <a:gd fmla="val -115497" name="adj1"/>
              <a:gd fmla="val -43056" name="adj2"/>
            </a:avLst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Return type matches foo's spec.</a:t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7340959" y="5499710"/>
            <a:ext cx="2953222" cy="1159098"/>
          </a:xfrm>
          <a:prstGeom prst="wedgeEllipseCallout">
            <a:avLst>
              <a:gd fmla="val -84722" name="adj1"/>
              <a:gd fmla="val -29723" name="adj2"/>
            </a:avLst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Formal parameters match foo's spec.</a:t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9929612" y="2462707"/>
            <a:ext cx="2202287" cy="1159098"/>
          </a:xfrm>
          <a:prstGeom prst="wedgeEllipseCallout">
            <a:avLst>
              <a:gd fmla="val -129532" name="adj1"/>
              <a:gd fmla="val 110277" name="adj2"/>
            </a:avLst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Uses of x and y match foo's spec.</a:t>
            </a:r>
            <a:endParaRPr/>
          </a:p>
        </p:txBody>
      </p:sp>
      <p:sp>
        <p:nvSpPr>
          <p:cNvPr id="282" name="Google Shape;282;p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Causes of a Type Error (in REF)?</a:t>
            </a:r>
            <a:endParaRPr/>
          </a:p>
        </p:txBody>
      </p:sp>
      <p:sp>
        <p:nvSpPr>
          <p:cNvPr id="289" name="Google Shape;289;p10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Invalid operand types for proc's formals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Applying a non-proc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if expression type mismatch between then exp and else exp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Does the declared proc return type match the body's type?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Setting a variable that does not exist (is this a type error?)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Operand to proc application doesn't match formal's type.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set’</a:t>
            </a:r>
            <a:r>
              <a:rPr lang="en-US"/>
              <a:t>ing a variable to a type other than its original type.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Declared return type matches the type of the body expression.</a:t>
            </a:r>
            <a:endParaRPr/>
          </a:p>
        </p:txBody>
      </p:sp>
      <p:sp>
        <p:nvSpPr>
          <p:cNvPr id="290" name="Google Shape;290;p1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291" name="Google Shape;291;p1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Causes of a Type Error (in REF)?</a:t>
            </a:r>
            <a:endParaRPr/>
          </a:p>
        </p:txBody>
      </p:sp>
      <p:sp>
        <p:nvSpPr>
          <p:cNvPr id="298" name="Google Shape;298;p11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Operand to proc application doesn't match formal's type.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b="1" lang="en-US" u="sng">
                <a:latin typeface="Lemon"/>
                <a:ea typeface="Lemon"/>
                <a:cs typeface="Lemon"/>
                <a:sym typeface="Lemon"/>
              </a:rPr>
              <a:t>set</a:t>
            </a:r>
            <a:r>
              <a:rPr lang="en-US"/>
              <a:t>ting a variable to a type other than its original type.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Declared return type matches the type of the body expression.</a:t>
            </a:r>
            <a:endParaRPr/>
          </a:p>
        </p:txBody>
      </p:sp>
      <p:sp>
        <p:nvSpPr>
          <p:cNvPr id="299" name="Google Shape;299;p11"/>
          <p:cNvSpPr txBox="1"/>
          <p:nvPr>
            <p:ph idx="10" type="dt"/>
          </p:nvPr>
        </p:nvSpPr>
        <p:spPr>
          <a:xfrm>
            <a:off x="7550981" y="593618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00" name="Google Shape;300;p11"/>
          <p:cNvSpPr txBox="1"/>
          <p:nvPr>
            <p:ph idx="12" type="sldNum"/>
          </p:nvPr>
        </p:nvSpPr>
        <p:spPr>
          <a:xfrm>
            <a:off x="10729455" y="753227"/>
            <a:ext cx="11541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391886" y="2071396"/>
            <a:ext cx="10151706" cy="3864791"/>
          </a:xfrm>
          <a:prstGeom prst="rect">
            <a:avLst/>
          </a:prstGeom>
          <a:solidFill>
            <a:srgbClr val="D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7" name="Google Shape;307;p1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Causes of a Type Error (in REF)</a:t>
            </a:r>
            <a:endParaRPr/>
          </a:p>
        </p:txBody>
      </p:sp>
      <p:sp>
        <p:nvSpPr>
          <p:cNvPr id="308" name="Google Shape;308;p1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Define a procedure whose declared return type does not match the type of the body of the procedure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Apply a non-procedure as a procedure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Apply a procedure to the wrong number of actual operands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Apply a procedure to actual parameters whose types do not match the declared types of the corresponding formal parameters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Use a non-Boolean as the test in an if statement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Have expressions of different types in the then and else parts of an if statement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Assign a value to a variable with a set statement where the type of the variable does not match the type of the RHS expression</a:t>
            </a:r>
            <a:endParaRPr/>
          </a:p>
        </p:txBody>
      </p:sp>
      <p:sp>
        <p:nvSpPr>
          <p:cNvPr id="309" name="Google Shape;309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10" name="Google Shape;310;p1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TYPE0 Language, Slide 1</a:t>
            </a:r>
            <a:endParaRPr/>
          </a:p>
        </p:txBody>
      </p:sp>
      <p:sp>
        <p:nvSpPr>
          <p:cNvPr id="317" name="Google Shape;317;p13"/>
          <p:cNvSpPr txBox="1"/>
          <p:nvPr>
            <p:ph idx="1" type="body"/>
          </p:nvPr>
        </p:nvSpPr>
        <p:spPr>
          <a:xfrm>
            <a:off x="680321" y="2336873"/>
            <a:ext cx="11039454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Type-checking syntax, but no semantics (actual type-checking)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define p =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proc( x: int, y: bool ): int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if y then add1(x) else 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Changes to the grammar for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proc</a:t>
            </a:r>
            <a:r>
              <a:rPr lang="en-US"/>
              <a:t> declarations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&lt;exp&gt;:ProcExp ::= PROC LPAREN &lt;formals&gt; RPAREN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      COLON &lt;typeExpr&gt;retType &lt;exp&gt;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&lt;formals&gt; **= &lt;VAR&gt; COLON &lt;typeExpr&gt; +COMMA</a:t>
            </a:r>
            <a:endParaRPr/>
          </a:p>
        </p:txBody>
      </p:sp>
      <p:sp>
        <p:nvSpPr>
          <p:cNvPr id="318" name="Google Shape;318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211392" y="5653825"/>
            <a:ext cx="2021983" cy="875764"/>
          </a:xfrm>
          <a:prstGeom prst="wedgeRectCallout">
            <a:avLst>
              <a:gd fmla="val 84900" name="adj1"/>
              <a:gd fmla="val -68382" name="adj2"/>
            </a:avLst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TBD</a:t>
            </a:r>
            <a:endParaRPr/>
          </a:p>
        </p:txBody>
      </p:sp>
      <p:sp>
        <p:nvSpPr>
          <p:cNvPr id="320" name="Google Shape;320;p1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Notation</a:t>
            </a:r>
            <a:endParaRPr/>
          </a:p>
        </p:txBody>
      </p:sp>
      <p:sp>
        <p:nvSpPr>
          <p:cNvPr id="327" name="Google Shape;327;p14"/>
          <p:cNvSpPr txBox="1"/>
          <p:nvPr>
            <p:ph idx="1" type="body"/>
          </p:nvPr>
        </p:nvSpPr>
        <p:spPr>
          <a:xfrm>
            <a:off x="680321" y="2336873"/>
            <a:ext cx="9613861" cy="1168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Primitive types are just new keywords.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int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bool</a:t>
            </a:r>
            <a:endParaRPr/>
          </a:p>
        </p:txBody>
      </p:sp>
      <p:sp>
        <p:nvSpPr>
          <p:cNvPr id="328" name="Google Shape;328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29" name="Google Shape;329;p1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680321" y="3679331"/>
            <a:ext cx="9613861" cy="2256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When we need to express the </a:t>
            </a:r>
            <a:r>
              <a:rPr b="0" i="0" lang="en-US" sz="2400" u="sng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type</a:t>
            </a:r>
            <a:r>
              <a:rPr b="0" i="0" lang="en-US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of a proc here is the notation.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br>
              <a:rPr b="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</a:br>
            <a:r>
              <a:rPr b="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[t</a:t>
            </a:r>
            <a:r>
              <a:rPr b="0" baseline="-2500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1</a:t>
            </a:r>
            <a:r>
              <a:rPr b="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,t</a:t>
            </a:r>
            <a:r>
              <a:rPr b="0" baseline="-2500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2</a:t>
            </a:r>
            <a:r>
              <a:rPr b="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,···,t</a:t>
            </a:r>
            <a:r>
              <a:rPr b="0" baseline="-25000" i="1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n</a:t>
            </a:r>
            <a:r>
              <a:rPr b="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 =&gt; t</a:t>
            </a:r>
            <a:r>
              <a:rPr b="0" baseline="-2500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ret</a:t>
            </a:r>
            <a:r>
              <a:rPr b="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]</a:t>
            </a:r>
            <a:br>
              <a:rPr b="0" i="0" lang="en-US" sz="24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</a:br>
            <a:endParaRPr b="0" i="0" sz="2400" u="none" cap="none" strike="noStrike">
              <a:solidFill>
                <a:schemeClr val="lt1"/>
              </a:solidFill>
              <a:latin typeface="Lemon"/>
              <a:ea typeface="Lemon"/>
              <a:cs typeface="Lemon"/>
              <a:sym typeface="Lemo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It specifies the formals' types and the return type.</a:t>
            </a:r>
            <a:endParaRPr/>
          </a:p>
        </p:txBody>
      </p:sp>
      <p:sp>
        <p:nvSpPr>
          <p:cNvPr id="331" name="Google Shape;331;p14"/>
          <p:cNvSpPr txBox="1"/>
          <p:nvPr/>
        </p:nvSpPr>
        <p:spPr>
          <a:xfrm>
            <a:off x="7759700" y="2451100"/>
            <a:ext cx="39116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define p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    proc( x, y, p2 )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        .p2( x, y )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The </a:t>
            </a:r>
            <a:r>
              <a:rPr i="1" lang="en-US"/>
              <a:t>Type Expression</a:t>
            </a:r>
            <a:r>
              <a:rPr lang="en-US"/>
              <a:t> (for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proc</a:t>
            </a:r>
            <a:r>
              <a:rPr lang="en-US"/>
              <a:t> defs)</a:t>
            </a:r>
            <a:endParaRPr/>
          </a:p>
        </p:txBody>
      </p:sp>
      <p:sp>
        <p:nvSpPr>
          <p:cNvPr id="338" name="Google Shape;338;p15"/>
          <p:cNvSpPr txBox="1"/>
          <p:nvPr>
            <p:ph idx="1" type="body"/>
          </p:nvPr>
        </p:nvSpPr>
        <p:spPr>
          <a:xfrm>
            <a:off x="680321" y="2336872"/>
            <a:ext cx="11335668" cy="3793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We have three types: integer, Boolean, and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proc</a:t>
            </a:r>
            <a:r>
              <a:rPr lang="en-US"/>
              <a:t>, defined this way.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&lt;typeExpr&gt;:IntTypeExpr ::= INT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&lt;typeExpr&gt;:BoolTypeExpr ::= BOOL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&lt;typeExpr&gt;:ProcTypeExpr ::=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LBRACK &lt;typeExprs&gt; RARROW &lt;typeExpr&gt;retTypeExpr RBRACK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&lt;typeExprs&gt; **= &lt;typeExpr&gt; +COMMA</a:t>
            </a:r>
            <a:endParaRPr/>
          </a:p>
        </p:txBody>
      </p:sp>
      <p:sp>
        <p:nvSpPr>
          <p:cNvPr id="339" name="Google Shape;339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40" name="Google Shape;340;p15"/>
          <p:cNvSpPr txBox="1"/>
          <p:nvPr/>
        </p:nvSpPr>
        <p:spPr>
          <a:xfrm rot="-1573154">
            <a:off x="8272539" y="2952190"/>
            <a:ext cx="37529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Radley"/>
                <a:ea typeface="Radley"/>
                <a:cs typeface="Radley"/>
                <a:sym typeface="Radley"/>
              </a:rPr>
              <a:t>When types are mentioned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Radley"/>
                <a:ea typeface="Radley"/>
                <a:cs typeface="Radley"/>
                <a:sym typeface="Radley"/>
              </a:rPr>
              <a:t>in the source code!</a:t>
            </a:r>
            <a:endParaRPr/>
          </a:p>
        </p:txBody>
      </p:sp>
      <p:sp>
        <p:nvSpPr>
          <p:cNvPr id="341" name="Google Shape;341;p1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An Example with a Proc Type, Slide 1</a:t>
            </a:r>
            <a:endParaRPr/>
          </a:p>
        </p:txBody>
      </p:sp>
      <p:sp>
        <p:nvSpPr>
          <p:cNvPr id="348" name="Google Shape;348;p16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greater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proc( x: int, y: int ): bool &gt;?( x, y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less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proc( x: int, y: int ): bool &lt;?( x, y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349" name="Google Shape;349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50" name="Google Shape;350;p1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An Example with a Proc Type, Slide 2</a:t>
            </a:r>
            <a:endParaRPr/>
          </a:p>
        </p:txBody>
      </p:sp>
      <p:sp>
        <p:nvSpPr>
          <p:cNvPr id="357" name="Google Shape;357;p17"/>
          <p:cNvSpPr txBox="1"/>
          <p:nvPr>
            <p:ph idx="1" type="body"/>
          </p:nvPr>
        </p:nvSpPr>
        <p:spPr>
          <a:xfrm>
            <a:off x="680321" y="2336874"/>
            <a:ext cx="11511679" cy="3806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firstOf3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proc( compare: [ int, int =&gt; bool ], a: int, b: int, c: int ): int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if .compare( a, b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then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if .compare( a, c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then 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else 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else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if .compare( b, c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then 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else c</a:t>
            </a:r>
            <a:endParaRPr/>
          </a:p>
        </p:txBody>
      </p:sp>
      <p:sp>
        <p:nvSpPr>
          <p:cNvPr id="358" name="Google Shape;358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59" name="Google Shape;359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An Example with a Proc Type, Slide 3</a:t>
            </a:r>
            <a:endParaRPr/>
          </a:p>
        </p:txBody>
      </p:sp>
      <p:sp>
        <p:nvSpPr>
          <p:cNvPr id="366" name="Google Shape;366;p18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.firstOf3( greater, 3, 8, 4 )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.firstOf3( less, 3, 8, 4 )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3</a:t>
            </a:r>
            <a:endParaRPr/>
          </a:p>
        </p:txBody>
      </p:sp>
      <p:sp>
        <p:nvSpPr>
          <p:cNvPr id="367" name="Google Shape;367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68" name="Google Shape;368;p18"/>
          <p:cNvSpPr txBox="1"/>
          <p:nvPr/>
        </p:nvSpPr>
        <p:spPr>
          <a:xfrm>
            <a:off x="5280338" y="4829577"/>
            <a:ext cx="56493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Remember, in TYPE0 types are not actually checked!</a:t>
            </a:r>
            <a:endParaRPr/>
          </a:p>
        </p:txBody>
      </p:sp>
      <p:sp>
        <p:nvSpPr>
          <p:cNvPr id="369" name="Google Shape;369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>
            <p:ph type="title"/>
          </p:nvPr>
        </p:nvSpPr>
        <p:spPr>
          <a:xfrm>
            <a:off x="680321" y="753228"/>
            <a:ext cx="9777324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TYPE1 Warmup Information</a:t>
            </a:r>
            <a:endParaRPr/>
          </a:p>
        </p:txBody>
      </p:sp>
      <p:sp>
        <p:nvSpPr>
          <p:cNvPr id="376" name="Google Shape;376;p19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Booleans are now a full and separate type.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Each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if</a:t>
            </a:r>
            <a:r>
              <a:rPr lang="en-US"/>
              <a:t> statement's first operand now must be type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bool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Val</a:t>
            </a:r>
            <a:r>
              <a:rPr lang="en-US"/>
              <a:t> class: remove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isTrue()</a:t>
            </a:r>
            <a:r>
              <a:rPr lang="en-US"/>
              <a:t>, replace with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boolVal()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Create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BoolVal</a:t>
            </a:r>
            <a:r>
              <a:rPr lang="en-US"/>
              <a:t> class as new implementer of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Val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intVal()</a:t>
            </a:r>
            <a:r>
              <a:rPr lang="en-US"/>
              <a:t> fails.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boolVal()</a:t>
            </a:r>
            <a:r>
              <a:rPr lang="en-US"/>
              <a:t> works, of course.</a:t>
            </a:r>
            <a:endParaRPr/>
          </a:p>
        </p:txBody>
      </p:sp>
      <p:sp>
        <p:nvSpPr>
          <p:cNvPr id="377" name="Google Shape;377;p1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78" name="Google Shape;378;p1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TYPE1: Type Checking: The General </a:t>
            </a:r>
            <a:r>
              <a:rPr i="1" lang="en-US"/>
              <a:t>Design</a:t>
            </a:r>
            <a:endParaRPr/>
          </a:p>
        </p:txBody>
      </p:sp>
      <p:sp>
        <p:nvSpPr>
          <p:cNvPr id="385" name="Google Shape;385;p20"/>
          <p:cNvSpPr txBox="1"/>
          <p:nvPr>
            <p:ph idx="10" type="dt"/>
          </p:nvPr>
        </p:nvSpPr>
        <p:spPr>
          <a:xfrm>
            <a:off x="6672959" y="582027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680321" y="3477296"/>
            <a:ext cx="2382592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Interpreting 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Expression</a:t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3410643" y="2292439"/>
            <a:ext cx="1081825" cy="329699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5368231" y="2292439"/>
            <a:ext cx="2382592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1. Evaluate the expression's type</a:t>
            </a: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5368231" y="4675031"/>
            <a:ext cx="2382592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2. Compute the expression's value</a:t>
            </a:r>
            <a:endParaRPr/>
          </a:p>
        </p:txBody>
      </p:sp>
      <p:sp>
        <p:nvSpPr>
          <p:cNvPr id="390" name="Google Shape;390;p20"/>
          <p:cNvSpPr/>
          <p:nvPr/>
        </p:nvSpPr>
        <p:spPr>
          <a:xfrm>
            <a:off x="8703860" y="2408349"/>
            <a:ext cx="712299" cy="71229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9777265" y="2393489"/>
            <a:ext cx="712299" cy="71229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10856541" y="2408349"/>
            <a:ext cx="321971" cy="71229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3" name="Google Shape;393;p20"/>
          <p:cNvCxnSpPr>
            <a:stCxn id="388" idx="3"/>
            <a:endCxn id="390" idx="1"/>
          </p:cNvCxnSpPr>
          <p:nvPr/>
        </p:nvCxnSpPr>
        <p:spPr>
          <a:xfrm>
            <a:off x="7750823" y="2749639"/>
            <a:ext cx="953100" cy="15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94" name="Google Shape;394;p20"/>
          <p:cNvCxnSpPr>
            <a:stCxn id="390" idx="3"/>
            <a:endCxn id="391" idx="1"/>
          </p:cNvCxnSpPr>
          <p:nvPr/>
        </p:nvCxnSpPr>
        <p:spPr>
          <a:xfrm flipH="1" rot="10800000">
            <a:off x="9416159" y="2749499"/>
            <a:ext cx="361200" cy="15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95" name="Google Shape;395;p20"/>
          <p:cNvCxnSpPr>
            <a:stCxn id="391" idx="3"/>
            <a:endCxn id="392" idx="1"/>
          </p:cNvCxnSpPr>
          <p:nvPr/>
        </p:nvCxnSpPr>
        <p:spPr>
          <a:xfrm>
            <a:off x="10489564" y="2749639"/>
            <a:ext cx="366900" cy="15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396" name="Google Shape;396;p20"/>
          <p:cNvSpPr/>
          <p:nvPr/>
        </p:nvSpPr>
        <p:spPr>
          <a:xfrm>
            <a:off x="8703860" y="4779209"/>
            <a:ext cx="712299" cy="71229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9777265" y="4764349"/>
            <a:ext cx="712299" cy="71229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10856541" y="4779209"/>
            <a:ext cx="321971" cy="71229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399" name="Google Shape;399;p20"/>
          <p:cNvCxnSpPr>
            <a:stCxn id="396" idx="3"/>
            <a:endCxn id="397" idx="1"/>
          </p:cNvCxnSpPr>
          <p:nvPr/>
        </p:nvCxnSpPr>
        <p:spPr>
          <a:xfrm flipH="1" rot="10800000">
            <a:off x="9416159" y="5120359"/>
            <a:ext cx="361200" cy="15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00" name="Google Shape;400;p20"/>
          <p:cNvCxnSpPr>
            <a:stCxn id="397" idx="3"/>
            <a:endCxn id="398" idx="1"/>
          </p:cNvCxnSpPr>
          <p:nvPr/>
        </p:nvCxnSpPr>
        <p:spPr>
          <a:xfrm>
            <a:off x="10489564" y="5120499"/>
            <a:ext cx="366900" cy="15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01" name="Google Shape;401;p20"/>
          <p:cNvCxnSpPr>
            <a:stCxn id="389" idx="3"/>
            <a:endCxn id="396" idx="1"/>
          </p:cNvCxnSpPr>
          <p:nvPr/>
        </p:nvCxnSpPr>
        <p:spPr>
          <a:xfrm>
            <a:off x="7750823" y="5132231"/>
            <a:ext cx="953100" cy="3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402" name="Google Shape;402;p20"/>
          <p:cNvSpPr/>
          <p:nvPr/>
        </p:nvSpPr>
        <p:spPr>
          <a:xfrm rot="-5400000">
            <a:off x="9718453" y="2267136"/>
            <a:ext cx="445466" cy="247465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9159562" y="37935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type</a:t>
            </a: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bindings</a:t>
            </a:r>
            <a:endParaRPr sz="1800" u="sng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4" name="Google Shape;404;p20"/>
          <p:cNvSpPr/>
          <p:nvPr/>
        </p:nvSpPr>
        <p:spPr>
          <a:xfrm rot="-5400000">
            <a:off x="9718453" y="4587002"/>
            <a:ext cx="445466" cy="247465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9159562" y="6113462"/>
            <a:ext cx="20189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value</a:t>
            </a: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bindings</a:t>
            </a:r>
            <a:endParaRPr sz="1800" u="sng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6" name="Google Shape;406;p2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Parallels</a:t>
            </a:r>
            <a:endParaRPr/>
          </a:p>
        </p:txBody>
      </p:sp>
      <p:sp>
        <p:nvSpPr>
          <p:cNvPr id="413" name="Google Shape;413;p21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"Real", original</a:t>
            </a:r>
            <a:br>
              <a:rPr lang="en-US"/>
            </a:br>
            <a:r>
              <a:rPr lang="en-US"/>
              <a:t>interpretation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Expression gets evaluated against bindings present in the environment it's given.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exp.eval(env) -&gt; Val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14" name="Google Shape;414;p21"/>
          <p:cNvSpPr txBox="1"/>
          <p:nvPr>
            <p:ph idx="2" type="body"/>
          </p:nvPr>
        </p:nvSpPr>
        <p:spPr>
          <a:xfrm>
            <a:off x="5594122" y="2336873"/>
            <a:ext cx="615337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Type checking pseudo-interpretation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Expression gets evaluated against type bindings present in a </a:t>
            </a:r>
            <a:r>
              <a:rPr i="1" lang="en-US"/>
              <a:t>type environment</a:t>
            </a:r>
            <a:r>
              <a:rPr lang="en-US"/>
              <a:t>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exp.evalType(typeEnv) -&gt; Type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416" name="Google Shape;416;p2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What is type checking (</a:t>
            </a:r>
            <a:r>
              <a:rPr i="1" lang="en-US"/>
              <a:t>type evaluation</a:t>
            </a:r>
            <a:r>
              <a:rPr lang="en-US"/>
              <a:t>) like?</a:t>
            </a:r>
            <a:endParaRPr/>
          </a:p>
        </p:txBody>
      </p:sp>
      <p:sp>
        <p:nvSpPr>
          <p:cNvPr id="423" name="Google Shape;423;p22"/>
          <p:cNvSpPr txBox="1"/>
          <p:nvPr>
            <p:ph idx="1" type="body"/>
          </p:nvPr>
        </p:nvSpPr>
        <p:spPr>
          <a:xfrm>
            <a:off x="680321" y="2336873"/>
            <a:ext cx="9613861" cy="4250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Although following the same general algorithm, type-checking does not take as long as actual evaluation.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It does not have to go as "deep" and is guaranteed to finish.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Evaluating an expression for type correctness simply involves checking each component of the expression, recursively, and making sure that its type is known and correct for its environment.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Differences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(small) No need to update a variable binding in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set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(big) No need to actually apply a proc or primitive.</a:t>
            </a:r>
            <a:endParaRPr/>
          </a:p>
        </p:txBody>
      </p:sp>
      <p:sp>
        <p:nvSpPr>
          <p:cNvPr id="424" name="Google Shape;424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425" name="Google Shape;425;p2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"/>
          <p:cNvSpPr/>
          <p:nvPr/>
        </p:nvSpPr>
        <p:spPr>
          <a:xfrm>
            <a:off x="2302933" y="2252133"/>
            <a:ext cx="7230534" cy="4049179"/>
          </a:xfrm>
          <a:prstGeom prst="rect">
            <a:avLst/>
          </a:prstGeom>
          <a:solidFill>
            <a:srgbClr val="F6BE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1" name="Google Shape;431;p2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Representation of Type Notation Found in Source =&gt; in AST</a:t>
            </a:r>
            <a:endParaRPr/>
          </a:p>
        </p:txBody>
      </p:sp>
      <p:sp>
        <p:nvSpPr>
          <p:cNvPr id="432" name="Google Shape;432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pic>
        <p:nvPicPr>
          <p:cNvPr id="433" name="Google Shape;4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6700" y="2405587"/>
            <a:ext cx="5969000" cy="35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3"/>
          <p:cNvSpPr txBox="1"/>
          <p:nvPr/>
        </p:nvSpPr>
        <p:spPr>
          <a:xfrm>
            <a:off x="2302933" y="5331816"/>
            <a:ext cx="479971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toString()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methods return back the same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notation found in the source code.</a:t>
            </a:r>
            <a:endParaRPr/>
          </a:p>
        </p:txBody>
      </p:sp>
      <p:sp>
        <p:nvSpPr>
          <p:cNvPr id="435" name="Google Shape;435;p23"/>
          <p:cNvSpPr txBox="1"/>
          <p:nvPr/>
        </p:nvSpPr>
        <p:spPr>
          <a:xfrm>
            <a:off x="2404533" y="2436216"/>
            <a:ext cx="270933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toType()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methods generate the </a:t>
            </a:r>
            <a:r>
              <a:rPr lang="en-US" sz="18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Type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objects stored in the </a:t>
            </a:r>
            <a:r>
              <a:rPr lang="en-US" sz="18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TypeEnv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bindings.</a:t>
            </a:r>
            <a:endParaRPr/>
          </a:p>
        </p:txBody>
      </p:sp>
      <p:sp>
        <p:nvSpPr>
          <p:cNvPr id="436" name="Google Shape;436;p2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" name="Google Shape;437;p23"/>
          <p:cNvSpPr/>
          <p:nvPr/>
        </p:nvSpPr>
        <p:spPr>
          <a:xfrm>
            <a:off x="5113867" y="2721429"/>
            <a:ext cx="1493762" cy="468085"/>
          </a:xfrm>
          <a:prstGeom prst="ellipse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4"/>
          <p:cNvSpPr/>
          <p:nvPr/>
        </p:nvSpPr>
        <p:spPr>
          <a:xfrm>
            <a:off x="2425699" y="169333"/>
            <a:ext cx="7230534" cy="6470645"/>
          </a:xfrm>
          <a:prstGeom prst="rect">
            <a:avLst/>
          </a:prstGeom>
          <a:solidFill>
            <a:srgbClr val="F6BE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3" name="Google Shape;443;p2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444" name="Google Shape;444;p24"/>
          <p:cNvSpPr txBox="1"/>
          <p:nvPr>
            <p:ph idx="4294967295" type="title"/>
          </p:nvPr>
        </p:nvSpPr>
        <p:spPr>
          <a:xfrm>
            <a:off x="0" y="752475"/>
            <a:ext cx="2235200" cy="471699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TYPE1 </a:t>
            </a:r>
            <a:r>
              <a:rPr lang="en-US" u="sng"/>
              <a:t>Internal</a:t>
            </a:r>
            <a:r>
              <a:rPr lang="en-US"/>
              <a:t> Type Repre-sentation</a:t>
            </a:r>
            <a:endParaRPr/>
          </a:p>
        </p:txBody>
      </p:sp>
      <p:pic>
        <p:nvPicPr>
          <p:cNvPr id="445" name="Google Shape;4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6466" y="413805"/>
            <a:ext cx="5969000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4"/>
          <p:cNvSpPr txBox="1"/>
          <p:nvPr/>
        </p:nvSpPr>
        <p:spPr>
          <a:xfrm>
            <a:off x="6040966" y="5148080"/>
            <a:ext cx="33909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toString()</a:t>
            </a: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methods still return back the same notation found in the source code (handy for homework).</a:t>
            </a:r>
            <a:endParaRPr/>
          </a:p>
        </p:txBody>
      </p:sp>
      <p:sp>
        <p:nvSpPr>
          <p:cNvPr id="447" name="Google Shape;447;p2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Evaluating, via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Exp.evalType(TypeEnv)</a:t>
            </a:r>
            <a:r>
              <a:rPr lang="en-US"/>
              <a:t>,</a:t>
            </a:r>
            <a:br>
              <a:rPr lang="en-US"/>
            </a:br>
            <a:r>
              <a:rPr lang="en-US"/>
              <a:t>Different Expressions' Types, Slide 1</a:t>
            </a:r>
            <a:endParaRPr/>
          </a:p>
        </p:txBody>
      </p:sp>
      <p:sp>
        <p:nvSpPr>
          <p:cNvPr id="454" name="Google Shape;454;p25"/>
          <p:cNvSpPr txBox="1"/>
          <p:nvPr>
            <p:ph idx="1" type="body"/>
          </p:nvPr>
        </p:nvSpPr>
        <p:spPr>
          <a:xfrm>
            <a:off x="680320" y="2154310"/>
            <a:ext cx="11283079" cy="396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Literal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Instantly identifiable as int or bool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Variable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Type is found in the type environment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Primitive application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latin typeface="Lemon"/>
                <a:ea typeface="Lemon"/>
                <a:cs typeface="Lemon"/>
                <a:sym typeface="Lemon"/>
              </a:rPr>
              <a:t>ProcType</a:t>
            </a:r>
            <a:r>
              <a:rPr lang="en-US" sz="2400"/>
              <a:t> instances of primitives are hard-coded in </a:t>
            </a:r>
            <a:r>
              <a:rPr b="1" lang="en-US" sz="2400"/>
              <a:t>PrimProcType-i.java</a:t>
            </a:r>
            <a:r>
              <a:rPr lang="en-US" sz="2400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Ask the </a:t>
            </a:r>
            <a:r>
              <a:rPr lang="en-US" sz="2400">
                <a:latin typeface="Lemon"/>
                <a:ea typeface="Lemon"/>
                <a:cs typeface="Lemon"/>
                <a:sym typeface="Lemon"/>
              </a:rPr>
              <a:t>Prim</a:t>
            </a:r>
            <a:r>
              <a:rPr lang="en-US" sz="2400"/>
              <a:t> instance for its </a:t>
            </a:r>
            <a:r>
              <a:rPr lang="en-US" sz="2400">
                <a:latin typeface="Lemon"/>
                <a:ea typeface="Lemon"/>
                <a:cs typeface="Lemon"/>
                <a:sym typeface="Lemon"/>
              </a:rPr>
              <a:t>definedType</a:t>
            </a:r>
            <a:r>
              <a:rPr lang="en-US" sz="2400"/>
              <a:t>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US" sz="2200">
                <a:latin typeface="Lemon"/>
                <a:ea typeface="Lemon"/>
                <a:cs typeface="Lemon"/>
                <a:sym typeface="Lemon"/>
              </a:rPr>
              <a:t>Prim.definedType()</a:t>
            </a:r>
            <a:r>
              <a:rPr lang="en-US" sz="2200"/>
              <a:t> returns the correct hard-coded instance.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US" sz="2200"/>
              <a:t>Evaluate operands' types, and match against hard-coded formals' types.</a:t>
            </a:r>
            <a:endParaRPr/>
          </a:p>
        </p:txBody>
      </p:sp>
      <p:sp>
        <p:nvSpPr>
          <p:cNvPr id="455" name="Google Shape;455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456" name="Google Shape;456;p2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Evaluating, via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Exp.evalType(TypeEnv)</a:t>
            </a:r>
            <a:r>
              <a:rPr lang="en-US"/>
              <a:t>,</a:t>
            </a:r>
            <a:br>
              <a:rPr lang="en-US"/>
            </a:br>
            <a:r>
              <a:rPr lang="en-US"/>
              <a:t>Different Expressions' Types, Slide 2</a:t>
            </a:r>
            <a:endParaRPr/>
          </a:p>
        </p:txBody>
      </p:sp>
      <p:sp>
        <p:nvSpPr>
          <p:cNvPr id="463" name="Google Shape;463;p26"/>
          <p:cNvSpPr txBox="1"/>
          <p:nvPr>
            <p:ph idx="1" type="body"/>
          </p:nvPr>
        </p:nvSpPr>
        <p:spPr>
          <a:xfrm>
            <a:off x="680321" y="2336873"/>
            <a:ext cx="10318237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Proc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Extract type info from the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ProcExpr</a:t>
            </a:r>
            <a:r>
              <a:rPr lang="en-US"/>
              <a:t> itself.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Environment need not be saved as a "type closure"; think about it.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Evaluate the type of the body.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Add a new type environment with the formals bound to their types.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The type correctness of the body will be checked in the process.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Make sure the type of the evaluated body expression matches the declared type.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Proc application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Evaluate the type of the expression that is supposed to be the proc.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Make sure the operands' types (and number) match the formals' types.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Type is the return type of the proc being applied.</a:t>
            </a:r>
            <a:endParaRPr/>
          </a:p>
          <a:p>
            <a:pPr indent="-122872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465" name="Google Shape;465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Evaluating, via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Exp.evalType(TypeEnv)</a:t>
            </a:r>
            <a:r>
              <a:rPr lang="en-US"/>
              <a:t>,</a:t>
            </a:r>
            <a:br>
              <a:rPr lang="en-US"/>
            </a:br>
            <a:r>
              <a:rPr lang="en-US"/>
              <a:t>Different Expressions' Types, Slide 3</a:t>
            </a:r>
            <a:endParaRPr/>
          </a:p>
        </p:txBody>
      </p:sp>
      <p:sp>
        <p:nvSpPr>
          <p:cNvPr id="472" name="Google Shape;472;p27"/>
          <p:cNvSpPr txBox="1"/>
          <p:nvPr>
            <p:ph idx="1" type="body"/>
          </p:nvPr>
        </p:nvSpPr>
        <p:spPr>
          <a:xfrm>
            <a:off x="680321" y="2336873"/>
            <a:ext cx="11039454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If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Make sure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if</a:t>
            </a:r>
            <a:r>
              <a:rPr lang="en-US"/>
              <a:t> expression type is bool.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Make sure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then</a:t>
            </a:r>
            <a:r>
              <a:rPr lang="en-US"/>
              <a:t> and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else</a:t>
            </a:r>
            <a:r>
              <a:rPr lang="en-US"/>
              <a:t> expressions' types match.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Type is the type of the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then</a:t>
            </a:r>
            <a:r>
              <a:rPr lang="en-US"/>
              <a:t> and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else</a:t>
            </a:r>
            <a:r>
              <a:rPr lang="en-US"/>
              <a:t> expressions.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Let : like proc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Check for duplicated variable names in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let</a:t>
            </a:r>
            <a:r>
              <a:rPr lang="en-US"/>
              <a:t> list. (not really a type issue)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Bind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let</a:t>
            </a:r>
            <a:r>
              <a:rPr lang="en-US"/>
              <a:t> variables' types to their expressions' evaluated types, in a new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TypeEnv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Type is the type of the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in</a:t>
            </a:r>
            <a:r>
              <a:rPr lang="en-US"/>
              <a:t> expression.</a:t>
            </a:r>
            <a:endParaRPr/>
          </a:p>
        </p:txBody>
      </p:sp>
      <p:sp>
        <p:nvSpPr>
          <p:cNvPr id="473" name="Google Shape;473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474" name="Google Shape;474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Evaluating, via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Exp.evalType(TypeEnv)</a:t>
            </a:r>
            <a:r>
              <a:rPr lang="en-US"/>
              <a:t>,</a:t>
            </a:r>
            <a:br>
              <a:rPr lang="en-US"/>
            </a:br>
            <a:r>
              <a:rPr lang="en-US"/>
              <a:t>Different Expressions' Types, Slide 4</a:t>
            </a:r>
            <a:endParaRPr/>
          </a:p>
        </p:txBody>
      </p:sp>
      <p:sp>
        <p:nvSpPr>
          <p:cNvPr id="481" name="Google Shape;481;p28"/>
          <p:cNvSpPr txBox="1"/>
          <p:nvPr>
            <p:ph idx="1" type="body"/>
          </p:nvPr>
        </p:nvSpPr>
        <p:spPr>
          <a:xfrm>
            <a:off x="680321" y="2336873"/>
            <a:ext cx="11061913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/>
              <a:t>Letrec : what is different from </a:t>
            </a:r>
            <a:r>
              <a:rPr lang="en-US" sz="3200">
                <a:latin typeface="Lemon"/>
                <a:ea typeface="Lemon"/>
                <a:cs typeface="Lemon"/>
                <a:sym typeface="Lemon"/>
              </a:rPr>
              <a:t>let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AutoNum type="arabicPeriod"/>
            </a:pPr>
            <a:r>
              <a:rPr lang="en-US" sz="2800"/>
              <a:t>Gather up all the bindings of variables to their RHS types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Trick: </a:t>
            </a:r>
            <a:r>
              <a:rPr lang="en-US" sz="2400" u="sng"/>
              <a:t>Trust</a:t>
            </a:r>
            <a:r>
              <a:rPr lang="en-US" sz="2400"/>
              <a:t> the defined types of any procs; don't look at bodies.</a:t>
            </a:r>
            <a:r>
              <a:rPr lang="en-US" sz="3200"/>
              <a:t>🙈</a:t>
            </a:r>
            <a:endParaRPr sz="2400"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AutoNum type="arabicPeriod"/>
            </a:pPr>
            <a:r>
              <a:rPr lang="en-US" sz="2800"/>
              <a:t>Make a new type environment from the bindings.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AutoNum type="arabicPeriod"/>
            </a:pPr>
            <a:r>
              <a:rPr lang="en-US" sz="2800"/>
              <a:t>Go back and reevaluate the expressions' types carefully using the types from the environment.</a:t>
            </a:r>
            <a:br>
              <a:rPr lang="en-US" sz="2800"/>
            </a:br>
            <a:r>
              <a:rPr lang="en-US" sz="2800"/>
              <a:t>(Trick not done this time.)</a:t>
            </a:r>
            <a:endParaRPr/>
          </a:p>
        </p:txBody>
      </p:sp>
      <p:sp>
        <p:nvSpPr>
          <p:cNvPr id="482" name="Google Shape;482;p2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483" name="Google Shape;483;p2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Evaluating, via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Exp.evalType(TypeEnv)</a:t>
            </a:r>
            <a:r>
              <a:rPr lang="en-US"/>
              <a:t>,</a:t>
            </a:r>
            <a:br>
              <a:rPr lang="en-US"/>
            </a:br>
            <a:r>
              <a:rPr lang="en-US"/>
              <a:t>Different Expressions' Types, Slide 5</a:t>
            </a:r>
            <a:endParaRPr/>
          </a:p>
        </p:txBody>
      </p:sp>
      <p:sp>
        <p:nvSpPr>
          <p:cNvPr id="490" name="Google Shape;490;p29"/>
          <p:cNvSpPr txBox="1"/>
          <p:nvPr>
            <p:ph idx="1" type="body"/>
          </p:nvPr>
        </p:nvSpPr>
        <p:spPr>
          <a:xfrm>
            <a:off x="680321" y="2336873"/>
            <a:ext cx="10318237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Type of expression is the type of the RHS.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Extra work: Make sure that type matches the "declared" type of the LHS variable.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Sequence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Type of expression is the type of the final expression.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Extra work: All expressions must be checked for internal type consistency.</a:t>
            </a:r>
            <a:endParaRPr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91" name="Google Shape;491;p2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492" name="Google Shape;492;p2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When you look at the code</a:t>
            </a:r>
            <a:endParaRPr/>
          </a:p>
        </p:txBody>
      </p:sp>
      <p:sp>
        <p:nvSpPr>
          <p:cNvPr id="499" name="Google Shape;499;p30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In the end, for most of the checks, it comes down to this question.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i="1" lang="en-US"/>
              <a:t>Is </a:t>
            </a:r>
            <a:r>
              <a:rPr i="1" lang="en-US" u="sng"/>
              <a:t>this</a:t>
            </a:r>
            <a:r>
              <a:rPr i="1" lang="en-US"/>
              <a:t> type the same as </a:t>
            </a:r>
            <a:r>
              <a:rPr i="1" lang="en-US" u="sng"/>
              <a:t>that</a:t>
            </a:r>
            <a:r>
              <a:rPr i="1" lang="en-US"/>
              <a:t> type?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The code to do this often ends up in a procedure that does </a:t>
            </a:r>
            <a:r>
              <a:rPr lang="en-US" u="sng"/>
              <a:t>not</a:t>
            </a:r>
            <a:r>
              <a:rPr lang="en-US"/>
              <a:t> return a true/false answer.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The most basic code either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returns silently ("true") </a:t>
            </a:r>
            <a:r>
              <a:rPr lang="en-US" sz="2800"/>
              <a:t>👍</a:t>
            </a:r>
            <a:r>
              <a:rPr lang="en-US"/>
              <a:t>, 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/>
              <a:t>throws an exception ("false") </a:t>
            </a:r>
            <a:r>
              <a:rPr lang="en-US" sz="2800"/>
              <a:t>🤯</a:t>
            </a:r>
            <a:r>
              <a:rPr lang="en-US"/>
              <a:t>.</a:t>
            </a:r>
            <a:endParaRPr/>
          </a:p>
        </p:txBody>
      </p:sp>
      <p:sp>
        <p:nvSpPr>
          <p:cNvPr id="500" name="Google Shape;500;p3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501" name="Google Shape;501;p3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Code File Organization, Slide 1</a:t>
            </a:r>
            <a:endParaRPr/>
          </a:p>
        </p:txBody>
      </p:sp>
      <p:sp>
        <p:nvSpPr>
          <p:cNvPr id="508" name="Google Shape;508;p3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TYPE1.plcc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Program-i.java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Declare-i.java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Define-i.java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Eval-i.java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Formals-i.java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LetDecls-i.java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LetrecDecls-i.java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Operands-i.java</a:t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509" name="Google Shape;509;p3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7550981" y="2556933"/>
            <a:ext cx="3404886" cy="12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157600" y="25672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Token definitions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Grammar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include</a:t>
            </a: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files</a:t>
            </a:r>
            <a:endParaRPr i="1"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1" name="Google Shape;511;p31"/>
          <p:cNvSpPr/>
          <p:nvPr/>
        </p:nvSpPr>
        <p:spPr>
          <a:xfrm>
            <a:off x="7075144" y="4019473"/>
            <a:ext cx="2795285" cy="94826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120786" y="-46072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Main grammar element and its choices</a:t>
            </a:r>
            <a:endParaRPr i="1"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2" name="Google Shape;512;p31"/>
          <p:cNvSpPr/>
          <p:nvPr/>
        </p:nvSpPr>
        <p:spPr>
          <a:xfrm>
            <a:off x="3640666" y="2963333"/>
            <a:ext cx="474133" cy="125941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3" name="Google Shape;513;p31"/>
          <p:cNvSpPr/>
          <p:nvPr/>
        </p:nvSpPr>
        <p:spPr>
          <a:xfrm>
            <a:off x="4131732" y="4453466"/>
            <a:ext cx="474133" cy="125941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6484181" y="5370510"/>
            <a:ext cx="2795285" cy="94826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72809" y="-35357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(random grammatical elements needed by others)</a:t>
            </a:r>
            <a:endParaRPr i="1"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5" name="Google Shape;515;p31"/>
          <p:cNvSpPr/>
          <p:nvPr/>
        </p:nvSpPr>
        <p:spPr>
          <a:xfrm>
            <a:off x="10294181" y="4758267"/>
            <a:ext cx="1525286" cy="9546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77927" y="-18902"/>
                </a:moveTo>
                <a:lnTo>
                  <a:pt x="89240" y="-310985"/>
                </a:lnTo>
                <a:lnTo>
                  <a:pt x="-247808" y="-307556"/>
                </a:lnTo>
                <a:lnTo>
                  <a:pt x="-528229" y="-158182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NEW: to be discussed</a:t>
            </a:r>
            <a:endParaRPr/>
          </a:p>
        </p:txBody>
      </p:sp>
      <p:sp>
        <p:nvSpPr>
          <p:cNvPr id="516" name="Google Shape;516;p3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Code File Organization, Slide 2</a:t>
            </a:r>
            <a:endParaRPr/>
          </a:p>
        </p:txBody>
      </p:sp>
      <p:sp>
        <p:nvSpPr>
          <p:cNvPr id="523" name="Google Shape;523;p3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EnvSource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Binding*-i.java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*Val-i.java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Env*-i.java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└── Ref-i.java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ExpSource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└── *Exp-i.java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PrimSource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└── *Prim-i.java</a:t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524" name="Google Shape;524;p3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525" name="Google Shape;525;p32"/>
          <p:cNvSpPr/>
          <p:nvPr/>
        </p:nvSpPr>
        <p:spPr>
          <a:xfrm>
            <a:off x="5737830" y="5018613"/>
            <a:ext cx="2795285" cy="142028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77170" y="58928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All information pertinent to primitive (built-in) procedures, including their types.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(But see </a:t>
            </a:r>
            <a:r>
              <a:rPr lang="en-US" sz="1800" u="sng">
                <a:solidFill>
                  <a:srgbClr val="9AC9D9"/>
                </a:solidFill>
                <a:latin typeface="Trebuchet MS"/>
                <a:ea typeface="Trebuchet MS"/>
                <a:cs typeface="Trebuchet MS"/>
                <a:sym typeface="Trebuchet MS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 4</a:t>
            </a: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.)</a:t>
            </a:r>
            <a:endParaRPr/>
          </a:p>
        </p:txBody>
      </p:sp>
      <p:sp>
        <p:nvSpPr>
          <p:cNvPr id="526" name="Google Shape;526;p32"/>
          <p:cNvSpPr/>
          <p:nvPr/>
        </p:nvSpPr>
        <p:spPr>
          <a:xfrm>
            <a:off x="6830673" y="2329462"/>
            <a:ext cx="2795285" cy="94826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77896" y="140357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Standard support tor the </a:t>
            </a:r>
            <a:r>
              <a:rPr lang="en-US" sz="1800" u="sng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value</a:t>
            </a: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bindings</a:t>
            </a:r>
            <a:b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(and references)</a:t>
            </a:r>
            <a:endParaRPr i="1"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4419599" y="2641599"/>
            <a:ext cx="474133" cy="171026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7135472" y="3575052"/>
            <a:ext cx="2795285" cy="120226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143322" y="124300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Expression objects from the parse tree. Now includes evaluating their types and values.</a:t>
            </a:r>
            <a:endParaRPr i="1"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9" name="Google Shape;529;p3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Code File Organization, Slide 3</a:t>
            </a:r>
            <a:endParaRPr/>
          </a:p>
        </p:txBody>
      </p:sp>
      <p:sp>
        <p:nvSpPr>
          <p:cNvPr id="536" name="Google Shape;536;p3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TypeEnvSource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TypeBinding*-i.java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└── TypeEnv*-i.java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TypeExprSource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BoolTypeExpr-i.java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IntTypeExpr-i.java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ProcTypeExpr-i.java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└── TypeExpr-i.java</a:t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537" name="Google Shape;537;p3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538" name="Google Shape;538;p33"/>
          <p:cNvSpPr/>
          <p:nvPr/>
        </p:nvSpPr>
        <p:spPr>
          <a:xfrm>
            <a:off x="7498895" y="2847974"/>
            <a:ext cx="2795285" cy="94826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68447" y="58928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The special type bindings used only during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type-checking</a:t>
            </a:r>
            <a:endParaRPr i="1"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5250184" y="2794000"/>
            <a:ext cx="474133" cy="105621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5554984" y="3979333"/>
            <a:ext cx="474133" cy="184784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7498895" y="4449227"/>
            <a:ext cx="2474839" cy="148695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65428" y="37468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The AST nodes for type descriptions. They get converted to internal types...</a:t>
            </a:r>
            <a:endParaRPr i="1"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2" name="Google Shape;542;p3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Code File Organization, Slide 4</a:t>
            </a:r>
            <a:endParaRPr/>
          </a:p>
        </p:txBody>
      </p:sp>
      <p:sp>
        <p:nvSpPr>
          <p:cNvPr id="549" name="Google Shape;549;p3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├── TypeSource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Type-i.java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BoolType-i.java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IntType-i.java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├── PrimProcType-i.java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│   └── ProcType-i.java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550" name="Google Shape;550;p3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551" name="Google Shape;551;p34"/>
          <p:cNvSpPr/>
          <p:nvPr/>
        </p:nvSpPr>
        <p:spPr>
          <a:xfrm>
            <a:off x="8422405" y="2767937"/>
            <a:ext cx="2795285" cy="199033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65539" y="81510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TYPE1's internal representation of types. Includes type matching (comparison) and errors.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Stored in the type environment bindings.</a:t>
            </a:r>
            <a:endParaRPr/>
          </a:p>
        </p:txBody>
      </p:sp>
      <p:sp>
        <p:nvSpPr>
          <p:cNvPr id="552" name="Google Shape;552;p34"/>
          <p:cNvSpPr/>
          <p:nvPr/>
        </p:nvSpPr>
        <p:spPr>
          <a:xfrm>
            <a:off x="6153339" y="3183465"/>
            <a:ext cx="474133" cy="227858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8016006" y="5012267"/>
            <a:ext cx="2584262" cy="11175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101708" y="-18490"/>
                </a:lnTo>
              </a:path>
            </a:pathLst>
          </a:cu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Hard-coded descriptions of built-in primitive procedures</a:t>
            </a:r>
            <a:endParaRPr i="1"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54" name="Google Shape;554;p3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Code Examples 1</a:t>
            </a:r>
            <a:br>
              <a:rPr lang="en-US"/>
            </a:br>
            <a:r>
              <a:rPr lang="en-US"/>
              <a:t>	</a:t>
            </a:r>
            <a:r>
              <a:rPr lang="en-US" sz="2400"/>
              <a:t>define p = proc( x: int, y: bool ): int if y then add1(x) else x</a:t>
            </a:r>
            <a:endParaRPr/>
          </a:p>
        </p:txBody>
      </p:sp>
      <p:sp>
        <p:nvSpPr>
          <p:cNvPr id="561" name="Google Shape;561;p35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$ rep eg1.type1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p set to λ(x,y){return y ? add1(x) : x}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.p( 3, false ) .p( 4, false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.p( 3 )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Param/operand list size mismatch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.p( 3, 1 )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 mismatch, IntType and BoolType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.p( proc(): int 1, true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 mismatch, [ =&gt; IntType ] and IntType</a:t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562" name="Google Shape;562;p3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563" name="Google Shape;563;p3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4" name="Google Shape;564;p35"/>
          <p:cNvSpPr/>
          <p:nvPr/>
        </p:nvSpPr>
        <p:spPr>
          <a:xfrm>
            <a:off x="7973122" y="4137102"/>
            <a:ext cx="4003288" cy="141620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From </a:t>
            </a:r>
            <a:r>
              <a:rPr lang="en-US" sz="18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Type.checkEqualTypes()</a:t>
            </a: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called 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ProcType.checkProcType()</a:t>
            </a:r>
            <a:endParaRPr/>
          </a:p>
        </p:txBody>
      </p:sp>
      <p:cxnSp>
        <p:nvCxnSpPr>
          <p:cNvPr id="565" name="Google Shape;565;p35"/>
          <p:cNvCxnSpPr/>
          <p:nvPr/>
        </p:nvCxnSpPr>
        <p:spPr>
          <a:xfrm rot="10800000">
            <a:off x="5553315" y="4427056"/>
            <a:ext cx="2810100" cy="2007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6" name="Google Shape;566;p35"/>
          <p:cNvCxnSpPr/>
          <p:nvPr/>
        </p:nvCxnSpPr>
        <p:spPr>
          <a:xfrm flipH="1">
            <a:off x="6088486" y="4850780"/>
            <a:ext cx="2464500" cy="234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7" name="Google Shape;567;p35"/>
          <p:cNvCxnSpPr/>
          <p:nvPr/>
        </p:nvCxnSpPr>
        <p:spPr>
          <a:xfrm flipH="1">
            <a:off x="6947116" y="5229922"/>
            <a:ext cx="1416300" cy="490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Code Examples 2</a:t>
            </a:r>
            <a:endParaRPr/>
          </a:p>
        </p:txBody>
      </p:sp>
      <p:sp>
        <p:nvSpPr>
          <p:cNvPr id="574" name="Google Shape;574;p36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$ rep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if 5 then 6 else 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 mismatch, BoolType and IntType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if true then 6 else false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 mismatch, BoolType and IntType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let n = 10 in set n = 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 mismatch, BoolType and IntType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proc( x: int ): int ==?(x,0)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 mismatch, BoolType and IntType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proc( x: int ): int proc(): int add1(x)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Type mismatch, [ =&gt; IntType ] and IntType</a:t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575" name="Google Shape;575;p3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576" name="Google Shape;576;p3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Note that this does not work.</a:t>
            </a:r>
            <a:endParaRPr/>
          </a:p>
        </p:txBody>
      </p:sp>
      <p:sp>
        <p:nvSpPr>
          <p:cNvPr id="583" name="Google Shape;583;p37"/>
          <p:cNvSpPr txBox="1"/>
          <p:nvPr>
            <p:ph idx="1" type="body"/>
          </p:nvPr>
        </p:nvSpPr>
        <p:spPr>
          <a:xfrm>
            <a:off x="680321" y="2336873"/>
            <a:ext cx="10123146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$ cat oe.type1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odd? = proc(t:int):bool if zero?(t) then false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              else .even?(sub1(t))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even? = proc(t:int):bool if zero?(t) then true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               else .odd?(sub1(t))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$ rep oe.type1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No type binding for even?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odd?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No type binding for odd?</a:t>
            </a:r>
            <a:endParaRPr/>
          </a:p>
        </p:txBody>
      </p:sp>
      <p:sp>
        <p:nvSpPr>
          <p:cNvPr id="584" name="Google Shape;584;p3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585" name="Google Shape;585;p37"/>
          <p:cNvSpPr/>
          <p:nvPr/>
        </p:nvSpPr>
        <p:spPr>
          <a:xfrm>
            <a:off x="6062135" y="4555067"/>
            <a:ext cx="4741332" cy="1746245"/>
          </a:xfrm>
          <a:prstGeom prst="wedgeRoundRectCallout">
            <a:avLst>
              <a:gd fmla="val -3635" name="adj1"/>
              <a:gd fmla="val -119804" name="adj2"/>
              <a:gd fmla="val 16667" name="adj3"/>
            </a:avLst>
          </a:prstGeom>
          <a:solidFill>
            <a:schemeClr val="accent1"/>
          </a:solidFill>
          <a:ln cap="flat" cmpd="sng" w="12700">
            <a:solidFill>
              <a:srgbClr val="AF6C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The definition of </a:t>
            </a:r>
            <a:r>
              <a:rPr lang="en-US" sz="24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odd?</a:t>
            </a:r>
            <a:r>
              <a:rPr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cannot be type-checked because </a:t>
            </a:r>
            <a:r>
              <a:rPr lang="en-US" sz="24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even?</a:t>
            </a:r>
            <a:r>
              <a:rPr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is not in the </a:t>
            </a:r>
            <a:r>
              <a:rPr lang="en-US" sz="24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TypeEnv</a:t>
            </a:r>
            <a:r>
              <a:rPr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at this point in time.</a:t>
            </a:r>
            <a:endParaRPr/>
          </a:p>
        </p:txBody>
      </p:sp>
      <p:sp>
        <p:nvSpPr>
          <p:cNvPr id="586" name="Google Shape;586;p3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Fix: New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Program</a:t>
            </a:r>
            <a:r>
              <a:rPr lang="en-US"/>
              <a:t> type: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declare</a:t>
            </a:r>
            <a:endParaRPr/>
          </a:p>
        </p:txBody>
      </p:sp>
      <p:sp>
        <p:nvSpPr>
          <p:cNvPr id="593" name="Google Shape;593;p38"/>
          <p:cNvSpPr txBox="1"/>
          <p:nvPr>
            <p:ph idx="1" type="body"/>
          </p:nvPr>
        </p:nvSpPr>
        <p:spPr>
          <a:xfrm>
            <a:off x="680321" y="2336873"/>
            <a:ext cx="10123146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$ cat oe.type1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declare odd? : [int=&gt;bool]  % not really necessary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declare even? : [int=&gt;bool]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odd? = proc(t:int):bool if zero?(t) then false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              else .even?(sub1(t))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even? = proc(t:int):bool if zero?(t) then true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                  else .odd?(sub1(t))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594" name="Google Shape;594;p3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595" name="Google Shape;595;p3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Fix: New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Program</a:t>
            </a:r>
            <a:r>
              <a:rPr lang="en-US"/>
              <a:t> type: </a:t>
            </a:r>
            <a:r>
              <a:rPr lang="en-US">
                <a:latin typeface="Lemon"/>
                <a:ea typeface="Lemon"/>
                <a:cs typeface="Lemon"/>
                <a:sym typeface="Lemon"/>
              </a:rPr>
              <a:t>Declare</a:t>
            </a:r>
            <a:endParaRPr/>
          </a:p>
        </p:txBody>
      </p:sp>
      <p:sp>
        <p:nvSpPr>
          <p:cNvPr id="602" name="Google Shape;602;p39"/>
          <p:cNvSpPr txBox="1"/>
          <p:nvPr>
            <p:ph idx="1" type="body"/>
          </p:nvPr>
        </p:nvSpPr>
        <p:spPr>
          <a:xfrm>
            <a:off x="680321" y="2336873"/>
            <a:ext cx="10123146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$ rep oe.type1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odd?: [ IntType =&gt; BoolType 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even?: [ IntType =&gt; BoolType 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odd? set to λ(t){return zero?(t) ? false : CALL [even?](sub1(t))}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even? set to λ(t){return zero?(t) ? true : CALL [odd?](sub1(t))}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.odd?( 9 )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.even?( 9 )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false</a:t>
            </a:r>
            <a:endParaRPr/>
          </a:p>
        </p:txBody>
      </p:sp>
      <p:sp>
        <p:nvSpPr>
          <p:cNvPr id="603" name="Google Shape;603;p39"/>
          <p:cNvSpPr txBox="1"/>
          <p:nvPr/>
        </p:nvSpPr>
        <p:spPr>
          <a:xfrm>
            <a:off x="4669616" y="4556232"/>
            <a:ext cx="7396879" cy="2188032"/>
          </a:xfrm>
          <a:prstGeom prst="rect">
            <a:avLst/>
          </a:prstGeom>
          <a:noFill/>
          <a:ln cap="flat" cmpd="sng" w="9525">
            <a:solidFill>
              <a:srgbClr val="FAC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CEBE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ACEBE"/>
                </a:solidFill>
                <a:latin typeface="Lemon"/>
                <a:ea typeface="Lemon"/>
                <a:cs typeface="Lemon"/>
                <a:sym typeface="Lemon"/>
              </a:rPr>
              <a:t>declare odd? : [int=&gt;bool]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CEBE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ACEBE"/>
                </a:solidFill>
                <a:latin typeface="Lemon"/>
                <a:ea typeface="Lemon"/>
                <a:cs typeface="Lemon"/>
                <a:sym typeface="Lemon"/>
              </a:rPr>
              <a:t>declare even? : [int=&gt;bool]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CEBE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ACEBE"/>
                </a:solidFill>
                <a:latin typeface="Lemon"/>
                <a:ea typeface="Lemon"/>
                <a:cs typeface="Lemon"/>
                <a:sym typeface="Lemon"/>
              </a:rPr>
              <a:t>define odd? = proc(t:int):bool</a:t>
            </a:r>
            <a:br>
              <a:rPr lang="en-US" sz="2000">
                <a:solidFill>
                  <a:srgbClr val="FACEBE"/>
                </a:solidFill>
                <a:latin typeface="Lemon"/>
                <a:ea typeface="Lemon"/>
                <a:cs typeface="Lemon"/>
                <a:sym typeface="Lemon"/>
              </a:rPr>
            </a:br>
            <a:r>
              <a:rPr lang="en-US" sz="2000">
                <a:solidFill>
                  <a:srgbClr val="FACEBE"/>
                </a:solidFill>
                <a:latin typeface="Lemon"/>
                <a:ea typeface="Lemon"/>
                <a:cs typeface="Lemon"/>
                <a:sym typeface="Lemon"/>
              </a:rPr>
              <a:t>    if zero?(t) then false else .even?(sub1(t))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ACEBE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ACEBE"/>
                </a:solidFill>
                <a:latin typeface="Lemon"/>
                <a:ea typeface="Lemon"/>
                <a:cs typeface="Lemon"/>
                <a:sym typeface="Lemon"/>
              </a:rPr>
              <a:t>define even? = proc(t:int):bool</a:t>
            </a:r>
            <a:br>
              <a:rPr lang="en-US" sz="2000">
                <a:solidFill>
                  <a:srgbClr val="FACEBE"/>
                </a:solidFill>
                <a:latin typeface="Lemon"/>
                <a:ea typeface="Lemon"/>
                <a:cs typeface="Lemon"/>
                <a:sym typeface="Lemon"/>
              </a:rPr>
            </a:br>
            <a:r>
              <a:rPr lang="en-US" sz="2000">
                <a:solidFill>
                  <a:srgbClr val="FACEBE"/>
                </a:solidFill>
                <a:latin typeface="Lemon"/>
                <a:ea typeface="Lemon"/>
                <a:cs typeface="Lemon"/>
                <a:sym typeface="Lemon"/>
              </a:rPr>
              <a:t>    if zero?(t) then true else .odd?(sub1(t))</a:t>
            </a:r>
            <a:endParaRPr/>
          </a:p>
        </p:txBody>
      </p:sp>
      <p:sp>
        <p:nvSpPr>
          <p:cNvPr id="604" name="Google Shape;604;p3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605" name="Google Shape;605;p3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Simple recursive functions need this, too.</a:t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612" name="Google Shape;612;p40"/>
          <p:cNvSpPr txBox="1"/>
          <p:nvPr>
            <p:ph idx="1" type="body"/>
          </p:nvPr>
        </p:nvSpPr>
        <p:spPr>
          <a:xfrm>
            <a:off x="680321" y="2336873"/>
            <a:ext cx="10123146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declare fact : [ int =&gt; int 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define fact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proc( x: int ): int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if zero?( x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then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else *( x, .fact( sub1( x ) ) )</a:t>
            </a:r>
            <a:endParaRPr/>
          </a:p>
        </p:txBody>
      </p:sp>
      <p:sp>
        <p:nvSpPr>
          <p:cNvPr id="613" name="Google Shape;613;p4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614" name="Google Shape;614;p4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5" name="Google Shape;615;p40"/>
          <p:cNvSpPr txBox="1"/>
          <p:nvPr/>
        </p:nvSpPr>
        <p:spPr>
          <a:xfrm>
            <a:off x="3111190" y="5936187"/>
            <a:ext cx="423064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(Could have been done like letrec, though.)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You do </a:t>
            </a:r>
            <a:r>
              <a:rPr lang="en-US" u="sng"/>
              <a:t>not</a:t>
            </a:r>
            <a:r>
              <a:rPr lang="en-US"/>
              <a:t> need this if you use letrec.</a:t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622" name="Google Shape;622;p41"/>
          <p:cNvSpPr txBox="1"/>
          <p:nvPr>
            <p:ph idx="1" type="body"/>
          </p:nvPr>
        </p:nvSpPr>
        <p:spPr>
          <a:xfrm>
            <a:off x="680321" y="2336873"/>
            <a:ext cx="10123146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letrec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odd? = proc(t:int):bool if zero?(t) then false else .even?(sub1(t))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even? = proc(t:int):bool if zero?(t) then true else .odd?(sub1(t))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fact =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proc( x: int ): int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if zero?( x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then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             else *( x, .fact( sub1( x ) )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   .odd?( .fact( 5 ) )</a:t>
            </a:r>
            <a:endParaRPr/>
          </a:p>
        </p:txBody>
      </p:sp>
      <p:sp>
        <p:nvSpPr>
          <p:cNvPr id="623" name="Google Shape;623;p41"/>
          <p:cNvSpPr txBox="1"/>
          <p:nvPr/>
        </p:nvSpPr>
        <p:spPr>
          <a:xfrm>
            <a:off x="6908063" y="3314386"/>
            <a:ext cx="5120803" cy="2986927"/>
          </a:xfrm>
          <a:prstGeom prst="rect">
            <a:avLst/>
          </a:prstGeom>
          <a:noFill/>
          <a:ln cap="flat" cmpd="sng" w="9525">
            <a:solidFill>
              <a:srgbClr val="FACE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i="1" lang="en-US" sz="32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Letrec : what is different from </a:t>
            </a:r>
            <a:r>
              <a:rPr i="1" lang="en-US" sz="3200">
                <a:solidFill>
                  <a:schemeClr val="lt1"/>
                </a:solidFill>
                <a:latin typeface="Lemon"/>
                <a:ea typeface="Lemon"/>
                <a:cs typeface="Lemon"/>
                <a:sym typeface="Lemon"/>
              </a:rPr>
              <a:t>let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rebuchet MS"/>
              <a:buAutoNum type="arabicPeriod"/>
            </a:pPr>
            <a:r>
              <a:rPr b="0" i="1" lang="en-US" sz="2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Gather up all the bindings of variables to their RHS types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Trick: </a:t>
            </a:r>
            <a:r>
              <a:rPr b="0" i="1" lang="en-US" sz="2400" u="sng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Trust</a:t>
            </a:r>
            <a:r>
              <a:rPr b="0" i="1" lang="en-US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the defined types of any procs; don't look at bodies.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rebuchet MS"/>
              <a:buAutoNum type="arabicPeriod"/>
            </a:pPr>
            <a:r>
              <a:rPr b="0" i="1" lang="en-US" sz="2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Make a new environment from the bindings.</a:t>
            </a:r>
            <a:endParaRPr/>
          </a:p>
          <a:p>
            <a:pPr indent="-342900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rebuchet MS"/>
              <a:buAutoNum type="arabicPeriod"/>
            </a:pPr>
            <a:r>
              <a:rPr b="0" i="1" lang="en-US" sz="2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Go back and reevaluate the types carefully using the types from the environment.</a:t>
            </a:r>
            <a:br>
              <a:rPr b="0" i="1" lang="en-US" sz="2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1" lang="en-US" sz="2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(Trick not done this time.)</a:t>
            </a:r>
            <a:endParaRPr/>
          </a:p>
        </p:txBody>
      </p:sp>
      <p:sp>
        <p:nvSpPr>
          <p:cNvPr id="624" name="Google Shape;624;p4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625" name="Google Shape;625;p4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Not useful, but you can declare any type.</a:t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632" name="Google Shape;632;p42"/>
          <p:cNvSpPr txBox="1"/>
          <p:nvPr>
            <p:ph idx="1" type="body"/>
          </p:nvPr>
        </p:nvSpPr>
        <p:spPr>
          <a:xfrm>
            <a:off x="680321" y="2336872"/>
            <a:ext cx="10123146" cy="4165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declare x: int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x: IntType</a:t>
            </a:r>
            <a:endParaRPr>
              <a:latin typeface="Lemon"/>
              <a:ea typeface="Lemon"/>
              <a:cs typeface="Lemon"/>
              <a:sym typeface="Lemo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declare subx: [ int =&gt; int ]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subx: [ IntType =&gt; IntType 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subx = proc( i: int ): int -( i, x )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subx set to λ(i){return -(i,x)}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>
                <a:latin typeface="Lemon"/>
                <a:ea typeface="Lemon"/>
                <a:cs typeface="Lemon"/>
                <a:sym typeface="Lemon"/>
              </a:rPr>
              <a:t>--&gt; define x = false</a:t>
            </a:r>
            <a:br>
              <a:rPr lang="en-US">
                <a:latin typeface="Lemon"/>
                <a:ea typeface="Lemon"/>
                <a:cs typeface="Lemon"/>
                <a:sym typeface="Lemon"/>
              </a:rPr>
            </a:br>
            <a:r>
              <a:rPr lang="en-US">
                <a:latin typeface="Lemon"/>
                <a:ea typeface="Lemon"/>
                <a:cs typeface="Lemon"/>
                <a:sym typeface="Lemon"/>
              </a:rPr>
              <a:t>Type mismatch, BoolType and IntType</a:t>
            </a:r>
            <a:endParaRPr>
              <a:latin typeface="Lemon"/>
              <a:ea typeface="Lemon"/>
              <a:cs typeface="Lemon"/>
              <a:sym typeface="Lemon"/>
            </a:endParaRPr>
          </a:p>
        </p:txBody>
      </p:sp>
      <p:sp>
        <p:nvSpPr>
          <p:cNvPr id="633" name="Google Shape;633;p4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634" name="Google Shape;634;p4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Type Checking: SUMMARY</a:t>
            </a:r>
            <a:endParaRPr/>
          </a:p>
        </p:txBody>
      </p:sp>
      <p:sp>
        <p:nvSpPr>
          <p:cNvPr id="641" name="Google Shape;641;p4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/>
              <a:t>Static type checking: inference vs declaration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/>
              <a:t>Major categories of type problems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non-matching types in set, proc args/formals, proc return type/body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proc args/formals count mismatch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if statement issues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apply non-proc</a:t>
            </a:r>
            <a:endParaRPr/>
          </a:p>
        </p:txBody>
      </p:sp>
      <p:sp>
        <p:nvSpPr>
          <p:cNvPr id="642" name="Google Shape;642;p4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643" name="Google Shape;643;p43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Type Checking: SUMMARY</a:t>
            </a:r>
            <a:endParaRPr/>
          </a:p>
        </p:txBody>
      </p:sp>
      <p:sp>
        <p:nvSpPr>
          <p:cNvPr id="650" name="Google Shape;650;p44"/>
          <p:cNvSpPr txBox="1"/>
          <p:nvPr>
            <p:ph idx="1" type="body"/>
          </p:nvPr>
        </p:nvSpPr>
        <p:spPr>
          <a:xfrm>
            <a:off x="680321" y="2336873"/>
            <a:ext cx="10935946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/>
              <a:t>TYPE0 language: adds syntax of type declarations to REF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proc formal types, return type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syntax for describing type OF a proc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/>
              <a:t>TYPE1 language: Really check types.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Done in separate, earlier, semantic analysis phase.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/>
              <a:t>Booleans are now a full and separate type.</a:t>
            </a:r>
            <a:endParaRPr/>
          </a:p>
        </p:txBody>
      </p:sp>
      <p:sp>
        <p:nvSpPr>
          <p:cNvPr id="651" name="Google Shape;651;p4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652" name="Google Shape;652;p4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Type Checking: SUMMARY</a:t>
            </a:r>
            <a:endParaRPr/>
          </a:p>
        </p:txBody>
      </p:sp>
      <p:sp>
        <p:nvSpPr>
          <p:cNvPr id="659" name="Google Shape;659;p45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TYPE1: Type Checking: The General Design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AutoNum type="arabicPeriod"/>
            </a:pPr>
            <a:r>
              <a:rPr lang="en-US" sz="2400"/>
              <a:t>"Run" the program where variables are bound to their types, not any values.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AutoNum type="arabicPeriod"/>
            </a:pPr>
            <a:r>
              <a:rPr lang="en-US" sz="2400"/>
              <a:t>If the above step doesn't fail, go ahead and do normal evaluation.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 sz="2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For both type checking and real execution, each expression gets evaluated against bindings present in the environment it's given.</a:t>
            </a:r>
            <a:endParaRPr/>
          </a:p>
        </p:txBody>
      </p:sp>
      <p:sp>
        <p:nvSpPr>
          <p:cNvPr id="660" name="Google Shape;660;p4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661" name="Google Shape;661;p4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en-US"/>
              <a:t>Type Checking: SUMMARY</a:t>
            </a:r>
            <a:endParaRPr/>
          </a:p>
        </p:txBody>
      </p:sp>
      <p:sp>
        <p:nvSpPr>
          <p:cNvPr id="668" name="Google Shape;668;p46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Three new sections of semantic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Support for the syntactical elements of types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Support for internal representations of types, and how to get them from the above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Support for type bindings in type environments where internal type representations are stored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Pre-declaration of a proc's type so that type-checking of global recursive and mutually recursive functions works</a:t>
            </a:r>
            <a:endParaRPr/>
          </a:p>
        </p:txBody>
      </p:sp>
      <p:sp>
        <p:nvSpPr>
          <p:cNvPr id="669" name="Google Shape;669;p4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4/30/21</a:t>
            </a:r>
            <a:endParaRPr/>
          </a:p>
        </p:txBody>
      </p:sp>
      <p:sp>
        <p:nvSpPr>
          <p:cNvPr id="670" name="Google Shape;670;p4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rlin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2020-03-06T05:38:35Z</dcterms:created>
  <dc:creator>James Heliotis</dc:creator>
</cp:coreProperties>
</file>