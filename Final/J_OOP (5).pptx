
<file path=[Content_Types].xml><?xml version="1.0" encoding="utf-8"?>
<Types xmlns="http://schemas.openxmlformats.org/package/2006/content-types"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8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47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</p:sldIdLst>
  <p:sldSz cy="6858000" cx="9144000"/>
  <p:notesSz cx="6997700" cy="9283700"/>
  <p:embeddedFontLst>
    <p:embeddedFont>
      <p:font typeface="Tahoma"/>
      <p:regular r:id="rId55"/>
      <p:bold r:id="rId56"/>
    </p:embeddedFont>
    <p:embeddedFont>
      <p:font typeface="Lemon"/>
      <p:regular r:id="rId5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58" roundtripDataSignature="AMtx7mh1W/L3uJhczO9hzT7/r80GNfX+x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AD39FC57-7208-4ECA-BF16-C2C62686F5C4}">
  <a:tblStyle styleId="{AD39FC57-7208-4ECA-BF16-C2C62686F5C4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48" Type="http://schemas.openxmlformats.org/officeDocument/2006/relationships/slide" Target="slides/slide42.xml"/><Relationship Id="rId47" Type="http://schemas.openxmlformats.org/officeDocument/2006/relationships/slide" Target="slides/slide41.xml"/><Relationship Id="rId49" Type="http://schemas.openxmlformats.org/officeDocument/2006/relationships/slide" Target="slides/slide43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slide" Target="slides/slide45.xml"/><Relationship Id="rId50" Type="http://schemas.openxmlformats.org/officeDocument/2006/relationships/slide" Target="slides/slide44.xml"/><Relationship Id="rId53" Type="http://schemas.openxmlformats.org/officeDocument/2006/relationships/slide" Target="slides/slide47.xml"/><Relationship Id="rId52" Type="http://schemas.openxmlformats.org/officeDocument/2006/relationships/slide" Target="slides/slide46.xml"/><Relationship Id="rId11" Type="http://schemas.openxmlformats.org/officeDocument/2006/relationships/slide" Target="slides/slide5.xml"/><Relationship Id="rId55" Type="http://schemas.openxmlformats.org/officeDocument/2006/relationships/font" Target="fonts/Tahoma-regular.fntdata"/><Relationship Id="rId10" Type="http://schemas.openxmlformats.org/officeDocument/2006/relationships/slide" Target="slides/slide4.xml"/><Relationship Id="rId54" Type="http://schemas.openxmlformats.org/officeDocument/2006/relationships/slide" Target="slides/slide48.xml"/><Relationship Id="rId13" Type="http://schemas.openxmlformats.org/officeDocument/2006/relationships/slide" Target="slides/slide7.xml"/><Relationship Id="rId57" Type="http://schemas.openxmlformats.org/officeDocument/2006/relationships/font" Target="fonts/Lemon-regular.fntdata"/><Relationship Id="rId12" Type="http://schemas.openxmlformats.org/officeDocument/2006/relationships/slide" Target="slides/slide6.xml"/><Relationship Id="rId56" Type="http://schemas.openxmlformats.org/officeDocument/2006/relationships/font" Target="fonts/Tahoma-bold.fntdata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58" Type="http://customschemas.google.com/relationships/presentationmetadata" Target="metadata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3032125" cy="463550"/>
          </a:xfrm>
          <a:prstGeom prst="rect">
            <a:avLst/>
          </a:prstGeom>
          <a:noFill/>
          <a:ln>
            <a:noFill/>
          </a:ln>
        </p:spPr>
        <p:txBody>
          <a:bodyPr anchorCtr="0" anchor="t" bIns="46500" lIns="93025" spcFirstLastPara="1" rIns="93025" wrap="square" tIns="465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965575" y="0"/>
            <a:ext cx="3032125" cy="463550"/>
          </a:xfrm>
          <a:prstGeom prst="rect">
            <a:avLst/>
          </a:prstGeom>
          <a:noFill/>
          <a:ln>
            <a:noFill/>
          </a:ln>
        </p:spPr>
        <p:txBody>
          <a:bodyPr anchorCtr="0" anchor="t" bIns="46500" lIns="93025" spcFirstLastPara="1" rIns="93025" wrap="square" tIns="465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177925" y="696913"/>
            <a:ext cx="4641850" cy="34813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931863" y="4410075"/>
            <a:ext cx="5133975" cy="417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6500" lIns="93025" spcFirstLastPara="1" rIns="93025" wrap="square" tIns="46500">
            <a:noAutofit/>
          </a:bodyPr>
          <a:lstStyle>
            <a:lvl1pPr indent="-228600" lvl="0" marL="4572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228600" lvl="1" marL="9144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228600" lvl="2" marL="13716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228600" lvl="3" marL="18288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228600" lvl="4" marL="22860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820150"/>
            <a:ext cx="3032125" cy="463550"/>
          </a:xfrm>
          <a:prstGeom prst="rect">
            <a:avLst/>
          </a:prstGeom>
          <a:noFill/>
          <a:ln>
            <a:noFill/>
          </a:ln>
        </p:spPr>
        <p:txBody>
          <a:bodyPr anchorCtr="0" anchor="b" bIns="46500" lIns="93025" spcFirstLastPara="1" rIns="93025" wrap="square" tIns="465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965575" y="8820150"/>
            <a:ext cx="3032125" cy="463550"/>
          </a:xfrm>
          <a:prstGeom prst="rect">
            <a:avLst/>
          </a:prstGeom>
          <a:noFill/>
          <a:ln>
            <a:noFill/>
          </a:ln>
        </p:spPr>
        <p:txBody>
          <a:bodyPr anchorCtr="0" anchor="b" bIns="46500" lIns="93025" spcFirstLastPara="1" rIns="93025" wrap="square" tIns="465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3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b="0" i="0" sz="13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1:notes"/>
          <p:cNvSpPr txBox="1"/>
          <p:nvPr>
            <p:ph idx="12" type="sldNum"/>
          </p:nvPr>
        </p:nvSpPr>
        <p:spPr>
          <a:xfrm>
            <a:off x="3965575" y="8820150"/>
            <a:ext cx="3032125" cy="463550"/>
          </a:xfrm>
          <a:prstGeom prst="rect">
            <a:avLst/>
          </a:prstGeom>
          <a:noFill/>
          <a:ln>
            <a:noFill/>
          </a:ln>
        </p:spPr>
        <p:txBody>
          <a:bodyPr anchorCtr="0" anchor="b" bIns="46500" lIns="93025" spcFirstLastPara="1" rIns="93025" wrap="square" tIns="465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3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b="0" i="0" sz="13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19" name="Google Shape;219;p1:notes"/>
          <p:cNvSpPr/>
          <p:nvPr>
            <p:ph idx="2" type="sldImg"/>
          </p:nvPr>
        </p:nvSpPr>
        <p:spPr>
          <a:xfrm>
            <a:off x="1177925" y="696913"/>
            <a:ext cx="4641850" cy="34813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20" name="Google Shape;220;p1:notes"/>
          <p:cNvSpPr txBox="1"/>
          <p:nvPr>
            <p:ph idx="1" type="body"/>
          </p:nvPr>
        </p:nvSpPr>
        <p:spPr>
          <a:xfrm>
            <a:off x="931863" y="4410075"/>
            <a:ext cx="5133975" cy="417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6500" lIns="93025" spcFirstLastPara="1" rIns="93025" wrap="square" tIns="46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2:notes"/>
          <p:cNvSpPr txBox="1"/>
          <p:nvPr>
            <p:ph idx="1" type="body"/>
          </p:nvPr>
        </p:nvSpPr>
        <p:spPr>
          <a:xfrm>
            <a:off x="931863" y="4410075"/>
            <a:ext cx="5133975" cy="4176713"/>
          </a:xfrm>
          <a:prstGeom prst="rect">
            <a:avLst/>
          </a:prstGeom>
        </p:spPr>
        <p:txBody>
          <a:bodyPr anchorCtr="0" anchor="t" bIns="46500" lIns="93025" spcFirstLastPara="1" rIns="93025" wrap="square" tIns="465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2:notes"/>
          <p:cNvSpPr/>
          <p:nvPr>
            <p:ph idx="2" type="sldImg"/>
          </p:nvPr>
        </p:nvSpPr>
        <p:spPr>
          <a:xfrm>
            <a:off x="1177925" y="696913"/>
            <a:ext cx="4641850" cy="34813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3:notes"/>
          <p:cNvSpPr txBox="1"/>
          <p:nvPr>
            <p:ph idx="1" type="body"/>
          </p:nvPr>
        </p:nvSpPr>
        <p:spPr>
          <a:xfrm>
            <a:off x="931863" y="4410075"/>
            <a:ext cx="5133975" cy="4176713"/>
          </a:xfrm>
          <a:prstGeom prst="rect">
            <a:avLst/>
          </a:prstGeom>
        </p:spPr>
        <p:txBody>
          <a:bodyPr anchorCtr="0" anchor="t" bIns="46500" lIns="93025" spcFirstLastPara="1" rIns="93025" wrap="square" tIns="465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3:notes"/>
          <p:cNvSpPr/>
          <p:nvPr>
            <p:ph idx="2" type="sldImg"/>
          </p:nvPr>
        </p:nvSpPr>
        <p:spPr>
          <a:xfrm>
            <a:off x="1177925" y="696913"/>
            <a:ext cx="4641850" cy="34813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4:notes"/>
          <p:cNvSpPr txBox="1"/>
          <p:nvPr>
            <p:ph idx="12" type="sldNum"/>
          </p:nvPr>
        </p:nvSpPr>
        <p:spPr>
          <a:xfrm>
            <a:off x="3965575" y="8820150"/>
            <a:ext cx="3032125" cy="463550"/>
          </a:xfrm>
          <a:prstGeom prst="rect">
            <a:avLst/>
          </a:prstGeom>
          <a:noFill/>
          <a:ln>
            <a:noFill/>
          </a:ln>
        </p:spPr>
        <p:txBody>
          <a:bodyPr anchorCtr="0" anchor="b" bIns="46500" lIns="93025" spcFirstLastPara="1" rIns="93025" wrap="square" tIns="465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3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b="0" i="0" sz="13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42" name="Google Shape;242;p4:notes"/>
          <p:cNvSpPr/>
          <p:nvPr>
            <p:ph idx="2" type="sldImg"/>
          </p:nvPr>
        </p:nvSpPr>
        <p:spPr>
          <a:xfrm>
            <a:off x="1177925" y="696913"/>
            <a:ext cx="4641850" cy="34813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43" name="Google Shape;243;p4:notes"/>
          <p:cNvSpPr txBox="1"/>
          <p:nvPr>
            <p:ph idx="1" type="body"/>
          </p:nvPr>
        </p:nvSpPr>
        <p:spPr>
          <a:xfrm>
            <a:off x="931863" y="4410075"/>
            <a:ext cx="5133975" cy="417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6500" lIns="93025" spcFirstLastPara="1" rIns="93025" wrap="square" tIns="46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5:notes"/>
          <p:cNvSpPr txBox="1"/>
          <p:nvPr>
            <p:ph idx="1" type="body"/>
          </p:nvPr>
        </p:nvSpPr>
        <p:spPr>
          <a:xfrm>
            <a:off x="931863" y="4410075"/>
            <a:ext cx="5133975" cy="4176713"/>
          </a:xfrm>
          <a:prstGeom prst="rect">
            <a:avLst/>
          </a:prstGeom>
        </p:spPr>
        <p:txBody>
          <a:bodyPr anchorCtr="0" anchor="t" bIns="46500" lIns="93025" spcFirstLastPara="1" rIns="93025" wrap="square" tIns="465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5:notes"/>
          <p:cNvSpPr/>
          <p:nvPr>
            <p:ph idx="2" type="sldImg"/>
          </p:nvPr>
        </p:nvSpPr>
        <p:spPr>
          <a:xfrm>
            <a:off x="1177925" y="696913"/>
            <a:ext cx="4641850" cy="34813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6:notes"/>
          <p:cNvSpPr txBox="1"/>
          <p:nvPr>
            <p:ph idx="1" type="body"/>
          </p:nvPr>
        </p:nvSpPr>
        <p:spPr>
          <a:xfrm>
            <a:off x="931863" y="4410075"/>
            <a:ext cx="5133975" cy="4176713"/>
          </a:xfrm>
          <a:prstGeom prst="rect">
            <a:avLst/>
          </a:prstGeom>
        </p:spPr>
        <p:txBody>
          <a:bodyPr anchorCtr="0" anchor="t" bIns="46500" lIns="93025" spcFirstLastPara="1" rIns="93025" wrap="square" tIns="465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6:notes"/>
          <p:cNvSpPr/>
          <p:nvPr>
            <p:ph idx="2" type="sldImg"/>
          </p:nvPr>
        </p:nvSpPr>
        <p:spPr>
          <a:xfrm>
            <a:off x="1177925" y="696913"/>
            <a:ext cx="4641850" cy="34813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7:notes"/>
          <p:cNvSpPr txBox="1"/>
          <p:nvPr>
            <p:ph idx="1" type="body"/>
          </p:nvPr>
        </p:nvSpPr>
        <p:spPr>
          <a:xfrm>
            <a:off x="931863" y="4410075"/>
            <a:ext cx="5133975" cy="4176713"/>
          </a:xfrm>
          <a:prstGeom prst="rect">
            <a:avLst/>
          </a:prstGeom>
        </p:spPr>
        <p:txBody>
          <a:bodyPr anchorCtr="0" anchor="t" bIns="46500" lIns="93025" spcFirstLastPara="1" rIns="93025" wrap="square" tIns="465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7:notes"/>
          <p:cNvSpPr/>
          <p:nvPr>
            <p:ph idx="2" type="sldImg"/>
          </p:nvPr>
        </p:nvSpPr>
        <p:spPr>
          <a:xfrm>
            <a:off x="1177925" y="696913"/>
            <a:ext cx="4641850" cy="34813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8:notes"/>
          <p:cNvSpPr txBox="1"/>
          <p:nvPr>
            <p:ph idx="1" type="body"/>
          </p:nvPr>
        </p:nvSpPr>
        <p:spPr>
          <a:xfrm>
            <a:off x="931863" y="4410075"/>
            <a:ext cx="5133975" cy="4176713"/>
          </a:xfrm>
          <a:prstGeom prst="rect">
            <a:avLst/>
          </a:prstGeom>
        </p:spPr>
        <p:txBody>
          <a:bodyPr anchorCtr="0" anchor="t" bIns="46500" lIns="93025" spcFirstLastPara="1" rIns="93025" wrap="square" tIns="465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8:notes"/>
          <p:cNvSpPr/>
          <p:nvPr>
            <p:ph idx="2" type="sldImg"/>
          </p:nvPr>
        </p:nvSpPr>
        <p:spPr>
          <a:xfrm>
            <a:off x="1177925" y="696913"/>
            <a:ext cx="4641850" cy="34813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9:notes"/>
          <p:cNvSpPr txBox="1"/>
          <p:nvPr>
            <p:ph idx="1" type="body"/>
          </p:nvPr>
        </p:nvSpPr>
        <p:spPr>
          <a:xfrm>
            <a:off x="931863" y="4410075"/>
            <a:ext cx="5133975" cy="4176713"/>
          </a:xfrm>
          <a:prstGeom prst="rect">
            <a:avLst/>
          </a:prstGeom>
        </p:spPr>
        <p:txBody>
          <a:bodyPr anchorCtr="0" anchor="t" bIns="46500" lIns="93025" spcFirstLastPara="1" rIns="93025" wrap="square" tIns="465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9:notes"/>
          <p:cNvSpPr/>
          <p:nvPr>
            <p:ph idx="2" type="sldImg"/>
          </p:nvPr>
        </p:nvSpPr>
        <p:spPr>
          <a:xfrm>
            <a:off x="1177925" y="696913"/>
            <a:ext cx="4641850" cy="34813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10:notes"/>
          <p:cNvSpPr txBox="1"/>
          <p:nvPr>
            <p:ph idx="1" type="body"/>
          </p:nvPr>
        </p:nvSpPr>
        <p:spPr>
          <a:xfrm>
            <a:off x="931863" y="4410075"/>
            <a:ext cx="5133975" cy="4176713"/>
          </a:xfrm>
          <a:prstGeom prst="rect">
            <a:avLst/>
          </a:prstGeom>
        </p:spPr>
        <p:txBody>
          <a:bodyPr anchorCtr="0" anchor="t" bIns="46500" lIns="93025" spcFirstLastPara="1" rIns="93025" wrap="square" tIns="465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10:notes"/>
          <p:cNvSpPr/>
          <p:nvPr>
            <p:ph idx="2" type="sldImg"/>
          </p:nvPr>
        </p:nvSpPr>
        <p:spPr>
          <a:xfrm>
            <a:off x="1177925" y="696913"/>
            <a:ext cx="4641850" cy="34813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11:notes"/>
          <p:cNvSpPr txBox="1"/>
          <p:nvPr>
            <p:ph idx="1" type="body"/>
          </p:nvPr>
        </p:nvSpPr>
        <p:spPr>
          <a:xfrm>
            <a:off x="931863" y="4410075"/>
            <a:ext cx="5133975" cy="4176713"/>
          </a:xfrm>
          <a:prstGeom prst="rect">
            <a:avLst/>
          </a:prstGeom>
        </p:spPr>
        <p:txBody>
          <a:bodyPr anchorCtr="0" anchor="t" bIns="46500" lIns="93025" spcFirstLastPara="1" rIns="93025" wrap="square" tIns="465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11:notes"/>
          <p:cNvSpPr/>
          <p:nvPr>
            <p:ph idx="2" type="sldImg"/>
          </p:nvPr>
        </p:nvSpPr>
        <p:spPr>
          <a:xfrm>
            <a:off x="1177925" y="696913"/>
            <a:ext cx="4641850" cy="34813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12:notes"/>
          <p:cNvSpPr/>
          <p:nvPr>
            <p:ph idx="2" type="sldImg"/>
          </p:nvPr>
        </p:nvSpPr>
        <p:spPr>
          <a:xfrm>
            <a:off x="1177925" y="696913"/>
            <a:ext cx="4641850" cy="34813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305" name="Google Shape;305;p12:notes"/>
          <p:cNvSpPr txBox="1"/>
          <p:nvPr>
            <p:ph idx="1" type="body"/>
          </p:nvPr>
        </p:nvSpPr>
        <p:spPr>
          <a:xfrm>
            <a:off x="931863" y="4410075"/>
            <a:ext cx="5133975" cy="417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6500" lIns="93025" spcFirstLastPara="1" rIns="93025" wrap="square" tIns="46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 python, there is no module in syntax or scope. The file name is used as the module name.</a:t>
            </a:r>
            <a:endParaRPr/>
          </a:p>
        </p:txBody>
      </p:sp>
      <p:sp>
        <p:nvSpPr>
          <p:cNvPr id="306" name="Google Shape;306;p12:notes"/>
          <p:cNvSpPr txBox="1"/>
          <p:nvPr>
            <p:ph idx="12" type="sldNum"/>
          </p:nvPr>
        </p:nvSpPr>
        <p:spPr>
          <a:xfrm>
            <a:off x="3965575" y="8820150"/>
            <a:ext cx="3032125" cy="463550"/>
          </a:xfrm>
          <a:prstGeom prst="rect">
            <a:avLst/>
          </a:prstGeom>
          <a:noFill/>
          <a:ln>
            <a:noFill/>
          </a:ln>
        </p:spPr>
        <p:txBody>
          <a:bodyPr anchorCtr="0" anchor="b" bIns="46500" lIns="93025" spcFirstLastPara="1" rIns="93025" wrap="square" tIns="465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13:notes"/>
          <p:cNvSpPr txBox="1"/>
          <p:nvPr>
            <p:ph idx="1" type="body"/>
          </p:nvPr>
        </p:nvSpPr>
        <p:spPr>
          <a:xfrm>
            <a:off x="931863" y="4410075"/>
            <a:ext cx="5133975" cy="4176713"/>
          </a:xfrm>
          <a:prstGeom prst="rect">
            <a:avLst/>
          </a:prstGeom>
        </p:spPr>
        <p:txBody>
          <a:bodyPr anchorCtr="0" anchor="t" bIns="46500" lIns="93025" spcFirstLastPara="1" rIns="93025" wrap="square" tIns="465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" name="Google Shape;317;p13:notes"/>
          <p:cNvSpPr/>
          <p:nvPr>
            <p:ph idx="2" type="sldImg"/>
          </p:nvPr>
        </p:nvSpPr>
        <p:spPr>
          <a:xfrm>
            <a:off x="1177925" y="696913"/>
            <a:ext cx="4641850" cy="34813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14:notes"/>
          <p:cNvSpPr txBox="1"/>
          <p:nvPr>
            <p:ph idx="1" type="body"/>
          </p:nvPr>
        </p:nvSpPr>
        <p:spPr>
          <a:xfrm>
            <a:off x="931863" y="4410075"/>
            <a:ext cx="5133975" cy="4176713"/>
          </a:xfrm>
          <a:prstGeom prst="rect">
            <a:avLst/>
          </a:prstGeom>
        </p:spPr>
        <p:txBody>
          <a:bodyPr anchorCtr="0" anchor="t" bIns="46500" lIns="93025" spcFirstLastPara="1" rIns="93025" wrap="square" tIns="465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" name="Google Shape;326;p14:notes"/>
          <p:cNvSpPr/>
          <p:nvPr>
            <p:ph idx="2" type="sldImg"/>
          </p:nvPr>
        </p:nvSpPr>
        <p:spPr>
          <a:xfrm>
            <a:off x="1177925" y="696913"/>
            <a:ext cx="4641850" cy="34813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15:notes"/>
          <p:cNvSpPr/>
          <p:nvPr>
            <p:ph idx="2" type="sldImg"/>
          </p:nvPr>
        </p:nvSpPr>
        <p:spPr>
          <a:xfrm>
            <a:off x="1177925" y="696913"/>
            <a:ext cx="4641850" cy="34813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334" name="Google Shape;334;p15:notes"/>
          <p:cNvSpPr txBox="1"/>
          <p:nvPr>
            <p:ph idx="1" type="body"/>
          </p:nvPr>
        </p:nvSpPr>
        <p:spPr>
          <a:xfrm>
            <a:off x="931863" y="4410075"/>
            <a:ext cx="5133975" cy="417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6500" lIns="93025" spcFirstLastPara="1" rIns="93025" wrap="square" tIns="46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Had pretty much everything OO except for inheritance. I did not find how to do construction.</a:t>
            </a:r>
            <a:endParaRPr/>
          </a:p>
        </p:txBody>
      </p:sp>
      <p:sp>
        <p:nvSpPr>
          <p:cNvPr id="335" name="Google Shape;335;p15:notes"/>
          <p:cNvSpPr txBox="1"/>
          <p:nvPr>
            <p:ph idx="12" type="sldNum"/>
          </p:nvPr>
        </p:nvSpPr>
        <p:spPr>
          <a:xfrm>
            <a:off x="3965575" y="8820150"/>
            <a:ext cx="3032125" cy="463550"/>
          </a:xfrm>
          <a:prstGeom prst="rect">
            <a:avLst/>
          </a:prstGeom>
          <a:noFill/>
          <a:ln>
            <a:noFill/>
          </a:ln>
        </p:spPr>
        <p:txBody>
          <a:bodyPr anchorCtr="0" anchor="b" bIns="46500" lIns="93025" spcFirstLastPara="1" rIns="93025" wrap="square" tIns="465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16:notes"/>
          <p:cNvSpPr/>
          <p:nvPr>
            <p:ph idx="2" type="sldImg"/>
          </p:nvPr>
        </p:nvSpPr>
        <p:spPr>
          <a:xfrm>
            <a:off x="1177925" y="696913"/>
            <a:ext cx="4641850" cy="34813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43" name="Google Shape;343;p16:notes"/>
          <p:cNvSpPr txBox="1"/>
          <p:nvPr>
            <p:ph idx="1" type="body"/>
          </p:nvPr>
        </p:nvSpPr>
        <p:spPr>
          <a:xfrm>
            <a:off x="931863" y="4410075"/>
            <a:ext cx="5133975" cy="417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6500" lIns="93025" spcFirstLastPara="1" rIns="93025" wrap="square" tIns="46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The constructor is actually a method. It runs only after the object exists.</a:t>
            </a:r>
            <a:endParaRPr/>
          </a:p>
        </p:txBody>
      </p:sp>
      <p:sp>
        <p:nvSpPr>
          <p:cNvPr id="344" name="Google Shape;344;p16:notes"/>
          <p:cNvSpPr txBox="1"/>
          <p:nvPr>
            <p:ph idx="12" type="sldNum"/>
          </p:nvPr>
        </p:nvSpPr>
        <p:spPr>
          <a:xfrm>
            <a:off x="3965575" y="8820150"/>
            <a:ext cx="3032125" cy="463550"/>
          </a:xfrm>
          <a:prstGeom prst="rect">
            <a:avLst/>
          </a:prstGeom>
          <a:noFill/>
          <a:ln>
            <a:noFill/>
          </a:ln>
        </p:spPr>
        <p:txBody>
          <a:bodyPr anchorCtr="0" anchor="b" bIns="46500" lIns="93025" spcFirstLastPara="1" rIns="93025" wrap="square" tIns="465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3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sz="13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17:notes"/>
          <p:cNvSpPr/>
          <p:nvPr>
            <p:ph idx="2" type="sldImg"/>
          </p:nvPr>
        </p:nvSpPr>
        <p:spPr>
          <a:xfrm>
            <a:off x="1177925" y="696913"/>
            <a:ext cx="4641850" cy="34813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57" name="Google Shape;357;p17:notes"/>
          <p:cNvSpPr txBox="1"/>
          <p:nvPr>
            <p:ph idx="1" type="body"/>
          </p:nvPr>
        </p:nvSpPr>
        <p:spPr>
          <a:xfrm>
            <a:off x="931863" y="4410075"/>
            <a:ext cx="5133975" cy="417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6500" lIns="93025" spcFirstLastPara="1" rIns="93025" wrap="square" tIns="46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Python really doesn't care what you call it.</a:t>
            </a:r>
            <a:endParaRPr/>
          </a:p>
        </p:txBody>
      </p:sp>
      <p:sp>
        <p:nvSpPr>
          <p:cNvPr id="358" name="Google Shape;358;p17:notes"/>
          <p:cNvSpPr txBox="1"/>
          <p:nvPr>
            <p:ph idx="12" type="sldNum"/>
          </p:nvPr>
        </p:nvSpPr>
        <p:spPr>
          <a:xfrm>
            <a:off x="3965575" y="8820150"/>
            <a:ext cx="3032125" cy="463550"/>
          </a:xfrm>
          <a:prstGeom prst="rect">
            <a:avLst/>
          </a:prstGeom>
          <a:noFill/>
          <a:ln>
            <a:noFill/>
          </a:ln>
        </p:spPr>
        <p:txBody>
          <a:bodyPr anchorCtr="0" anchor="b" bIns="46500" lIns="93025" spcFirstLastPara="1" rIns="93025" wrap="square" tIns="465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3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sz="13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18:notes"/>
          <p:cNvSpPr/>
          <p:nvPr>
            <p:ph idx="2" type="sldImg"/>
          </p:nvPr>
        </p:nvSpPr>
        <p:spPr>
          <a:xfrm>
            <a:off x="1177925" y="696913"/>
            <a:ext cx="4641850" cy="34813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66" name="Google Shape;366;p18:notes"/>
          <p:cNvSpPr txBox="1"/>
          <p:nvPr>
            <p:ph idx="1" type="body"/>
          </p:nvPr>
        </p:nvSpPr>
        <p:spPr>
          <a:xfrm>
            <a:off x="931863" y="4410075"/>
            <a:ext cx="5133975" cy="417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6500" lIns="93025" spcFirstLastPara="1" rIns="93025" wrap="square" tIns="46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Before clicking again, ask the class: when the class declaration is "executed", is m created? is x created?</a:t>
            </a:r>
            <a:endParaRPr/>
          </a:p>
        </p:txBody>
      </p:sp>
      <p:sp>
        <p:nvSpPr>
          <p:cNvPr id="367" name="Google Shape;367;p18:notes"/>
          <p:cNvSpPr txBox="1"/>
          <p:nvPr>
            <p:ph idx="12" type="sldNum"/>
          </p:nvPr>
        </p:nvSpPr>
        <p:spPr>
          <a:xfrm>
            <a:off x="3965575" y="8820150"/>
            <a:ext cx="3032125" cy="463550"/>
          </a:xfrm>
          <a:prstGeom prst="rect">
            <a:avLst/>
          </a:prstGeom>
          <a:noFill/>
          <a:ln>
            <a:noFill/>
          </a:ln>
        </p:spPr>
        <p:txBody>
          <a:bodyPr anchorCtr="0" anchor="b" bIns="46500" lIns="93025" spcFirstLastPara="1" rIns="93025" wrap="square" tIns="465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3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sz="13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19:notes"/>
          <p:cNvSpPr/>
          <p:nvPr>
            <p:ph idx="2" type="sldImg"/>
          </p:nvPr>
        </p:nvSpPr>
        <p:spPr>
          <a:xfrm>
            <a:off x="1177925" y="696913"/>
            <a:ext cx="4641850" cy="34813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377" name="Google Shape;377;p19:notes"/>
          <p:cNvSpPr txBox="1"/>
          <p:nvPr>
            <p:ph idx="1" type="body"/>
          </p:nvPr>
        </p:nvSpPr>
        <p:spPr>
          <a:xfrm>
            <a:off x="931863" y="4410075"/>
            <a:ext cx="5133975" cy="417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6500" lIns="93025" spcFirstLastPara="1" rIns="93025" wrap="square" tIns="46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Inheritance is far easier to express in an OO language.</a:t>
            </a:r>
            <a:endParaRPr/>
          </a:p>
        </p:txBody>
      </p:sp>
      <p:sp>
        <p:nvSpPr>
          <p:cNvPr id="378" name="Google Shape;378;p19:notes"/>
          <p:cNvSpPr txBox="1"/>
          <p:nvPr>
            <p:ph idx="12" type="sldNum"/>
          </p:nvPr>
        </p:nvSpPr>
        <p:spPr>
          <a:xfrm>
            <a:off x="3965575" y="8820150"/>
            <a:ext cx="3032125" cy="463550"/>
          </a:xfrm>
          <a:prstGeom prst="rect">
            <a:avLst/>
          </a:prstGeom>
          <a:noFill/>
          <a:ln>
            <a:noFill/>
          </a:ln>
        </p:spPr>
        <p:txBody>
          <a:bodyPr anchorCtr="0" anchor="b" bIns="46500" lIns="93025" spcFirstLastPara="1" rIns="93025" wrap="square" tIns="465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20:notes"/>
          <p:cNvSpPr txBox="1"/>
          <p:nvPr>
            <p:ph idx="1" type="body"/>
          </p:nvPr>
        </p:nvSpPr>
        <p:spPr>
          <a:xfrm>
            <a:off x="931863" y="4410075"/>
            <a:ext cx="5133975" cy="4176713"/>
          </a:xfrm>
          <a:prstGeom prst="rect">
            <a:avLst/>
          </a:prstGeom>
        </p:spPr>
        <p:txBody>
          <a:bodyPr anchorCtr="0" anchor="t" bIns="46500" lIns="93025" spcFirstLastPara="1" rIns="93025" wrap="square" tIns="465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7" name="Google Shape;387;p20:notes"/>
          <p:cNvSpPr/>
          <p:nvPr>
            <p:ph idx="2" type="sldImg"/>
          </p:nvPr>
        </p:nvSpPr>
        <p:spPr>
          <a:xfrm>
            <a:off x="1177925" y="696913"/>
            <a:ext cx="4641850" cy="34813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21:notes"/>
          <p:cNvSpPr txBox="1"/>
          <p:nvPr>
            <p:ph idx="1" type="body"/>
          </p:nvPr>
        </p:nvSpPr>
        <p:spPr>
          <a:xfrm>
            <a:off x="931863" y="4410075"/>
            <a:ext cx="5133975" cy="4176713"/>
          </a:xfrm>
          <a:prstGeom prst="rect">
            <a:avLst/>
          </a:prstGeom>
        </p:spPr>
        <p:txBody>
          <a:bodyPr anchorCtr="0" anchor="t" bIns="46500" lIns="93025" spcFirstLastPara="1" rIns="93025" wrap="square" tIns="465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6" name="Google Shape;396;p21:notes"/>
          <p:cNvSpPr/>
          <p:nvPr>
            <p:ph idx="2" type="sldImg"/>
          </p:nvPr>
        </p:nvSpPr>
        <p:spPr>
          <a:xfrm>
            <a:off x="1177925" y="696913"/>
            <a:ext cx="4641850" cy="34813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22:notes"/>
          <p:cNvSpPr txBox="1"/>
          <p:nvPr>
            <p:ph idx="1" type="body"/>
          </p:nvPr>
        </p:nvSpPr>
        <p:spPr>
          <a:xfrm>
            <a:off x="931863" y="4410075"/>
            <a:ext cx="5133975" cy="4176713"/>
          </a:xfrm>
          <a:prstGeom prst="rect">
            <a:avLst/>
          </a:prstGeom>
        </p:spPr>
        <p:txBody>
          <a:bodyPr anchorCtr="0" anchor="t" bIns="46500" lIns="93025" spcFirstLastPara="1" rIns="93025" wrap="square" tIns="465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7" name="Google Shape;417;p22:notes"/>
          <p:cNvSpPr/>
          <p:nvPr>
            <p:ph idx="2" type="sldImg"/>
          </p:nvPr>
        </p:nvSpPr>
        <p:spPr>
          <a:xfrm>
            <a:off x="1177925" y="696913"/>
            <a:ext cx="4641850" cy="34813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p23:notes"/>
          <p:cNvSpPr txBox="1"/>
          <p:nvPr>
            <p:ph idx="1" type="body"/>
          </p:nvPr>
        </p:nvSpPr>
        <p:spPr>
          <a:xfrm>
            <a:off x="931863" y="4410075"/>
            <a:ext cx="5133975" cy="4176713"/>
          </a:xfrm>
          <a:prstGeom prst="rect">
            <a:avLst/>
          </a:prstGeom>
        </p:spPr>
        <p:txBody>
          <a:bodyPr anchorCtr="0" anchor="t" bIns="46500" lIns="93025" spcFirstLastPara="1" rIns="93025" wrap="square" tIns="465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9" name="Google Shape;439;p23:notes"/>
          <p:cNvSpPr/>
          <p:nvPr>
            <p:ph idx="2" type="sldImg"/>
          </p:nvPr>
        </p:nvSpPr>
        <p:spPr>
          <a:xfrm>
            <a:off x="1177925" y="696913"/>
            <a:ext cx="4641850" cy="34813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5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p24:notes"/>
          <p:cNvSpPr txBox="1"/>
          <p:nvPr>
            <p:ph idx="1" type="body"/>
          </p:nvPr>
        </p:nvSpPr>
        <p:spPr>
          <a:xfrm>
            <a:off x="931863" y="4410075"/>
            <a:ext cx="5133975" cy="4176713"/>
          </a:xfrm>
          <a:prstGeom prst="rect">
            <a:avLst/>
          </a:prstGeom>
        </p:spPr>
        <p:txBody>
          <a:bodyPr anchorCtr="0" anchor="t" bIns="46500" lIns="93025" spcFirstLastPara="1" rIns="93025" wrap="square" tIns="465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7" name="Google Shape;447;p24:notes"/>
          <p:cNvSpPr/>
          <p:nvPr>
            <p:ph idx="2" type="sldImg"/>
          </p:nvPr>
        </p:nvSpPr>
        <p:spPr>
          <a:xfrm>
            <a:off x="1177925" y="696913"/>
            <a:ext cx="4641850" cy="34813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9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p25:notes"/>
          <p:cNvSpPr txBox="1"/>
          <p:nvPr>
            <p:ph idx="1" type="body"/>
          </p:nvPr>
        </p:nvSpPr>
        <p:spPr>
          <a:xfrm>
            <a:off x="931863" y="4410075"/>
            <a:ext cx="5133975" cy="4176713"/>
          </a:xfrm>
          <a:prstGeom prst="rect">
            <a:avLst/>
          </a:prstGeom>
        </p:spPr>
        <p:txBody>
          <a:bodyPr anchorCtr="0" anchor="t" bIns="46500" lIns="93025" spcFirstLastPara="1" rIns="93025" wrap="square" tIns="465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1" name="Google Shape;471;p25:notes"/>
          <p:cNvSpPr/>
          <p:nvPr>
            <p:ph idx="2" type="sldImg"/>
          </p:nvPr>
        </p:nvSpPr>
        <p:spPr>
          <a:xfrm>
            <a:off x="1177925" y="696913"/>
            <a:ext cx="4641850" cy="34813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5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Google Shape;496;p26:notes"/>
          <p:cNvSpPr txBox="1"/>
          <p:nvPr>
            <p:ph idx="1" type="body"/>
          </p:nvPr>
        </p:nvSpPr>
        <p:spPr>
          <a:xfrm>
            <a:off x="931863" y="4410075"/>
            <a:ext cx="5133975" cy="4176713"/>
          </a:xfrm>
          <a:prstGeom prst="rect">
            <a:avLst/>
          </a:prstGeom>
        </p:spPr>
        <p:txBody>
          <a:bodyPr anchorCtr="0" anchor="t" bIns="46500" lIns="93025" spcFirstLastPara="1" rIns="93025" wrap="square" tIns="465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7" name="Google Shape;497;p26:notes"/>
          <p:cNvSpPr/>
          <p:nvPr>
            <p:ph idx="2" type="sldImg"/>
          </p:nvPr>
        </p:nvSpPr>
        <p:spPr>
          <a:xfrm>
            <a:off x="1177925" y="696913"/>
            <a:ext cx="4641850" cy="34813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3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p27:notes"/>
          <p:cNvSpPr txBox="1"/>
          <p:nvPr>
            <p:ph idx="1" type="body"/>
          </p:nvPr>
        </p:nvSpPr>
        <p:spPr>
          <a:xfrm>
            <a:off x="931863" y="4410075"/>
            <a:ext cx="5133975" cy="4176713"/>
          </a:xfrm>
          <a:prstGeom prst="rect">
            <a:avLst/>
          </a:prstGeom>
        </p:spPr>
        <p:txBody>
          <a:bodyPr anchorCtr="0" anchor="t" bIns="46500" lIns="93025" spcFirstLastPara="1" rIns="93025" wrap="square" tIns="465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5" name="Google Shape;505;p27:notes"/>
          <p:cNvSpPr/>
          <p:nvPr>
            <p:ph idx="2" type="sldImg"/>
          </p:nvPr>
        </p:nvSpPr>
        <p:spPr>
          <a:xfrm>
            <a:off x="1177925" y="696913"/>
            <a:ext cx="4641850" cy="34813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p28:notes"/>
          <p:cNvSpPr txBox="1"/>
          <p:nvPr>
            <p:ph idx="1" type="body"/>
          </p:nvPr>
        </p:nvSpPr>
        <p:spPr>
          <a:xfrm>
            <a:off x="931863" y="4410075"/>
            <a:ext cx="5133975" cy="4176713"/>
          </a:xfrm>
          <a:prstGeom prst="rect">
            <a:avLst/>
          </a:prstGeom>
        </p:spPr>
        <p:txBody>
          <a:bodyPr anchorCtr="0" anchor="t" bIns="46500" lIns="93025" spcFirstLastPara="1" rIns="93025" wrap="square" tIns="465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3" name="Google Shape;513;p28:notes"/>
          <p:cNvSpPr/>
          <p:nvPr>
            <p:ph idx="2" type="sldImg"/>
          </p:nvPr>
        </p:nvSpPr>
        <p:spPr>
          <a:xfrm>
            <a:off x="1177925" y="696913"/>
            <a:ext cx="4641850" cy="34813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5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Google Shape;526;p29:notes"/>
          <p:cNvSpPr txBox="1"/>
          <p:nvPr>
            <p:ph idx="1" type="body"/>
          </p:nvPr>
        </p:nvSpPr>
        <p:spPr>
          <a:xfrm>
            <a:off x="931863" y="4410075"/>
            <a:ext cx="5133975" cy="4176713"/>
          </a:xfrm>
          <a:prstGeom prst="rect">
            <a:avLst/>
          </a:prstGeom>
        </p:spPr>
        <p:txBody>
          <a:bodyPr anchorCtr="0" anchor="t" bIns="46500" lIns="93025" spcFirstLastPara="1" rIns="93025" wrap="square" tIns="465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7" name="Google Shape;527;p29:notes"/>
          <p:cNvSpPr/>
          <p:nvPr>
            <p:ph idx="2" type="sldImg"/>
          </p:nvPr>
        </p:nvSpPr>
        <p:spPr>
          <a:xfrm>
            <a:off x="1177925" y="696913"/>
            <a:ext cx="4641850" cy="34813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p30:notes"/>
          <p:cNvSpPr txBox="1"/>
          <p:nvPr>
            <p:ph idx="1" type="body"/>
          </p:nvPr>
        </p:nvSpPr>
        <p:spPr>
          <a:xfrm>
            <a:off x="931863" y="4410075"/>
            <a:ext cx="5133975" cy="4176713"/>
          </a:xfrm>
          <a:prstGeom prst="rect">
            <a:avLst/>
          </a:prstGeom>
        </p:spPr>
        <p:txBody>
          <a:bodyPr anchorCtr="0" anchor="t" bIns="46500" lIns="93025" spcFirstLastPara="1" rIns="93025" wrap="square" tIns="465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3" name="Google Shape;533;p30:notes"/>
          <p:cNvSpPr/>
          <p:nvPr>
            <p:ph idx="2" type="sldImg"/>
          </p:nvPr>
        </p:nvSpPr>
        <p:spPr>
          <a:xfrm>
            <a:off x="1177925" y="696913"/>
            <a:ext cx="4641850" cy="34813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9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Google Shape;540;p31:notes"/>
          <p:cNvSpPr txBox="1"/>
          <p:nvPr>
            <p:ph idx="1" type="body"/>
          </p:nvPr>
        </p:nvSpPr>
        <p:spPr>
          <a:xfrm>
            <a:off x="931863" y="4410075"/>
            <a:ext cx="5133975" cy="4176713"/>
          </a:xfrm>
          <a:prstGeom prst="rect">
            <a:avLst/>
          </a:prstGeom>
        </p:spPr>
        <p:txBody>
          <a:bodyPr anchorCtr="0" anchor="t" bIns="46500" lIns="93025" spcFirstLastPara="1" rIns="93025" wrap="square" tIns="465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1" name="Google Shape;541;p31:notes"/>
          <p:cNvSpPr/>
          <p:nvPr>
            <p:ph idx="2" type="sldImg"/>
          </p:nvPr>
        </p:nvSpPr>
        <p:spPr>
          <a:xfrm>
            <a:off x="1177925" y="696913"/>
            <a:ext cx="4641850" cy="34813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7" name="Shape 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Google Shape;548;p32:notes"/>
          <p:cNvSpPr txBox="1"/>
          <p:nvPr>
            <p:ph idx="1" type="body"/>
          </p:nvPr>
        </p:nvSpPr>
        <p:spPr>
          <a:xfrm>
            <a:off x="931863" y="4410075"/>
            <a:ext cx="5133975" cy="4176713"/>
          </a:xfrm>
          <a:prstGeom prst="rect">
            <a:avLst/>
          </a:prstGeom>
        </p:spPr>
        <p:txBody>
          <a:bodyPr anchorCtr="0" anchor="t" bIns="46500" lIns="93025" spcFirstLastPara="1" rIns="93025" wrap="square" tIns="465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9" name="Google Shape;549;p32:notes"/>
          <p:cNvSpPr/>
          <p:nvPr>
            <p:ph idx="2" type="sldImg"/>
          </p:nvPr>
        </p:nvSpPr>
        <p:spPr>
          <a:xfrm>
            <a:off x="1177925" y="696913"/>
            <a:ext cx="4641850" cy="34813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6" name="Shape 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" name="Google Shape;557;p33:notes"/>
          <p:cNvSpPr txBox="1"/>
          <p:nvPr>
            <p:ph idx="1" type="body"/>
          </p:nvPr>
        </p:nvSpPr>
        <p:spPr>
          <a:xfrm>
            <a:off x="931863" y="4410075"/>
            <a:ext cx="5133975" cy="4176713"/>
          </a:xfrm>
          <a:prstGeom prst="rect">
            <a:avLst/>
          </a:prstGeom>
        </p:spPr>
        <p:txBody>
          <a:bodyPr anchorCtr="0" anchor="t" bIns="46500" lIns="93025" spcFirstLastPara="1" rIns="93025" wrap="square" tIns="465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8" name="Google Shape;558;p33:notes"/>
          <p:cNvSpPr/>
          <p:nvPr>
            <p:ph idx="2" type="sldImg"/>
          </p:nvPr>
        </p:nvSpPr>
        <p:spPr>
          <a:xfrm>
            <a:off x="1177925" y="696913"/>
            <a:ext cx="4641850" cy="34813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6" name="Shape 5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7" name="Google Shape;567;p34:notes"/>
          <p:cNvSpPr txBox="1"/>
          <p:nvPr>
            <p:ph idx="1" type="body"/>
          </p:nvPr>
        </p:nvSpPr>
        <p:spPr>
          <a:xfrm>
            <a:off x="931863" y="4410075"/>
            <a:ext cx="5133975" cy="4176713"/>
          </a:xfrm>
          <a:prstGeom prst="rect">
            <a:avLst/>
          </a:prstGeom>
        </p:spPr>
        <p:txBody>
          <a:bodyPr anchorCtr="0" anchor="t" bIns="46500" lIns="93025" spcFirstLastPara="1" rIns="93025" wrap="square" tIns="465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8" name="Google Shape;568;p34:notes"/>
          <p:cNvSpPr/>
          <p:nvPr>
            <p:ph idx="2" type="sldImg"/>
          </p:nvPr>
        </p:nvSpPr>
        <p:spPr>
          <a:xfrm>
            <a:off x="1177925" y="696913"/>
            <a:ext cx="4641850" cy="34813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5" name="Shape 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Google Shape;576;p35:notes"/>
          <p:cNvSpPr/>
          <p:nvPr>
            <p:ph idx="2" type="sldImg"/>
          </p:nvPr>
        </p:nvSpPr>
        <p:spPr>
          <a:xfrm>
            <a:off x="1177925" y="696913"/>
            <a:ext cx="4641850" cy="34813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577" name="Google Shape;577;p35:notes"/>
          <p:cNvSpPr txBox="1"/>
          <p:nvPr>
            <p:ph idx="1" type="body"/>
          </p:nvPr>
        </p:nvSpPr>
        <p:spPr>
          <a:xfrm>
            <a:off x="931863" y="4410075"/>
            <a:ext cx="5133975" cy="417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6500" lIns="93025" spcFirstLastPara="1" rIns="93025" wrap="square" tIns="46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static stuff!</a:t>
            </a:r>
            <a:endParaRPr/>
          </a:p>
        </p:txBody>
      </p:sp>
      <p:sp>
        <p:nvSpPr>
          <p:cNvPr id="578" name="Google Shape;578;p35:notes"/>
          <p:cNvSpPr txBox="1"/>
          <p:nvPr>
            <p:ph idx="12" type="sldNum"/>
          </p:nvPr>
        </p:nvSpPr>
        <p:spPr>
          <a:xfrm>
            <a:off x="3965575" y="8820150"/>
            <a:ext cx="3032125" cy="463550"/>
          </a:xfrm>
          <a:prstGeom prst="rect">
            <a:avLst/>
          </a:prstGeom>
          <a:noFill/>
          <a:ln>
            <a:noFill/>
          </a:ln>
        </p:spPr>
        <p:txBody>
          <a:bodyPr anchorCtr="0" anchor="b" bIns="46500" lIns="93025" spcFirstLastPara="1" rIns="93025" wrap="square" tIns="465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5" name="Shape 5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6" name="Google Shape;586;p36:notes"/>
          <p:cNvSpPr txBox="1"/>
          <p:nvPr>
            <p:ph idx="1" type="body"/>
          </p:nvPr>
        </p:nvSpPr>
        <p:spPr>
          <a:xfrm>
            <a:off x="931863" y="4410075"/>
            <a:ext cx="5133975" cy="4176713"/>
          </a:xfrm>
          <a:prstGeom prst="rect">
            <a:avLst/>
          </a:prstGeom>
        </p:spPr>
        <p:txBody>
          <a:bodyPr anchorCtr="0" anchor="t" bIns="46500" lIns="93025" spcFirstLastPara="1" rIns="93025" wrap="square" tIns="465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7" name="Google Shape;587;p36:notes"/>
          <p:cNvSpPr/>
          <p:nvPr>
            <p:ph idx="2" type="sldImg"/>
          </p:nvPr>
        </p:nvSpPr>
        <p:spPr>
          <a:xfrm>
            <a:off x="1177925" y="696913"/>
            <a:ext cx="4641850" cy="34813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8" name="Shape 5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9" name="Google Shape;599;p37:notes"/>
          <p:cNvSpPr txBox="1"/>
          <p:nvPr>
            <p:ph idx="1" type="body"/>
          </p:nvPr>
        </p:nvSpPr>
        <p:spPr>
          <a:xfrm>
            <a:off x="931863" y="4410075"/>
            <a:ext cx="5133975" cy="4176713"/>
          </a:xfrm>
          <a:prstGeom prst="rect">
            <a:avLst/>
          </a:prstGeom>
        </p:spPr>
        <p:txBody>
          <a:bodyPr anchorCtr="0" anchor="t" bIns="46500" lIns="93025" spcFirstLastPara="1" rIns="93025" wrap="square" tIns="465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0" name="Google Shape;600;p37:notes"/>
          <p:cNvSpPr/>
          <p:nvPr>
            <p:ph idx="2" type="sldImg"/>
          </p:nvPr>
        </p:nvSpPr>
        <p:spPr>
          <a:xfrm>
            <a:off x="1177925" y="696913"/>
            <a:ext cx="4641850" cy="34813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6" name="Shape 6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7" name="Google Shape;607;p38:notes"/>
          <p:cNvSpPr txBox="1"/>
          <p:nvPr>
            <p:ph idx="1" type="body"/>
          </p:nvPr>
        </p:nvSpPr>
        <p:spPr>
          <a:xfrm>
            <a:off x="931863" y="4410075"/>
            <a:ext cx="5133975" cy="4176713"/>
          </a:xfrm>
          <a:prstGeom prst="rect">
            <a:avLst/>
          </a:prstGeom>
        </p:spPr>
        <p:txBody>
          <a:bodyPr anchorCtr="0" anchor="t" bIns="46500" lIns="93025" spcFirstLastPara="1" rIns="93025" wrap="square" tIns="465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8" name="Google Shape;608;p38:notes"/>
          <p:cNvSpPr/>
          <p:nvPr>
            <p:ph idx="2" type="sldImg"/>
          </p:nvPr>
        </p:nvSpPr>
        <p:spPr>
          <a:xfrm>
            <a:off x="1177925" y="696913"/>
            <a:ext cx="4641850" cy="34813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9" name="Shape 6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0" name="Google Shape;650;p39:notes"/>
          <p:cNvSpPr txBox="1"/>
          <p:nvPr>
            <p:ph idx="1" type="body"/>
          </p:nvPr>
        </p:nvSpPr>
        <p:spPr>
          <a:xfrm>
            <a:off x="931863" y="4410075"/>
            <a:ext cx="5133975" cy="4176713"/>
          </a:xfrm>
          <a:prstGeom prst="rect">
            <a:avLst/>
          </a:prstGeom>
        </p:spPr>
        <p:txBody>
          <a:bodyPr anchorCtr="0" anchor="t" bIns="46500" lIns="93025" spcFirstLastPara="1" rIns="93025" wrap="square" tIns="465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1" name="Google Shape;651;p39:notes"/>
          <p:cNvSpPr/>
          <p:nvPr>
            <p:ph idx="2" type="sldImg"/>
          </p:nvPr>
        </p:nvSpPr>
        <p:spPr>
          <a:xfrm>
            <a:off x="1177925" y="696913"/>
            <a:ext cx="4641850" cy="34813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7" name="Shape 6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8" name="Google Shape;658;p40:notes"/>
          <p:cNvSpPr txBox="1"/>
          <p:nvPr>
            <p:ph idx="1" type="body"/>
          </p:nvPr>
        </p:nvSpPr>
        <p:spPr>
          <a:xfrm>
            <a:off x="931863" y="4410075"/>
            <a:ext cx="5133975" cy="4176713"/>
          </a:xfrm>
          <a:prstGeom prst="rect">
            <a:avLst/>
          </a:prstGeom>
        </p:spPr>
        <p:txBody>
          <a:bodyPr anchorCtr="0" anchor="t" bIns="46500" lIns="93025" spcFirstLastPara="1" rIns="93025" wrap="square" tIns="465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9" name="Google Shape;659;p40:notes"/>
          <p:cNvSpPr/>
          <p:nvPr>
            <p:ph idx="2" type="sldImg"/>
          </p:nvPr>
        </p:nvSpPr>
        <p:spPr>
          <a:xfrm>
            <a:off x="1177925" y="696913"/>
            <a:ext cx="4641850" cy="34813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7" name="Shape 6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8" name="Google Shape;668;p41:notes"/>
          <p:cNvSpPr txBox="1"/>
          <p:nvPr>
            <p:ph idx="1" type="body"/>
          </p:nvPr>
        </p:nvSpPr>
        <p:spPr>
          <a:xfrm>
            <a:off x="931863" y="4410075"/>
            <a:ext cx="5133975" cy="4176713"/>
          </a:xfrm>
          <a:prstGeom prst="rect">
            <a:avLst/>
          </a:prstGeom>
        </p:spPr>
        <p:txBody>
          <a:bodyPr anchorCtr="0" anchor="t" bIns="46500" lIns="93025" spcFirstLastPara="1" rIns="93025" wrap="square" tIns="465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9" name="Google Shape;669;p41:notes"/>
          <p:cNvSpPr/>
          <p:nvPr>
            <p:ph idx="2" type="sldImg"/>
          </p:nvPr>
        </p:nvSpPr>
        <p:spPr>
          <a:xfrm>
            <a:off x="1177925" y="696913"/>
            <a:ext cx="4641850" cy="34813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9" name="Shape 6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0" name="Google Shape;680;p42:notes"/>
          <p:cNvSpPr txBox="1"/>
          <p:nvPr>
            <p:ph idx="1" type="body"/>
          </p:nvPr>
        </p:nvSpPr>
        <p:spPr>
          <a:xfrm>
            <a:off x="931863" y="4410075"/>
            <a:ext cx="5133975" cy="4176713"/>
          </a:xfrm>
          <a:prstGeom prst="rect">
            <a:avLst/>
          </a:prstGeom>
        </p:spPr>
        <p:txBody>
          <a:bodyPr anchorCtr="0" anchor="t" bIns="46500" lIns="93025" spcFirstLastPara="1" rIns="93025" wrap="square" tIns="465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1" name="Google Shape;681;p42:notes"/>
          <p:cNvSpPr/>
          <p:nvPr>
            <p:ph idx="2" type="sldImg"/>
          </p:nvPr>
        </p:nvSpPr>
        <p:spPr>
          <a:xfrm>
            <a:off x="1177925" y="696913"/>
            <a:ext cx="4641850" cy="34813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5" name="Shape 6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Google Shape;696;p43:notes"/>
          <p:cNvSpPr txBox="1"/>
          <p:nvPr>
            <p:ph idx="1" type="body"/>
          </p:nvPr>
        </p:nvSpPr>
        <p:spPr>
          <a:xfrm>
            <a:off x="931863" y="4410075"/>
            <a:ext cx="5133975" cy="4176713"/>
          </a:xfrm>
          <a:prstGeom prst="rect">
            <a:avLst/>
          </a:prstGeom>
        </p:spPr>
        <p:txBody>
          <a:bodyPr anchorCtr="0" anchor="t" bIns="46500" lIns="93025" spcFirstLastPara="1" rIns="93025" wrap="square" tIns="465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7" name="Google Shape;697;p43:notes"/>
          <p:cNvSpPr/>
          <p:nvPr>
            <p:ph idx="2" type="sldImg"/>
          </p:nvPr>
        </p:nvSpPr>
        <p:spPr>
          <a:xfrm>
            <a:off x="1177925" y="696913"/>
            <a:ext cx="4641850" cy="34813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1" name="Shape 7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2" name="Google Shape;712;p44:notes"/>
          <p:cNvSpPr txBox="1"/>
          <p:nvPr>
            <p:ph idx="1" type="body"/>
          </p:nvPr>
        </p:nvSpPr>
        <p:spPr>
          <a:xfrm>
            <a:off x="931863" y="4410075"/>
            <a:ext cx="5133975" cy="4176713"/>
          </a:xfrm>
          <a:prstGeom prst="rect">
            <a:avLst/>
          </a:prstGeom>
        </p:spPr>
        <p:txBody>
          <a:bodyPr anchorCtr="0" anchor="t" bIns="46500" lIns="93025" spcFirstLastPara="1" rIns="93025" wrap="square" tIns="465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3" name="Google Shape;713;p44:notes"/>
          <p:cNvSpPr/>
          <p:nvPr>
            <p:ph idx="2" type="sldImg"/>
          </p:nvPr>
        </p:nvSpPr>
        <p:spPr>
          <a:xfrm>
            <a:off x="1177925" y="696913"/>
            <a:ext cx="4641850" cy="34813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9" name="Shape 7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0" name="Google Shape;720;p45:notes"/>
          <p:cNvSpPr txBox="1"/>
          <p:nvPr>
            <p:ph idx="1" type="body"/>
          </p:nvPr>
        </p:nvSpPr>
        <p:spPr>
          <a:xfrm>
            <a:off x="931863" y="4410075"/>
            <a:ext cx="5133975" cy="4176713"/>
          </a:xfrm>
          <a:prstGeom prst="rect">
            <a:avLst/>
          </a:prstGeom>
        </p:spPr>
        <p:txBody>
          <a:bodyPr anchorCtr="0" anchor="t" bIns="46500" lIns="93025" spcFirstLastPara="1" rIns="93025" wrap="square" tIns="465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1" name="Google Shape;721;p45:notes"/>
          <p:cNvSpPr/>
          <p:nvPr>
            <p:ph idx="2" type="sldImg"/>
          </p:nvPr>
        </p:nvSpPr>
        <p:spPr>
          <a:xfrm>
            <a:off x="1177925" y="696913"/>
            <a:ext cx="4641850" cy="34813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8" name="Shape 7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9" name="Google Shape;729;p46:notes"/>
          <p:cNvSpPr txBox="1"/>
          <p:nvPr>
            <p:ph idx="1" type="body"/>
          </p:nvPr>
        </p:nvSpPr>
        <p:spPr>
          <a:xfrm>
            <a:off x="931863" y="4410075"/>
            <a:ext cx="5133975" cy="4176713"/>
          </a:xfrm>
          <a:prstGeom prst="rect">
            <a:avLst/>
          </a:prstGeom>
        </p:spPr>
        <p:txBody>
          <a:bodyPr anchorCtr="0" anchor="t" bIns="46500" lIns="93025" spcFirstLastPara="1" rIns="93025" wrap="square" tIns="465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0" name="Google Shape;730;p46:notes"/>
          <p:cNvSpPr/>
          <p:nvPr>
            <p:ph idx="2" type="sldImg"/>
          </p:nvPr>
        </p:nvSpPr>
        <p:spPr>
          <a:xfrm>
            <a:off x="1177925" y="696913"/>
            <a:ext cx="4641850" cy="34813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6" name="Shape 7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" name="Google Shape;737;p47:notes"/>
          <p:cNvSpPr txBox="1"/>
          <p:nvPr>
            <p:ph idx="1" type="body"/>
          </p:nvPr>
        </p:nvSpPr>
        <p:spPr>
          <a:xfrm>
            <a:off x="931863" y="4410075"/>
            <a:ext cx="5133975" cy="4176713"/>
          </a:xfrm>
          <a:prstGeom prst="rect">
            <a:avLst/>
          </a:prstGeom>
        </p:spPr>
        <p:txBody>
          <a:bodyPr anchorCtr="0" anchor="t" bIns="46500" lIns="93025" spcFirstLastPara="1" rIns="93025" wrap="square" tIns="465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8" name="Google Shape;738;p47:notes"/>
          <p:cNvSpPr/>
          <p:nvPr>
            <p:ph idx="2" type="sldImg"/>
          </p:nvPr>
        </p:nvSpPr>
        <p:spPr>
          <a:xfrm>
            <a:off x="1177925" y="696913"/>
            <a:ext cx="4641850" cy="34813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4" name="Shape 7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5" name="Google Shape;745;p48:notes"/>
          <p:cNvSpPr txBox="1"/>
          <p:nvPr>
            <p:ph idx="1" type="body"/>
          </p:nvPr>
        </p:nvSpPr>
        <p:spPr>
          <a:xfrm>
            <a:off x="931863" y="4410075"/>
            <a:ext cx="5133975" cy="4176713"/>
          </a:xfrm>
          <a:prstGeom prst="rect">
            <a:avLst/>
          </a:prstGeom>
        </p:spPr>
        <p:txBody>
          <a:bodyPr anchorCtr="0" anchor="t" bIns="46500" lIns="93025" spcFirstLastPara="1" rIns="93025" wrap="square" tIns="465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6" name="Google Shape;746;p48:notes"/>
          <p:cNvSpPr/>
          <p:nvPr>
            <p:ph idx="2" type="sldImg"/>
          </p:nvPr>
        </p:nvSpPr>
        <p:spPr>
          <a:xfrm>
            <a:off x="1177925" y="696913"/>
            <a:ext cx="4641850" cy="34813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2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2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2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2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2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2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2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2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2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2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2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2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2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2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2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D-ShadowLong.png" id="17" name="Google Shape;17;p5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" y="4242851"/>
            <a:ext cx="6726063" cy="27594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D-ShadowShort.png" id="18" name="Google Shape;18;p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33787" y="4243845"/>
            <a:ext cx="2307831" cy="276940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50"/>
          <p:cNvSpPr/>
          <p:nvPr/>
        </p:nvSpPr>
        <p:spPr>
          <a:xfrm>
            <a:off x="0" y="2590078"/>
            <a:ext cx="6726064" cy="1660332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50"/>
          <p:cNvSpPr/>
          <p:nvPr/>
        </p:nvSpPr>
        <p:spPr>
          <a:xfrm>
            <a:off x="6833787" y="2590078"/>
            <a:ext cx="2307832" cy="16603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50"/>
          <p:cNvSpPr txBox="1"/>
          <p:nvPr>
            <p:ph type="ctrTitle"/>
          </p:nvPr>
        </p:nvSpPr>
        <p:spPr>
          <a:xfrm>
            <a:off x="510242" y="2733709"/>
            <a:ext cx="6069268" cy="137307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Trebuchet MS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50"/>
          <p:cNvSpPr txBox="1"/>
          <p:nvPr>
            <p:ph idx="1" type="subTitle"/>
          </p:nvPr>
        </p:nvSpPr>
        <p:spPr>
          <a:xfrm>
            <a:off x="510241" y="4394040"/>
            <a:ext cx="6108101" cy="11176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3" name="Google Shape;23;p50"/>
          <p:cNvSpPr txBox="1"/>
          <p:nvPr>
            <p:ph idx="10" type="dt"/>
          </p:nvPr>
        </p:nvSpPr>
        <p:spPr>
          <a:xfrm>
            <a:off x="4555655" y="5936188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50"/>
          <p:cNvSpPr txBox="1"/>
          <p:nvPr>
            <p:ph idx="11" type="ftr"/>
          </p:nvPr>
        </p:nvSpPr>
        <p:spPr>
          <a:xfrm>
            <a:off x="533401" y="5936189"/>
            <a:ext cx="402166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50"/>
          <p:cNvSpPr txBox="1"/>
          <p:nvPr>
            <p:ph idx="12" type="sldNum"/>
          </p:nvPr>
        </p:nvSpPr>
        <p:spPr>
          <a:xfrm>
            <a:off x="7010399" y="2750337"/>
            <a:ext cx="1370293" cy="135644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Google Shape;27;p51"/>
          <p:cNvGrpSpPr/>
          <p:nvPr/>
        </p:nvGrpSpPr>
        <p:grpSpPr>
          <a:xfrm>
            <a:off x="0" y="609600"/>
            <a:ext cx="9161969" cy="1677035"/>
            <a:chOff x="0" y="2895600"/>
            <a:chExt cx="9161969" cy="1677035"/>
          </a:xfrm>
        </p:grpSpPr>
        <p:pic>
          <p:nvPicPr>
            <p:cNvPr descr="HD-ShadowLong.png" id="28" name="Google Shape;28;p51"/>
            <p:cNvPicPr preferRelativeResize="0"/>
            <p:nvPr/>
          </p:nvPicPr>
          <p:blipFill rotWithShape="1">
            <a:blip r:embed="rId2">
              <a:alphaModFix/>
            </a:blip>
            <a:srcRect b="0" l="26982" r="-217" t="0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HD-ShadowShort.png" id="29" name="Google Shape;29;p51"/>
            <p:cNvPicPr preferRelativeResize="0"/>
            <p:nvPr/>
          </p:nvPicPr>
          <p:blipFill rotWithShape="1">
            <a:blip r:embed="rId3">
              <a:alphaModFix/>
            </a:blip>
            <a:srcRect b="0" l="0" r="9870" t="0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" name="Google Shape;30;p51"/>
            <p:cNvSpPr/>
            <p:nvPr/>
          </p:nvSpPr>
          <p:spPr>
            <a:xfrm>
              <a:off x="0" y="2895600"/>
              <a:ext cx="7567140" cy="1368198"/>
            </a:xfrm>
            <a:prstGeom prst="rect">
              <a:avLst/>
            </a:prstGeom>
            <a:solidFill>
              <a:srgbClr val="26262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51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2" name="Google Shape;32;p51"/>
          <p:cNvSpPr txBox="1"/>
          <p:nvPr>
            <p:ph type="title"/>
          </p:nvPr>
        </p:nvSpPr>
        <p:spPr>
          <a:xfrm>
            <a:off x="531639" y="753228"/>
            <a:ext cx="6896534" cy="1080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51"/>
          <p:cNvSpPr txBox="1"/>
          <p:nvPr>
            <p:ph idx="1" type="body"/>
          </p:nvPr>
        </p:nvSpPr>
        <p:spPr>
          <a:xfrm>
            <a:off x="533400" y="2336873"/>
            <a:ext cx="6887389" cy="35993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4" name="Google Shape;34;p51"/>
          <p:cNvSpPr txBox="1"/>
          <p:nvPr>
            <p:ph idx="10" type="dt"/>
          </p:nvPr>
        </p:nvSpPr>
        <p:spPr>
          <a:xfrm>
            <a:off x="5367881" y="5936188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51"/>
          <p:cNvSpPr txBox="1"/>
          <p:nvPr>
            <p:ph idx="11" type="ftr"/>
          </p:nvPr>
        </p:nvSpPr>
        <p:spPr>
          <a:xfrm>
            <a:off x="533400" y="5936189"/>
            <a:ext cx="483467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51"/>
          <p:cNvSpPr txBox="1"/>
          <p:nvPr>
            <p:ph idx="12" type="sldNum"/>
          </p:nvPr>
        </p:nvSpPr>
        <p:spPr>
          <a:xfrm>
            <a:off x="7848600" y="753228"/>
            <a:ext cx="1157674" cy="109078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" name="Google Shape;38;p52"/>
          <p:cNvGrpSpPr/>
          <p:nvPr/>
        </p:nvGrpSpPr>
        <p:grpSpPr>
          <a:xfrm>
            <a:off x="0" y="609600"/>
            <a:ext cx="9161969" cy="1677035"/>
            <a:chOff x="0" y="2895600"/>
            <a:chExt cx="9161969" cy="1677035"/>
          </a:xfrm>
        </p:grpSpPr>
        <p:pic>
          <p:nvPicPr>
            <p:cNvPr descr="HD-ShadowLong.png" id="39" name="Google Shape;39;p52"/>
            <p:cNvPicPr preferRelativeResize="0"/>
            <p:nvPr/>
          </p:nvPicPr>
          <p:blipFill rotWithShape="1">
            <a:blip r:embed="rId2">
              <a:alphaModFix/>
            </a:blip>
            <a:srcRect b="0" l="26982" r="-217" t="0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HD-ShadowShort.png" id="40" name="Google Shape;40;p52"/>
            <p:cNvPicPr preferRelativeResize="0"/>
            <p:nvPr/>
          </p:nvPicPr>
          <p:blipFill rotWithShape="1">
            <a:blip r:embed="rId3">
              <a:alphaModFix/>
            </a:blip>
            <a:srcRect b="0" l="0" r="9870" t="0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" name="Google Shape;41;p52"/>
            <p:cNvSpPr/>
            <p:nvPr/>
          </p:nvSpPr>
          <p:spPr>
            <a:xfrm>
              <a:off x="0" y="2895600"/>
              <a:ext cx="7567140" cy="1368198"/>
            </a:xfrm>
            <a:prstGeom prst="rect">
              <a:avLst/>
            </a:prstGeom>
            <a:solidFill>
              <a:srgbClr val="26262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" name="Google Shape;42;p52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3" name="Google Shape;43;p52"/>
          <p:cNvSpPr txBox="1"/>
          <p:nvPr>
            <p:ph type="title"/>
          </p:nvPr>
        </p:nvSpPr>
        <p:spPr>
          <a:xfrm>
            <a:off x="533400" y="753228"/>
            <a:ext cx="6887390" cy="1080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52"/>
          <p:cNvSpPr txBox="1"/>
          <p:nvPr>
            <p:ph idx="1" type="body"/>
          </p:nvPr>
        </p:nvSpPr>
        <p:spPr>
          <a:xfrm>
            <a:off x="533400" y="2336873"/>
            <a:ext cx="3357899" cy="35993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5" name="Google Shape;45;p52"/>
          <p:cNvSpPr txBox="1"/>
          <p:nvPr>
            <p:ph idx="2" type="body"/>
          </p:nvPr>
        </p:nvSpPr>
        <p:spPr>
          <a:xfrm>
            <a:off x="4061128" y="2336873"/>
            <a:ext cx="3359661" cy="35993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52"/>
          <p:cNvSpPr txBox="1"/>
          <p:nvPr>
            <p:ph idx="10" type="dt"/>
          </p:nvPr>
        </p:nvSpPr>
        <p:spPr>
          <a:xfrm>
            <a:off x="5367881" y="5936188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52"/>
          <p:cNvSpPr txBox="1"/>
          <p:nvPr>
            <p:ph idx="11" type="ftr"/>
          </p:nvPr>
        </p:nvSpPr>
        <p:spPr>
          <a:xfrm>
            <a:off x="533400" y="5936189"/>
            <a:ext cx="483467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52"/>
          <p:cNvSpPr txBox="1"/>
          <p:nvPr>
            <p:ph idx="12" type="sldNum"/>
          </p:nvPr>
        </p:nvSpPr>
        <p:spPr>
          <a:xfrm>
            <a:off x="7848600" y="753228"/>
            <a:ext cx="1157674" cy="109078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" name="Google Shape;50;p53"/>
          <p:cNvGrpSpPr/>
          <p:nvPr/>
        </p:nvGrpSpPr>
        <p:grpSpPr>
          <a:xfrm>
            <a:off x="0" y="609600"/>
            <a:ext cx="9161969" cy="1677035"/>
            <a:chOff x="0" y="2895600"/>
            <a:chExt cx="9161969" cy="1677035"/>
          </a:xfrm>
        </p:grpSpPr>
        <p:pic>
          <p:nvPicPr>
            <p:cNvPr descr="HD-ShadowLong.png" id="51" name="Google Shape;51;p53"/>
            <p:cNvPicPr preferRelativeResize="0"/>
            <p:nvPr/>
          </p:nvPicPr>
          <p:blipFill rotWithShape="1">
            <a:blip r:embed="rId2">
              <a:alphaModFix/>
            </a:blip>
            <a:srcRect b="0" l="26982" r="-217" t="0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HD-ShadowShort.png" id="52" name="Google Shape;52;p53"/>
            <p:cNvPicPr preferRelativeResize="0"/>
            <p:nvPr/>
          </p:nvPicPr>
          <p:blipFill rotWithShape="1">
            <a:blip r:embed="rId3">
              <a:alphaModFix/>
            </a:blip>
            <a:srcRect b="0" l="0" r="9870" t="0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3" name="Google Shape;53;p53"/>
            <p:cNvSpPr/>
            <p:nvPr/>
          </p:nvSpPr>
          <p:spPr>
            <a:xfrm>
              <a:off x="0" y="2895600"/>
              <a:ext cx="7567140" cy="1368198"/>
            </a:xfrm>
            <a:prstGeom prst="rect">
              <a:avLst/>
            </a:prstGeom>
            <a:solidFill>
              <a:srgbClr val="26262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" name="Google Shape;54;p53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5" name="Google Shape;55;p53"/>
          <p:cNvSpPr txBox="1"/>
          <p:nvPr>
            <p:ph type="title"/>
          </p:nvPr>
        </p:nvSpPr>
        <p:spPr>
          <a:xfrm>
            <a:off x="531639" y="753230"/>
            <a:ext cx="6896534" cy="10809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53"/>
          <p:cNvSpPr txBox="1"/>
          <p:nvPr>
            <p:ph idx="1" type="body"/>
          </p:nvPr>
        </p:nvSpPr>
        <p:spPr>
          <a:xfrm>
            <a:off x="760988" y="2336874"/>
            <a:ext cx="3145080" cy="69313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7" name="Google Shape;57;p53"/>
          <p:cNvSpPr txBox="1"/>
          <p:nvPr>
            <p:ph idx="2" type="body"/>
          </p:nvPr>
        </p:nvSpPr>
        <p:spPr>
          <a:xfrm>
            <a:off x="531638" y="3030009"/>
            <a:ext cx="3367045" cy="290617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8" name="Google Shape;58;p53"/>
          <p:cNvSpPr txBox="1"/>
          <p:nvPr>
            <p:ph idx="3" type="body"/>
          </p:nvPr>
        </p:nvSpPr>
        <p:spPr>
          <a:xfrm>
            <a:off x="4282646" y="2336873"/>
            <a:ext cx="3145527" cy="69207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9" name="Google Shape;59;p53"/>
          <p:cNvSpPr txBox="1"/>
          <p:nvPr>
            <p:ph idx="4" type="body"/>
          </p:nvPr>
        </p:nvSpPr>
        <p:spPr>
          <a:xfrm>
            <a:off x="4061129" y="3030009"/>
            <a:ext cx="3367044" cy="290617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0" name="Google Shape;60;p53"/>
          <p:cNvSpPr txBox="1"/>
          <p:nvPr>
            <p:ph idx="10" type="dt"/>
          </p:nvPr>
        </p:nvSpPr>
        <p:spPr>
          <a:xfrm>
            <a:off x="5367881" y="5936188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53"/>
          <p:cNvSpPr txBox="1"/>
          <p:nvPr>
            <p:ph idx="11" type="ftr"/>
          </p:nvPr>
        </p:nvSpPr>
        <p:spPr>
          <a:xfrm>
            <a:off x="533400" y="5936189"/>
            <a:ext cx="483467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53"/>
          <p:cNvSpPr txBox="1"/>
          <p:nvPr>
            <p:ph idx="12" type="sldNum"/>
          </p:nvPr>
        </p:nvSpPr>
        <p:spPr>
          <a:xfrm>
            <a:off x="7848600" y="753228"/>
            <a:ext cx="1157674" cy="109078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4" name="Google Shape;64;p54"/>
          <p:cNvGrpSpPr/>
          <p:nvPr/>
        </p:nvGrpSpPr>
        <p:grpSpPr>
          <a:xfrm>
            <a:off x="0" y="609600"/>
            <a:ext cx="9161969" cy="1677035"/>
            <a:chOff x="0" y="2895600"/>
            <a:chExt cx="9161969" cy="1677035"/>
          </a:xfrm>
        </p:grpSpPr>
        <p:pic>
          <p:nvPicPr>
            <p:cNvPr descr="HD-ShadowLong.png" id="65" name="Google Shape;65;p54"/>
            <p:cNvPicPr preferRelativeResize="0"/>
            <p:nvPr/>
          </p:nvPicPr>
          <p:blipFill rotWithShape="1">
            <a:blip r:embed="rId2">
              <a:alphaModFix/>
            </a:blip>
            <a:srcRect b="0" l="26982" r="-217" t="0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HD-ShadowShort.png" id="66" name="Google Shape;66;p54"/>
            <p:cNvPicPr preferRelativeResize="0"/>
            <p:nvPr/>
          </p:nvPicPr>
          <p:blipFill rotWithShape="1">
            <a:blip r:embed="rId3">
              <a:alphaModFix/>
            </a:blip>
            <a:srcRect b="0" l="0" r="9870" t="0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7" name="Google Shape;67;p54"/>
            <p:cNvSpPr/>
            <p:nvPr/>
          </p:nvSpPr>
          <p:spPr>
            <a:xfrm>
              <a:off x="0" y="2895600"/>
              <a:ext cx="7567140" cy="1368198"/>
            </a:xfrm>
            <a:prstGeom prst="rect">
              <a:avLst/>
            </a:prstGeom>
            <a:solidFill>
              <a:srgbClr val="26262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" name="Google Shape;68;p54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9" name="Google Shape;69;p54"/>
          <p:cNvSpPr txBox="1"/>
          <p:nvPr>
            <p:ph type="title"/>
          </p:nvPr>
        </p:nvSpPr>
        <p:spPr>
          <a:xfrm>
            <a:off x="531639" y="753228"/>
            <a:ext cx="6896534" cy="1080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54"/>
          <p:cNvSpPr txBox="1"/>
          <p:nvPr>
            <p:ph idx="10" type="dt"/>
          </p:nvPr>
        </p:nvSpPr>
        <p:spPr>
          <a:xfrm>
            <a:off x="5367881" y="5936188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54"/>
          <p:cNvSpPr txBox="1"/>
          <p:nvPr>
            <p:ph idx="11" type="ftr"/>
          </p:nvPr>
        </p:nvSpPr>
        <p:spPr>
          <a:xfrm>
            <a:off x="533400" y="5936189"/>
            <a:ext cx="483467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54"/>
          <p:cNvSpPr txBox="1"/>
          <p:nvPr>
            <p:ph idx="12" type="sldNum"/>
          </p:nvPr>
        </p:nvSpPr>
        <p:spPr>
          <a:xfrm>
            <a:off x="7848600" y="753228"/>
            <a:ext cx="1157674" cy="109078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D-ShadowShort.png" id="74" name="Google Shape;74;p55"/>
          <p:cNvPicPr preferRelativeResize="0"/>
          <p:nvPr/>
        </p:nvPicPr>
        <p:blipFill rotWithShape="1">
          <a:blip r:embed="rId2">
            <a:alphaModFix/>
          </a:blip>
          <a:srcRect b="0" l="0" r="9870" t="0"/>
          <a:stretch/>
        </p:blipFill>
        <p:spPr>
          <a:xfrm>
            <a:off x="7717217" y="1973262"/>
            <a:ext cx="1444752" cy="144270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55"/>
          <p:cNvSpPr/>
          <p:nvPr/>
        </p:nvSpPr>
        <p:spPr>
          <a:xfrm>
            <a:off x="7710769" y="609600"/>
            <a:ext cx="1433231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55"/>
          <p:cNvSpPr txBox="1"/>
          <p:nvPr>
            <p:ph idx="10" type="dt"/>
          </p:nvPr>
        </p:nvSpPr>
        <p:spPr>
          <a:xfrm>
            <a:off x="5367881" y="5936188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55"/>
          <p:cNvSpPr txBox="1"/>
          <p:nvPr>
            <p:ph idx="11" type="ftr"/>
          </p:nvPr>
        </p:nvSpPr>
        <p:spPr>
          <a:xfrm>
            <a:off x="533400" y="5936189"/>
            <a:ext cx="483467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55"/>
          <p:cNvSpPr txBox="1"/>
          <p:nvPr>
            <p:ph idx="12" type="sldNum"/>
          </p:nvPr>
        </p:nvSpPr>
        <p:spPr>
          <a:xfrm>
            <a:off x="7848600" y="753228"/>
            <a:ext cx="1157674" cy="109078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0" name="Google Shape;80;p56"/>
          <p:cNvGrpSpPr/>
          <p:nvPr/>
        </p:nvGrpSpPr>
        <p:grpSpPr>
          <a:xfrm>
            <a:off x="0" y="2728432"/>
            <a:ext cx="9161969" cy="1677035"/>
            <a:chOff x="0" y="2895600"/>
            <a:chExt cx="9161969" cy="1677035"/>
          </a:xfrm>
        </p:grpSpPr>
        <p:pic>
          <p:nvPicPr>
            <p:cNvPr descr="HD-ShadowLong.png" id="81" name="Google Shape;81;p56"/>
            <p:cNvPicPr preferRelativeResize="0"/>
            <p:nvPr/>
          </p:nvPicPr>
          <p:blipFill rotWithShape="1">
            <a:blip r:embed="rId2">
              <a:alphaModFix/>
            </a:blip>
            <a:srcRect b="0" l="26982" r="-217" t="0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HD-ShadowShort.png" id="82" name="Google Shape;82;p56"/>
            <p:cNvPicPr preferRelativeResize="0"/>
            <p:nvPr/>
          </p:nvPicPr>
          <p:blipFill rotWithShape="1">
            <a:blip r:embed="rId3">
              <a:alphaModFix/>
            </a:blip>
            <a:srcRect b="0" l="0" r="9870" t="0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3" name="Google Shape;83;p56"/>
            <p:cNvSpPr/>
            <p:nvPr/>
          </p:nvSpPr>
          <p:spPr>
            <a:xfrm>
              <a:off x="0" y="2895600"/>
              <a:ext cx="7567140" cy="1368198"/>
            </a:xfrm>
            <a:prstGeom prst="rect">
              <a:avLst/>
            </a:prstGeom>
            <a:solidFill>
              <a:srgbClr val="26262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" name="Google Shape;84;p56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5" name="Google Shape;85;p56"/>
          <p:cNvSpPr txBox="1"/>
          <p:nvPr>
            <p:ph type="title"/>
          </p:nvPr>
        </p:nvSpPr>
        <p:spPr>
          <a:xfrm>
            <a:off x="531639" y="2869895"/>
            <a:ext cx="6889150" cy="10907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rebuchet MS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56"/>
          <p:cNvSpPr txBox="1"/>
          <p:nvPr>
            <p:ph idx="1" type="body"/>
          </p:nvPr>
        </p:nvSpPr>
        <p:spPr>
          <a:xfrm>
            <a:off x="531639" y="4232172"/>
            <a:ext cx="6889150" cy="170401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7" name="Google Shape;87;p56"/>
          <p:cNvSpPr txBox="1"/>
          <p:nvPr>
            <p:ph idx="10" type="dt"/>
          </p:nvPr>
        </p:nvSpPr>
        <p:spPr>
          <a:xfrm>
            <a:off x="5365810" y="5936188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56"/>
          <p:cNvSpPr txBox="1"/>
          <p:nvPr>
            <p:ph idx="11" type="ftr"/>
          </p:nvPr>
        </p:nvSpPr>
        <p:spPr>
          <a:xfrm>
            <a:off x="533400" y="5936189"/>
            <a:ext cx="483467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56"/>
          <p:cNvSpPr txBox="1"/>
          <p:nvPr>
            <p:ph idx="12" type="sldNum"/>
          </p:nvPr>
        </p:nvSpPr>
        <p:spPr>
          <a:xfrm>
            <a:off x="7856438" y="2869896"/>
            <a:ext cx="1149836" cy="109078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1" name="Google Shape;91;p57"/>
          <p:cNvGrpSpPr/>
          <p:nvPr/>
        </p:nvGrpSpPr>
        <p:grpSpPr>
          <a:xfrm>
            <a:off x="0" y="609600"/>
            <a:ext cx="9161969" cy="1677035"/>
            <a:chOff x="0" y="2895600"/>
            <a:chExt cx="9161969" cy="1677035"/>
          </a:xfrm>
        </p:grpSpPr>
        <p:pic>
          <p:nvPicPr>
            <p:cNvPr descr="HD-ShadowLong.png" id="92" name="Google Shape;92;p57"/>
            <p:cNvPicPr preferRelativeResize="0"/>
            <p:nvPr/>
          </p:nvPicPr>
          <p:blipFill rotWithShape="1">
            <a:blip r:embed="rId2">
              <a:alphaModFix/>
            </a:blip>
            <a:srcRect b="0" l="26982" r="-217" t="0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HD-ShadowShort.png" id="93" name="Google Shape;93;p57"/>
            <p:cNvPicPr preferRelativeResize="0"/>
            <p:nvPr/>
          </p:nvPicPr>
          <p:blipFill rotWithShape="1">
            <a:blip r:embed="rId3">
              <a:alphaModFix/>
            </a:blip>
            <a:srcRect b="0" l="0" r="9870" t="0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4" name="Google Shape;94;p57"/>
            <p:cNvSpPr/>
            <p:nvPr/>
          </p:nvSpPr>
          <p:spPr>
            <a:xfrm>
              <a:off x="0" y="2895600"/>
              <a:ext cx="7567140" cy="1368198"/>
            </a:xfrm>
            <a:prstGeom prst="rect">
              <a:avLst/>
            </a:prstGeom>
            <a:solidFill>
              <a:srgbClr val="26262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" name="Google Shape;95;p57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6" name="Google Shape;96;p57"/>
          <p:cNvSpPr txBox="1"/>
          <p:nvPr>
            <p:ph type="title"/>
          </p:nvPr>
        </p:nvSpPr>
        <p:spPr>
          <a:xfrm>
            <a:off x="531639" y="753227"/>
            <a:ext cx="6896534" cy="10809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rebuchet MS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57"/>
          <p:cNvSpPr txBox="1"/>
          <p:nvPr>
            <p:ph idx="1" type="body"/>
          </p:nvPr>
        </p:nvSpPr>
        <p:spPr>
          <a:xfrm>
            <a:off x="3514385" y="2336874"/>
            <a:ext cx="3913788" cy="35993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8" name="Google Shape;98;p57"/>
          <p:cNvSpPr txBox="1"/>
          <p:nvPr>
            <p:ph idx="2" type="body"/>
          </p:nvPr>
        </p:nvSpPr>
        <p:spPr>
          <a:xfrm>
            <a:off x="533401" y="2336873"/>
            <a:ext cx="2796240" cy="359931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99" name="Google Shape;99;p57"/>
          <p:cNvSpPr txBox="1"/>
          <p:nvPr>
            <p:ph idx="10" type="dt"/>
          </p:nvPr>
        </p:nvSpPr>
        <p:spPr>
          <a:xfrm>
            <a:off x="5367881" y="5936188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" name="Google Shape;100;p57"/>
          <p:cNvSpPr txBox="1"/>
          <p:nvPr>
            <p:ph idx="11" type="ftr"/>
          </p:nvPr>
        </p:nvSpPr>
        <p:spPr>
          <a:xfrm>
            <a:off x="533400" y="5936189"/>
            <a:ext cx="483467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" name="Google Shape;101;p57"/>
          <p:cNvSpPr txBox="1"/>
          <p:nvPr>
            <p:ph idx="12" type="sldNum"/>
          </p:nvPr>
        </p:nvSpPr>
        <p:spPr>
          <a:xfrm>
            <a:off x="7848600" y="753228"/>
            <a:ext cx="1157674" cy="109078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3" name="Google Shape;103;p58"/>
          <p:cNvGrpSpPr/>
          <p:nvPr/>
        </p:nvGrpSpPr>
        <p:grpSpPr>
          <a:xfrm>
            <a:off x="0" y="609600"/>
            <a:ext cx="9161969" cy="1677035"/>
            <a:chOff x="0" y="2895600"/>
            <a:chExt cx="9161969" cy="1677035"/>
          </a:xfrm>
        </p:grpSpPr>
        <p:pic>
          <p:nvPicPr>
            <p:cNvPr descr="HD-ShadowLong.png" id="104" name="Google Shape;104;p58"/>
            <p:cNvPicPr preferRelativeResize="0"/>
            <p:nvPr/>
          </p:nvPicPr>
          <p:blipFill rotWithShape="1">
            <a:blip r:embed="rId2">
              <a:alphaModFix/>
            </a:blip>
            <a:srcRect b="0" l="26982" r="-217" t="0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HD-ShadowShort.png" id="105" name="Google Shape;105;p58"/>
            <p:cNvPicPr preferRelativeResize="0"/>
            <p:nvPr/>
          </p:nvPicPr>
          <p:blipFill rotWithShape="1">
            <a:blip r:embed="rId3">
              <a:alphaModFix/>
            </a:blip>
            <a:srcRect b="0" l="0" r="9870" t="0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6" name="Google Shape;106;p58"/>
            <p:cNvSpPr/>
            <p:nvPr/>
          </p:nvSpPr>
          <p:spPr>
            <a:xfrm>
              <a:off x="0" y="2895600"/>
              <a:ext cx="7567140" cy="1368198"/>
            </a:xfrm>
            <a:prstGeom prst="rect">
              <a:avLst/>
            </a:prstGeom>
            <a:solidFill>
              <a:srgbClr val="26262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" name="Google Shape;107;p58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8" name="Google Shape;108;p58"/>
          <p:cNvSpPr txBox="1"/>
          <p:nvPr>
            <p:ph type="title"/>
          </p:nvPr>
        </p:nvSpPr>
        <p:spPr>
          <a:xfrm>
            <a:off x="531639" y="753228"/>
            <a:ext cx="6896534" cy="1080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rebuchet MS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9" name="Google Shape;109;p58"/>
          <p:cNvSpPr/>
          <p:nvPr>
            <p:ph idx="2" type="pic"/>
          </p:nvPr>
        </p:nvSpPr>
        <p:spPr>
          <a:xfrm>
            <a:off x="3510956" y="2336874"/>
            <a:ext cx="3917217" cy="3599312"/>
          </a:xfrm>
          <a:prstGeom prst="rect">
            <a:avLst/>
          </a:prstGeom>
          <a:noFill/>
          <a:ln>
            <a:noFill/>
          </a:ln>
          <a:effectLst>
            <a:outerShdw blurRad="76200" rotWithShape="0" algn="tl" dir="5040000" dist="63500">
              <a:srgbClr val="000000">
                <a:alpha val="40784"/>
              </a:srgbClr>
            </a:outerShdw>
          </a:effectLst>
        </p:spPr>
      </p:sp>
      <p:sp>
        <p:nvSpPr>
          <p:cNvPr id="110" name="Google Shape;110;p58"/>
          <p:cNvSpPr txBox="1"/>
          <p:nvPr>
            <p:ph idx="1" type="body"/>
          </p:nvPr>
        </p:nvSpPr>
        <p:spPr>
          <a:xfrm>
            <a:off x="531638" y="2336874"/>
            <a:ext cx="2798487" cy="359931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111" name="Google Shape;111;p58"/>
          <p:cNvSpPr txBox="1"/>
          <p:nvPr>
            <p:ph idx="10" type="dt"/>
          </p:nvPr>
        </p:nvSpPr>
        <p:spPr>
          <a:xfrm>
            <a:off x="5367881" y="5936188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2" name="Google Shape;112;p58"/>
          <p:cNvSpPr txBox="1"/>
          <p:nvPr>
            <p:ph idx="11" type="ftr"/>
          </p:nvPr>
        </p:nvSpPr>
        <p:spPr>
          <a:xfrm>
            <a:off x="533400" y="5936189"/>
            <a:ext cx="483467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3" name="Google Shape;113;p58"/>
          <p:cNvSpPr txBox="1"/>
          <p:nvPr>
            <p:ph idx="12" type="sldNum"/>
          </p:nvPr>
        </p:nvSpPr>
        <p:spPr>
          <a:xfrm>
            <a:off x="7848600" y="753228"/>
            <a:ext cx="1157674" cy="109078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anoramic Picture with Caption">
  <p:cSld name="Panoramic Picture with Caption"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5" name="Google Shape;115;p59"/>
          <p:cNvGrpSpPr/>
          <p:nvPr/>
        </p:nvGrpSpPr>
        <p:grpSpPr>
          <a:xfrm>
            <a:off x="0" y="4572000"/>
            <a:ext cx="9161969" cy="1677035"/>
            <a:chOff x="0" y="2895600"/>
            <a:chExt cx="9161969" cy="1677035"/>
          </a:xfrm>
        </p:grpSpPr>
        <p:pic>
          <p:nvPicPr>
            <p:cNvPr descr="HD-ShadowLong.png" id="116" name="Google Shape;116;p59"/>
            <p:cNvPicPr preferRelativeResize="0"/>
            <p:nvPr/>
          </p:nvPicPr>
          <p:blipFill rotWithShape="1">
            <a:blip r:embed="rId2">
              <a:alphaModFix/>
            </a:blip>
            <a:srcRect b="0" l="26982" r="-217" t="0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HD-ShadowShort.png" id="117" name="Google Shape;117;p59"/>
            <p:cNvPicPr preferRelativeResize="0"/>
            <p:nvPr/>
          </p:nvPicPr>
          <p:blipFill rotWithShape="1">
            <a:blip r:embed="rId3">
              <a:alphaModFix/>
            </a:blip>
            <a:srcRect b="0" l="0" r="9870" t="0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8" name="Google Shape;118;p59"/>
            <p:cNvSpPr/>
            <p:nvPr/>
          </p:nvSpPr>
          <p:spPr>
            <a:xfrm>
              <a:off x="0" y="2895600"/>
              <a:ext cx="7567140" cy="1368198"/>
            </a:xfrm>
            <a:prstGeom prst="rect">
              <a:avLst/>
            </a:prstGeom>
            <a:solidFill>
              <a:srgbClr val="26262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59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0" name="Google Shape;120;p59"/>
          <p:cNvSpPr txBox="1"/>
          <p:nvPr>
            <p:ph type="title"/>
          </p:nvPr>
        </p:nvSpPr>
        <p:spPr>
          <a:xfrm>
            <a:off x="533403" y="4711617"/>
            <a:ext cx="6894770" cy="54448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Trebuchet MS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1" name="Google Shape;121;p59"/>
          <p:cNvSpPr/>
          <p:nvPr>
            <p:ph idx="2" type="pic"/>
          </p:nvPr>
        </p:nvSpPr>
        <p:spPr>
          <a:xfrm>
            <a:off x="531639" y="609598"/>
            <a:ext cx="6896534" cy="3589575"/>
          </a:xfrm>
          <a:prstGeom prst="rect">
            <a:avLst/>
          </a:prstGeom>
          <a:noFill/>
          <a:ln>
            <a:noFill/>
          </a:ln>
          <a:effectLst>
            <a:outerShdw blurRad="76200" rotWithShape="0" algn="tl" dir="5040000" dist="63500">
              <a:srgbClr val="000000">
                <a:alpha val="40784"/>
              </a:srgbClr>
            </a:outerShdw>
          </a:effectLst>
        </p:spPr>
      </p:sp>
      <p:sp>
        <p:nvSpPr>
          <p:cNvPr id="122" name="Google Shape;122;p59"/>
          <p:cNvSpPr txBox="1"/>
          <p:nvPr>
            <p:ph idx="1" type="body"/>
          </p:nvPr>
        </p:nvSpPr>
        <p:spPr>
          <a:xfrm>
            <a:off x="533401" y="5256098"/>
            <a:ext cx="6894772" cy="5478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123" name="Google Shape;123;p59"/>
          <p:cNvSpPr txBox="1"/>
          <p:nvPr>
            <p:ph idx="10" type="dt"/>
          </p:nvPr>
        </p:nvSpPr>
        <p:spPr>
          <a:xfrm>
            <a:off x="5367881" y="5936188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4" name="Google Shape;124;p59"/>
          <p:cNvSpPr txBox="1"/>
          <p:nvPr>
            <p:ph idx="11" type="ftr"/>
          </p:nvPr>
        </p:nvSpPr>
        <p:spPr>
          <a:xfrm>
            <a:off x="533400" y="5936189"/>
            <a:ext cx="483467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5" name="Google Shape;125;p59"/>
          <p:cNvSpPr txBox="1"/>
          <p:nvPr>
            <p:ph idx="12" type="sldNum"/>
          </p:nvPr>
        </p:nvSpPr>
        <p:spPr>
          <a:xfrm>
            <a:off x="7856438" y="4711310"/>
            <a:ext cx="1149836" cy="109078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aption">
  <p:cSld name="Title and Caption"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7" name="Google Shape;127;p60"/>
          <p:cNvGrpSpPr/>
          <p:nvPr/>
        </p:nvGrpSpPr>
        <p:grpSpPr>
          <a:xfrm>
            <a:off x="0" y="4572000"/>
            <a:ext cx="9161969" cy="1677035"/>
            <a:chOff x="0" y="2895600"/>
            <a:chExt cx="9161969" cy="1677035"/>
          </a:xfrm>
        </p:grpSpPr>
        <p:pic>
          <p:nvPicPr>
            <p:cNvPr descr="HD-ShadowLong.png" id="128" name="Google Shape;128;p60"/>
            <p:cNvPicPr preferRelativeResize="0"/>
            <p:nvPr/>
          </p:nvPicPr>
          <p:blipFill rotWithShape="1">
            <a:blip r:embed="rId2">
              <a:alphaModFix/>
            </a:blip>
            <a:srcRect b="0" l="26982" r="-217" t="0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HD-ShadowShort.png" id="129" name="Google Shape;129;p60"/>
            <p:cNvPicPr preferRelativeResize="0"/>
            <p:nvPr/>
          </p:nvPicPr>
          <p:blipFill rotWithShape="1">
            <a:blip r:embed="rId3">
              <a:alphaModFix/>
            </a:blip>
            <a:srcRect b="0" l="0" r="9870" t="0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0" name="Google Shape;130;p60"/>
            <p:cNvSpPr/>
            <p:nvPr/>
          </p:nvSpPr>
          <p:spPr>
            <a:xfrm>
              <a:off x="0" y="2895600"/>
              <a:ext cx="7567140" cy="1368198"/>
            </a:xfrm>
            <a:prstGeom prst="rect">
              <a:avLst/>
            </a:prstGeom>
            <a:solidFill>
              <a:srgbClr val="26262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" name="Google Shape;131;p60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2" name="Google Shape;132;p60"/>
          <p:cNvSpPr txBox="1"/>
          <p:nvPr>
            <p:ph type="title"/>
          </p:nvPr>
        </p:nvSpPr>
        <p:spPr>
          <a:xfrm>
            <a:off x="524255" y="609597"/>
            <a:ext cx="6896534" cy="3592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Trebuchet MS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3" name="Google Shape;133;p60"/>
          <p:cNvSpPr txBox="1"/>
          <p:nvPr>
            <p:ph idx="1" type="body"/>
          </p:nvPr>
        </p:nvSpPr>
        <p:spPr>
          <a:xfrm>
            <a:off x="531638" y="4710340"/>
            <a:ext cx="6889151" cy="11017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134" name="Google Shape;134;p60"/>
          <p:cNvSpPr txBox="1"/>
          <p:nvPr>
            <p:ph idx="10" type="dt"/>
          </p:nvPr>
        </p:nvSpPr>
        <p:spPr>
          <a:xfrm>
            <a:off x="5367881" y="5936188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5" name="Google Shape;135;p60"/>
          <p:cNvSpPr txBox="1"/>
          <p:nvPr>
            <p:ph idx="11" type="ftr"/>
          </p:nvPr>
        </p:nvSpPr>
        <p:spPr>
          <a:xfrm>
            <a:off x="533400" y="5936189"/>
            <a:ext cx="483467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6" name="Google Shape;136;p60"/>
          <p:cNvSpPr txBox="1"/>
          <p:nvPr>
            <p:ph idx="12" type="sldNum"/>
          </p:nvPr>
        </p:nvSpPr>
        <p:spPr>
          <a:xfrm>
            <a:off x="7856438" y="4711616"/>
            <a:ext cx="1149836" cy="109078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with Caption">
  <p:cSld name="Quote with Caption"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8" name="Google Shape;138;p61"/>
          <p:cNvGrpSpPr/>
          <p:nvPr/>
        </p:nvGrpSpPr>
        <p:grpSpPr>
          <a:xfrm>
            <a:off x="0" y="4572000"/>
            <a:ext cx="9161969" cy="1677035"/>
            <a:chOff x="0" y="2895600"/>
            <a:chExt cx="9161969" cy="1677035"/>
          </a:xfrm>
        </p:grpSpPr>
        <p:pic>
          <p:nvPicPr>
            <p:cNvPr descr="HD-ShadowLong.png" id="139" name="Google Shape;139;p61"/>
            <p:cNvPicPr preferRelativeResize="0"/>
            <p:nvPr/>
          </p:nvPicPr>
          <p:blipFill rotWithShape="1">
            <a:blip r:embed="rId2">
              <a:alphaModFix/>
            </a:blip>
            <a:srcRect b="0" l="26982" r="-217" t="0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HD-ShadowShort.png" id="140" name="Google Shape;140;p61"/>
            <p:cNvPicPr preferRelativeResize="0"/>
            <p:nvPr/>
          </p:nvPicPr>
          <p:blipFill rotWithShape="1">
            <a:blip r:embed="rId3">
              <a:alphaModFix/>
            </a:blip>
            <a:srcRect b="0" l="0" r="9870" t="0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1" name="Google Shape;141;p61"/>
            <p:cNvSpPr/>
            <p:nvPr/>
          </p:nvSpPr>
          <p:spPr>
            <a:xfrm>
              <a:off x="0" y="2895600"/>
              <a:ext cx="7567140" cy="1368198"/>
            </a:xfrm>
            <a:prstGeom prst="rect">
              <a:avLst/>
            </a:prstGeom>
            <a:solidFill>
              <a:srgbClr val="26262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" name="Google Shape;142;p61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3" name="Google Shape;143;p61"/>
          <p:cNvSpPr txBox="1"/>
          <p:nvPr>
            <p:ph type="title"/>
          </p:nvPr>
        </p:nvSpPr>
        <p:spPr>
          <a:xfrm>
            <a:off x="767921" y="616983"/>
            <a:ext cx="6425147" cy="303606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Trebuchet MS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4" name="Google Shape;144;p61"/>
          <p:cNvSpPr txBox="1"/>
          <p:nvPr>
            <p:ph idx="1" type="body"/>
          </p:nvPr>
        </p:nvSpPr>
        <p:spPr>
          <a:xfrm>
            <a:off x="989438" y="3660763"/>
            <a:ext cx="5987731" cy="5489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145" name="Google Shape;145;p61"/>
          <p:cNvSpPr txBox="1"/>
          <p:nvPr>
            <p:ph idx="2" type="body"/>
          </p:nvPr>
        </p:nvSpPr>
        <p:spPr>
          <a:xfrm>
            <a:off x="531638" y="4710340"/>
            <a:ext cx="6903919" cy="11017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146" name="Google Shape;146;p61"/>
          <p:cNvSpPr txBox="1"/>
          <p:nvPr>
            <p:ph idx="10" type="dt"/>
          </p:nvPr>
        </p:nvSpPr>
        <p:spPr>
          <a:xfrm>
            <a:off x="5367881" y="5936188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7" name="Google Shape;147;p61"/>
          <p:cNvSpPr txBox="1"/>
          <p:nvPr>
            <p:ph idx="11" type="ftr"/>
          </p:nvPr>
        </p:nvSpPr>
        <p:spPr>
          <a:xfrm>
            <a:off x="533400" y="5936189"/>
            <a:ext cx="483467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8" name="Google Shape;148;p61"/>
          <p:cNvSpPr txBox="1"/>
          <p:nvPr>
            <p:ph idx="12" type="sldNum"/>
          </p:nvPr>
        </p:nvSpPr>
        <p:spPr>
          <a:xfrm>
            <a:off x="7856438" y="4709926"/>
            <a:ext cx="1149836" cy="109078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9" name="Google Shape;149;p61"/>
          <p:cNvSpPr txBox="1"/>
          <p:nvPr/>
        </p:nvSpPr>
        <p:spPr>
          <a:xfrm>
            <a:off x="270932" y="748116"/>
            <a:ext cx="533400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Tahoma"/>
              <a:buNone/>
            </a:pPr>
            <a:r>
              <a:rPr b="0" lang="en-US" sz="7200" cap="none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rPr>
              <a:t>“</a:t>
            </a:r>
            <a:endParaRPr/>
          </a:p>
        </p:txBody>
      </p:sp>
      <p:sp>
        <p:nvSpPr>
          <p:cNvPr id="150" name="Google Shape;150;p61"/>
          <p:cNvSpPr txBox="1"/>
          <p:nvPr/>
        </p:nvSpPr>
        <p:spPr>
          <a:xfrm>
            <a:off x="6967191" y="2998573"/>
            <a:ext cx="457200" cy="58477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Tahoma"/>
              <a:buNone/>
            </a:pPr>
            <a:r>
              <a:rPr b="0" lang="en-US" sz="7200" cap="none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rPr>
              <a:t>”</a:t>
            </a:r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ame Card">
  <p:cSld name="Name Card"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2" name="Google Shape;152;p62"/>
          <p:cNvGrpSpPr/>
          <p:nvPr/>
        </p:nvGrpSpPr>
        <p:grpSpPr>
          <a:xfrm>
            <a:off x="0" y="4572000"/>
            <a:ext cx="9161969" cy="1677035"/>
            <a:chOff x="0" y="2895600"/>
            <a:chExt cx="9161969" cy="1677035"/>
          </a:xfrm>
        </p:grpSpPr>
        <p:pic>
          <p:nvPicPr>
            <p:cNvPr descr="HD-ShadowLong.png" id="153" name="Google Shape;153;p62"/>
            <p:cNvPicPr preferRelativeResize="0"/>
            <p:nvPr/>
          </p:nvPicPr>
          <p:blipFill rotWithShape="1">
            <a:blip r:embed="rId2">
              <a:alphaModFix/>
            </a:blip>
            <a:srcRect b="0" l="26982" r="-217" t="0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HD-ShadowShort.png" id="154" name="Google Shape;154;p62"/>
            <p:cNvPicPr preferRelativeResize="0"/>
            <p:nvPr/>
          </p:nvPicPr>
          <p:blipFill rotWithShape="1">
            <a:blip r:embed="rId3">
              <a:alphaModFix/>
            </a:blip>
            <a:srcRect b="0" l="0" r="9870" t="0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5" name="Google Shape;155;p62"/>
            <p:cNvSpPr/>
            <p:nvPr/>
          </p:nvSpPr>
          <p:spPr>
            <a:xfrm>
              <a:off x="0" y="2895600"/>
              <a:ext cx="7567140" cy="1368198"/>
            </a:xfrm>
            <a:prstGeom prst="rect">
              <a:avLst/>
            </a:prstGeom>
            <a:solidFill>
              <a:srgbClr val="26262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" name="Google Shape;156;p62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57" name="Google Shape;157;p62"/>
          <p:cNvSpPr txBox="1"/>
          <p:nvPr>
            <p:ph type="title"/>
          </p:nvPr>
        </p:nvSpPr>
        <p:spPr>
          <a:xfrm>
            <a:off x="531638" y="4710340"/>
            <a:ext cx="6896534" cy="5898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Trebuchet MS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8" name="Google Shape;158;p62"/>
          <p:cNvSpPr txBox="1"/>
          <p:nvPr>
            <p:ph idx="1" type="body"/>
          </p:nvPr>
        </p:nvSpPr>
        <p:spPr>
          <a:xfrm>
            <a:off x="531639" y="5300150"/>
            <a:ext cx="6896534" cy="5119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159" name="Google Shape;159;p62"/>
          <p:cNvSpPr txBox="1"/>
          <p:nvPr>
            <p:ph idx="10" type="dt"/>
          </p:nvPr>
        </p:nvSpPr>
        <p:spPr>
          <a:xfrm>
            <a:off x="5367881" y="5936188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0" name="Google Shape;160;p62"/>
          <p:cNvSpPr txBox="1"/>
          <p:nvPr>
            <p:ph idx="11" type="ftr"/>
          </p:nvPr>
        </p:nvSpPr>
        <p:spPr>
          <a:xfrm>
            <a:off x="533400" y="5936189"/>
            <a:ext cx="483467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1" name="Google Shape;161;p62"/>
          <p:cNvSpPr txBox="1"/>
          <p:nvPr>
            <p:ph idx="12" type="sldNum"/>
          </p:nvPr>
        </p:nvSpPr>
        <p:spPr>
          <a:xfrm>
            <a:off x="7856438" y="4709926"/>
            <a:ext cx="1149836" cy="109078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 Column">
  <p:cSld name="3 Column"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3" name="Google Shape;163;p63"/>
          <p:cNvGrpSpPr/>
          <p:nvPr/>
        </p:nvGrpSpPr>
        <p:grpSpPr>
          <a:xfrm>
            <a:off x="0" y="609600"/>
            <a:ext cx="9161969" cy="1677035"/>
            <a:chOff x="0" y="2895600"/>
            <a:chExt cx="9161969" cy="1677035"/>
          </a:xfrm>
        </p:grpSpPr>
        <p:pic>
          <p:nvPicPr>
            <p:cNvPr descr="HD-ShadowLong.png" id="164" name="Google Shape;164;p63"/>
            <p:cNvPicPr preferRelativeResize="0"/>
            <p:nvPr/>
          </p:nvPicPr>
          <p:blipFill rotWithShape="1">
            <a:blip r:embed="rId2">
              <a:alphaModFix/>
            </a:blip>
            <a:srcRect b="0" l="26982" r="-217" t="0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HD-ShadowShort.png" id="165" name="Google Shape;165;p63"/>
            <p:cNvPicPr preferRelativeResize="0"/>
            <p:nvPr/>
          </p:nvPicPr>
          <p:blipFill rotWithShape="1">
            <a:blip r:embed="rId3">
              <a:alphaModFix/>
            </a:blip>
            <a:srcRect b="0" l="0" r="9870" t="0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6" name="Google Shape;166;p63"/>
            <p:cNvSpPr/>
            <p:nvPr/>
          </p:nvSpPr>
          <p:spPr>
            <a:xfrm>
              <a:off x="0" y="2895600"/>
              <a:ext cx="7567140" cy="1368198"/>
            </a:xfrm>
            <a:prstGeom prst="rect">
              <a:avLst/>
            </a:prstGeom>
            <a:solidFill>
              <a:srgbClr val="26262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" name="Google Shape;167;p63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8" name="Google Shape;168;p63"/>
          <p:cNvSpPr txBox="1"/>
          <p:nvPr>
            <p:ph type="title"/>
          </p:nvPr>
        </p:nvSpPr>
        <p:spPr>
          <a:xfrm>
            <a:off x="531639" y="753228"/>
            <a:ext cx="6896534" cy="1080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9" name="Google Shape;169;p63"/>
          <p:cNvSpPr txBox="1"/>
          <p:nvPr>
            <p:ph idx="1" type="body"/>
          </p:nvPr>
        </p:nvSpPr>
        <p:spPr>
          <a:xfrm>
            <a:off x="532629" y="2329489"/>
            <a:ext cx="2194560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b="0" sz="24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70" name="Google Shape;170;p63"/>
          <p:cNvSpPr txBox="1"/>
          <p:nvPr>
            <p:ph idx="2" type="body"/>
          </p:nvPr>
        </p:nvSpPr>
        <p:spPr>
          <a:xfrm>
            <a:off x="539777" y="3015290"/>
            <a:ext cx="2194560" cy="29135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171" name="Google Shape;171;p63"/>
          <p:cNvSpPr txBox="1"/>
          <p:nvPr>
            <p:ph idx="3" type="body"/>
          </p:nvPr>
        </p:nvSpPr>
        <p:spPr>
          <a:xfrm>
            <a:off x="2878413" y="2336873"/>
            <a:ext cx="2194560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b="0" sz="24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72" name="Google Shape;172;p63"/>
          <p:cNvSpPr txBox="1"/>
          <p:nvPr>
            <p:ph idx="4" type="body"/>
          </p:nvPr>
        </p:nvSpPr>
        <p:spPr>
          <a:xfrm>
            <a:off x="2879710" y="3007906"/>
            <a:ext cx="2194560" cy="29135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173" name="Google Shape;173;p63"/>
          <p:cNvSpPr txBox="1"/>
          <p:nvPr>
            <p:ph idx="5" type="body"/>
          </p:nvPr>
        </p:nvSpPr>
        <p:spPr>
          <a:xfrm>
            <a:off x="5226136" y="2336873"/>
            <a:ext cx="2194560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b="0" sz="24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74" name="Google Shape;174;p63"/>
          <p:cNvSpPr txBox="1"/>
          <p:nvPr>
            <p:ph idx="6" type="body"/>
          </p:nvPr>
        </p:nvSpPr>
        <p:spPr>
          <a:xfrm>
            <a:off x="5233520" y="3007905"/>
            <a:ext cx="2194560" cy="29135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175" name="Google Shape;175;p63"/>
          <p:cNvSpPr txBox="1"/>
          <p:nvPr>
            <p:ph idx="10" type="dt"/>
          </p:nvPr>
        </p:nvSpPr>
        <p:spPr>
          <a:xfrm>
            <a:off x="5367881" y="5936188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6" name="Google Shape;176;p63"/>
          <p:cNvSpPr txBox="1"/>
          <p:nvPr>
            <p:ph idx="11" type="ftr"/>
          </p:nvPr>
        </p:nvSpPr>
        <p:spPr>
          <a:xfrm>
            <a:off x="533400" y="5936189"/>
            <a:ext cx="483467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7" name="Google Shape;177;p63"/>
          <p:cNvSpPr txBox="1"/>
          <p:nvPr>
            <p:ph idx="12" type="sldNum"/>
          </p:nvPr>
        </p:nvSpPr>
        <p:spPr>
          <a:xfrm>
            <a:off x="7848600" y="753228"/>
            <a:ext cx="1157674" cy="109078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 Picture Column">
  <p:cSld name="3 Picture Column"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9" name="Google Shape;179;p64"/>
          <p:cNvGrpSpPr/>
          <p:nvPr/>
        </p:nvGrpSpPr>
        <p:grpSpPr>
          <a:xfrm>
            <a:off x="0" y="609600"/>
            <a:ext cx="9161969" cy="1677035"/>
            <a:chOff x="0" y="2895600"/>
            <a:chExt cx="9161969" cy="1677035"/>
          </a:xfrm>
        </p:grpSpPr>
        <p:pic>
          <p:nvPicPr>
            <p:cNvPr descr="HD-ShadowLong.png" id="180" name="Google Shape;180;p64"/>
            <p:cNvPicPr preferRelativeResize="0"/>
            <p:nvPr/>
          </p:nvPicPr>
          <p:blipFill rotWithShape="1">
            <a:blip r:embed="rId2">
              <a:alphaModFix/>
            </a:blip>
            <a:srcRect b="0" l="26982" r="-217" t="0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HD-ShadowShort.png" id="181" name="Google Shape;181;p64"/>
            <p:cNvPicPr preferRelativeResize="0"/>
            <p:nvPr/>
          </p:nvPicPr>
          <p:blipFill rotWithShape="1">
            <a:blip r:embed="rId3">
              <a:alphaModFix/>
            </a:blip>
            <a:srcRect b="0" l="0" r="9870" t="0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2" name="Google Shape;182;p64"/>
            <p:cNvSpPr/>
            <p:nvPr/>
          </p:nvSpPr>
          <p:spPr>
            <a:xfrm>
              <a:off x="0" y="2895600"/>
              <a:ext cx="7567140" cy="1368198"/>
            </a:xfrm>
            <a:prstGeom prst="rect">
              <a:avLst/>
            </a:prstGeom>
            <a:solidFill>
              <a:srgbClr val="26262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" name="Google Shape;183;p64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84" name="Google Shape;184;p64"/>
          <p:cNvSpPr txBox="1"/>
          <p:nvPr>
            <p:ph type="title"/>
          </p:nvPr>
        </p:nvSpPr>
        <p:spPr>
          <a:xfrm>
            <a:off x="531639" y="753228"/>
            <a:ext cx="6896534" cy="1080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5" name="Google Shape;185;p64"/>
          <p:cNvSpPr txBox="1"/>
          <p:nvPr>
            <p:ph idx="1" type="body"/>
          </p:nvPr>
        </p:nvSpPr>
        <p:spPr>
          <a:xfrm>
            <a:off x="532391" y="4297503"/>
            <a:ext cx="2192257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b="0" sz="24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86" name="Google Shape;186;p64"/>
          <p:cNvSpPr/>
          <p:nvPr>
            <p:ph idx="2" type="pic"/>
          </p:nvPr>
        </p:nvSpPr>
        <p:spPr>
          <a:xfrm>
            <a:off x="532391" y="2336873"/>
            <a:ext cx="2192257" cy="1524000"/>
          </a:xfrm>
          <a:prstGeom prst="roundRect">
            <a:avLst>
              <a:gd fmla="val 0" name="adj"/>
            </a:avLst>
          </a:prstGeom>
          <a:noFill/>
          <a:ln>
            <a:noFill/>
          </a:ln>
          <a:effectLst>
            <a:outerShdw blurRad="50800" rotWithShape="0" algn="tl" dir="5400000" dist="50800">
              <a:srgbClr val="000000">
                <a:alpha val="42745"/>
              </a:srgbClr>
            </a:outerShdw>
          </a:effectLst>
        </p:spPr>
      </p:sp>
      <p:sp>
        <p:nvSpPr>
          <p:cNvPr id="187" name="Google Shape;187;p64"/>
          <p:cNvSpPr txBox="1"/>
          <p:nvPr>
            <p:ph idx="3" type="body"/>
          </p:nvPr>
        </p:nvSpPr>
        <p:spPr>
          <a:xfrm>
            <a:off x="532391" y="4873765"/>
            <a:ext cx="2192257" cy="10624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188" name="Google Shape;188;p64"/>
          <p:cNvSpPr txBox="1"/>
          <p:nvPr>
            <p:ph idx="4" type="body"/>
          </p:nvPr>
        </p:nvSpPr>
        <p:spPr>
          <a:xfrm>
            <a:off x="2870497" y="4297503"/>
            <a:ext cx="2215070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b="0" sz="24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89" name="Google Shape;189;p64"/>
          <p:cNvSpPr/>
          <p:nvPr>
            <p:ph idx="5" type="pic"/>
          </p:nvPr>
        </p:nvSpPr>
        <p:spPr>
          <a:xfrm>
            <a:off x="2870497" y="2336873"/>
            <a:ext cx="2215070" cy="1524000"/>
          </a:xfrm>
          <a:prstGeom prst="roundRect">
            <a:avLst>
              <a:gd fmla="val 0" name="adj"/>
            </a:avLst>
          </a:prstGeom>
          <a:noFill/>
          <a:ln>
            <a:noFill/>
          </a:ln>
          <a:effectLst>
            <a:outerShdw blurRad="50800" rotWithShape="0" algn="tl" dir="5400000" dist="50800">
              <a:srgbClr val="000000">
                <a:alpha val="42745"/>
              </a:srgbClr>
            </a:outerShdw>
          </a:effectLst>
        </p:spPr>
      </p:sp>
      <p:sp>
        <p:nvSpPr>
          <p:cNvPr id="190" name="Google Shape;190;p64"/>
          <p:cNvSpPr txBox="1"/>
          <p:nvPr>
            <p:ph idx="6" type="body"/>
          </p:nvPr>
        </p:nvSpPr>
        <p:spPr>
          <a:xfrm>
            <a:off x="2869483" y="4873764"/>
            <a:ext cx="2218004" cy="10624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191" name="Google Shape;191;p64"/>
          <p:cNvSpPr txBox="1"/>
          <p:nvPr>
            <p:ph idx="7" type="body"/>
          </p:nvPr>
        </p:nvSpPr>
        <p:spPr>
          <a:xfrm>
            <a:off x="5231028" y="4297503"/>
            <a:ext cx="2194333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b="0" sz="24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92" name="Google Shape;192;p64"/>
          <p:cNvSpPr/>
          <p:nvPr>
            <p:ph idx="8" type="pic"/>
          </p:nvPr>
        </p:nvSpPr>
        <p:spPr>
          <a:xfrm>
            <a:off x="5231027" y="2336873"/>
            <a:ext cx="2194333" cy="1524000"/>
          </a:xfrm>
          <a:prstGeom prst="roundRect">
            <a:avLst>
              <a:gd fmla="val 0" name="adj"/>
            </a:avLst>
          </a:prstGeom>
          <a:noFill/>
          <a:ln>
            <a:noFill/>
          </a:ln>
          <a:effectLst>
            <a:outerShdw blurRad="50800" rotWithShape="0" algn="tl" dir="5400000" dist="50800">
              <a:srgbClr val="000000">
                <a:alpha val="42745"/>
              </a:srgbClr>
            </a:outerShdw>
          </a:effectLst>
        </p:spPr>
      </p:sp>
      <p:sp>
        <p:nvSpPr>
          <p:cNvPr id="193" name="Google Shape;193;p64"/>
          <p:cNvSpPr txBox="1"/>
          <p:nvPr>
            <p:ph idx="9" type="body"/>
          </p:nvPr>
        </p:nvSpPr>
        <p:spPr>
          <a:xfrm>
            <a:off x="5230934" y="4873762"/>
            <a:ext cx="2197239" cy="10624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194" name="Google Shape;194;p64"/>
          <p:cNvSpPr txBox="1"/>
          <p:nvPr>
            <p:ph idx="10" type="dt"/>
          </p:nvPr>
        </p:nvSpPr>
        <p:spPr>
          <a:xfrm>
            <a:off x="5367881" y="5936188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5" name="Google Shape;195;p64"/>
          <p:cNvSpPr txBox="1"/>
          <p:nvPr>
            <p:ph idx="11" type="ftr"/>
          </p:nvPr>
        </p:nvSpPr>
        <p:spPr>
          <a:xfrm>
            <a:off x="533400" y="5936189"/>
            <a:ext cx="483467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6" name="Google Shape;196;p64"/>
          <p:cNvSpPr txBox="1"/>
          <p:nvPr>
            <p:ph idx="12" type="sldNum"/>
          </p:nvPr>
        </p:nvSpPr>
        <p:spPr>
          <a:xfrm>
            <a:off x="7848600" y="753228"/>
            <a:ext cx="1157674" cy="109078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8" name="Google Shape;198;p65"/>
          <p:cNvGrpSpPr/>
          <p:nvPr/>
        </p:nvGrpSpPr>
        <p:grpSpPr>
          <a:xfrm>
            <a:off x="0" y="609600"/>
            <a:ext cx="9161969" cy="1677035"/>
            <a:chOff x="0" y="2895600"/>
            <a:chExt cx="9161969" cy="1677035"/>
          </a:xfrm>
        </p:grpSpPr>
        <p:pic>
          <p:nvPicPr>
            <p:cNvPr descr="HD-ShadowLong.png" id="199" name="Google Shape;199;p65"/>
            <p:cNvPicPr preferRelativeResize="0"/>
            <p:nvPr/>
          </p:nvPicPr>
          <p:blipFill rotWithShape="1">
            <a:blip r:embed="rId2">
              <a:alphaModFix/>
            </a:blip>
            <a:srcRect b="0" l="26982" r="-217" t="0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HD-ShadowShort.png" id="200" name="Google Shape;200;p65"/>
            <p:cNvPicPr preferRelativeResize="0"/>
            <p:nvPr/>
          </p:nvPicPr>
          <p:blipFill rotWithShape="1">
            <a:blip r:embed="rId3">
              <a:alphaModFix/>
            </a:blip>
            <a:srcRect b="0" l="0" r="9870" t="0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01" name="Google Shape;201;p65"/>
            <p:cNvSpPr/>
            <p:nvPr/>
          </p:nvSpPr>
          <p:spPr>
            <a:xfrm>
              <a:off x="0" y="2895600"/>
              <a:ext cx="7567140" cy="1368198"/>
            </a:xfrm>
            <a:prstGeom prst="rect">
              <a:avLst/>
            </a:prstGeom>
            <a:solidFill>
              <a:srgbClr val="26262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" name="Google Shape;202;p65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03" name="Google Shape;203;p65"/>
          <p:cNvSpPr txBox="1"/>
          <p:nvPr>
            <p:ph type="title"/>
          </p:nvPr>
        </p:nvSpPr>
        <p:spPr>
          <a:xfrm>
            <a:off x="531639" y="753228"/>
            <a:ext cx="6896534" cy="1080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rebuchet MS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4" name="Google Shape;204;p65"/>
          <p:cNvSpPr txBox="1"/>
          <p:nvPr>
            <p:ph idx="1" type="body"/>
          </p:nvPr>
        </p:nvSpPr>
        <p:spPr>
          <a:xfrm rot="5400000">
            <a:off x="2177437" y="692836"/>
            <a:ext cx="3599316" cy="688738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5" name="Google Shape;205;p65"/>
          <p:cNvSpPr txBox="1"/>
          <p:nvPr>
            <p:ph idx="10" type="dt"/>
          </p:nvPr>
        </p:nvSpPr>
        <p:spPr>
          <a:xfrm>
            <a:off x="5367881" y="5936188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6" name="Google Shape;206;p65"/>
          <p:cNvSpPr txBox="1"/>
          <p:nvPr>
            <p:ph idx="11" type="ftr"/>
          </p:nvPr>
        </p:nvSpPr>
        <p:spPr>
          <a:xfrm>
            <a:off x="533400" y="5936189"/>
            <a:ext cx="483467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7" name="Google Shape;207;p65"/>
          <p:cNvSpPr txBox="1"/>
          <p:nvPr>
            <p:ph idx="12" type="sldNum"/>
          </p:nvPr>
        </p:nvSpPr>
        <p:spPr>
          <a:xfrm>
            <a:off x="7848600" y="753228"/>
            <a:ext cx="1157674" cy="109078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9" name="Google Shape;209;p66"/>
          <p:cNvGrpSpPr/>
          <p:nvPr/>
        </p:nvGrpSpPr>
        <p:grpSpPr>
          <a:xfrm rot="5400000">
            <a:off x="4575305" y="2747178"/>
            <a:ext cx="6862555" cy="1368199"/>
            <a:chOff x="2281445" y="609600"/>
            <a:chExt cx="6862555" cy="1368199"/>
          </a:xfrm>
        </p:grpSpPr>
        <p:sp>
          <p:nvSpPr>
            <p:cNvPr id="210" name="Google Shape;210;p66"/>
            <p:cNvSpPr/>
            <p:nvPr/>
          </p:nvSpPr>
          <p:spPr>
            <a:xfrm>
              <a:off x="2281445" y="609601"/>
              <a:ext cx="5285695" cy="1368198"/>
            </a:xfrm>
            <a:prstGeom prst="rect">
              <a:avLst/>
            </a:prstGeom>
            <a:solidFill>
              <a:srgbClr val="26262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" name="Google Shape;211;p66"/>
            <p:cNvSpPr/>
            <p:nvPr/>
          </p:nvSpPr>
          <p:spPr>
            <a:xfrm>
              <a:off x="7710769" y="609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2" name="Google Shape;212;p66"/>
          <p:cNvSpPr txBox="1"/>
          <p:nvPr>
            <p:ph type="title"/>
          </p:nvPr>
        </p:nvSpPr>
        <p:spPr>
          <a:xfrm rot="5400000">
            <a:off x="5768631" y="2305764"/>
            <a:ext cx="4461936" cy="10696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3" name="Google Shape;213;p66"/>
          <p:cNvSpPr txBox="1"/>
          <p:nvPr>
            <p:ph idx="1" type="body"/>
          </p:nvPr>
        </p:nvSpPr>
        <p:spPr>
          <a:xfrm rot="5400000">
            <a:off x="1135126" y="-15287"/>
            <a:ext cx="5326589" cy="65763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14" name="Google Shape;214;p66"/>
          <p:cNvSpPr txBox="1"/>
          <p:nvPr>
            <p:ph idx="10" type="dt"/>
          </p:nvPr>
        </p:nvSpPr>
        <p:spPr>
          <a:xfrm>
            <a:off x="5029144" y="5936188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5" name="Google Shape;215;p66"/>
          <p:cNvSpPr txBox="1"/>
          <p:nvPr>
            <p:ph idx="11" type="ftr"/>
          </p:nvPr>
        </p:nvSpPr>
        <p:spPr>
          <a:xfrm>
            <a:off x="510241" y="5936189"/>
            <a:ext cx="451895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6" name="Google Shape;216;p66"/>
          <p:cNvSpPr txBox="1"/>
          <p:nvPr>
            <p:ph idx="12" type="sldNum"/>
          </p:nvPr>
        </p:nvSpPr>
        <p:spPr>
          <a:xfrm>
            <a:off x="7431152" y="5432500"/>
            <a:ext cx="1149636" cy="12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ctr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marR="0" algn="ctr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marR="0" algn="ctr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marR="0" algn="ctr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marR="0" algn="ctr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marR="0" algn="ctr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marR="0" algn="ctr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marR="0" algn="ctr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marR="0" algn="ctr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15" Type="http://schemas.openxmlformats.org/officeDocument/2006/relationships/slideLayout" Target="../slideLayouts/slideLayout14.xml"/><Relationship Id="rId14" Type="http://schemas.openxmlformats.org/officeDocument/2006/relationships/slideLayout" Target="../slideLayouts/slideLayout13.xml"/><Relationship Id="rId17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15.xml"/><Relationship Id="rId5" Type="http://schemas.openxmlformats.org/officeDocument/2006/relationships/slideLayout" Target="../slideLayouts/slideLayout4.xml"/><Relationship Id="rId19" Type="http://schemas.openxmlformats.org/officeDocument/2006/relationships/theme" Target="../theme/theme1.xml"/><Relationship Id="rId6" Type="http://schemas.openxmlformats.org/officeDocument/2006/relationships/slideLayout" Target="../slideLayouts/slideLayout5.xml"/><Relationship Id="rId18" Type="http://schemas.openxmlformats.org/officeDocument/2006/relationships/slideLayout" Target="../slideLayouts/slideLayout17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78121"/>
            </a:gs>
            <a:gs pos="50000">
              <a:srgbClr val="D54006"/>
            </a:gs>
            <a:gs pos="100000">
              <a:srgbClr val="8C0000"/>
            </a:gs>
          </a:gsLst>
          <a:lin ang="2520000" scaled="0"/>
        </a:gra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:\Users\James\Desktop\msft\Berlin\build Assets\hashOverlaySD-FullResolve.png" id="10" name="Google Shape;10;p49"/>
          <p:cNvPicPr preferRelativeResize="0"/>
          <p:nvPr/>
        </p:nvPicPr>
        <p:blipFill rotWithShape="1">
          <a:blip r:embed="rId1">
            <a:alphaModFix amt="10000"/>
          </a:blip>
          <a:srcRect b="0" l="0" r="0" t="0"/>
          <a:stretch/>
        </p:blipFill>
        <p:spPr>
          <a:xfrm>
            <a:off x="0" y="1"/>
            <a:ext cx="9144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49"/>
          <p:cNvSpPr txBox="1"/>
          <p:nvPr>
            <p:ph type="title"/>
          </p:nvPr>
        </p:nvSpPr>
        <p:spPr>
          <a:xfrm>
            <a:off x="531639" y="753228"/>
            <a:ext cx="6896534" cy="1080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rebuchet MS"/>
              <a:buNone/>
              <a:defRPr b="0" i="0" sz="36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2" name="Google Shape;12;p49"/>
          <p:cNvSpPr txBox="1"/>
          <p:nvPr>
            <p:ph idx="1" type="body"/>
          </p:nvPr>
        </p:nvSpPr>
        <p:spPr>
          <a:xfrm>
            <a:off x="533400" y="2336873"/>
            <a:ext cx="6887389" cy="35993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-355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-3429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-3302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-3302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/>
        </p:txBody>
      </p:sp>
      <p:sp>
        <p:nvSpPr>
          <p:cNvPr id="13" name="Google Shape;13;p49"/>
          <p:cNvSpPr txBox="1"/>
          <p:nvPr>
            <p:ph idx="10" type="dt"/>
          </p:nvPr>
        </p:nvSpPr>
        <p:spPr>
          <a:xfrm>
            <a:off x="5367881" y="5936188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50" u="none" cap="none" strike="noStrike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sp>
        <p:nvSpPr>
          <p:cNvPr id="14" name="Google Shape;14;p49"/>
          <p:cNvSpPr txBox="1"/>
          <p:nvPr>
            <p:ph idx="11" type="ftr"/>
          </p:nvPr>
        </p:nvSpPr>
        <p:spPr>
          <a:xfrm>
            <a:off x="533400" y="5936189"/>
            <a:ext cx="483467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50" u="none" cap="none" strike="noStrike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sp>
        <p:nvSpPr>
          <p:cNvPr id="15" name="Google Shape;15;p49"/>
          <p:cNvSpPr txBox="1"/>
          <p:nvPr>
            <p:ph idx="12" type="sldNum"/>
          </p:nvPr>
        </p:nvSpPr>
        <p:spPr>
          <a:xfrm>
            <a:off x="7848600" y="753228"/>
            <a:ext cx="1157674" cy="109078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spcAft>
                <a:spcPts val="0"/>
              </a:spcAft>
              <a:buNone/>
              <a:defRPr b="0" i="0" sz="3600" u="none" cap="none" strike="noStrike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marR="0" rtl="0" algn="l">
              <a:spcBef>
                <a:spcPts val="0"/>
              </a:spcBef>
              <a:spcAft>
                <a:spcPts val="0"/>
              </a:spcAft>
              <a:buNone/>
              <a:defRPr b="0" i="0" sz="3600" u="none" cap="none" strike="noStrike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marR="0" rtl="0" algn="l">
              <a:spcBef>
                <a:spcPts val="0"/>
              </a:spcBef>
              <a:spcAft>
                <a:spcPts val="0"/>
              </a:spcAft>
              <a:buNone/>
              <a:defRPr b="0" i="0" sz="3600" u="none" cap="none" strike="noStrike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marR="0" rtl="0" algn="l">
              <a:spcBef>
                <a:spcPts val="0"/>
              </a:spcBef>
              <a:spcAft>
                <a:spcPts val="0"/>
              </a:spcAft>
              <a:buNone/>
              <a:defRPr b="0" i="0" sz="3600" u="none" cap="none" strike="noStrike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marR="0" rtl="0" algn="l">
              <a:spcBef>
                <a:spcPts val="0"/>
              </a:spcBef>
              <a:spcAft>
                <a:spcPts val="0"/>
              </a:spcAft>
              <a:buNone/>
              <a:defRPr b="0" i="0" sz="3600" u="none" cap="none" strike="noStrike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marR="0" rtl="0" algn="l">
              <a:spcBef>
                <a:spcPts val="0"/>
              </a:spcBef>
              <a:spcAft>
                <a:spcPts val="0"/>
              </a:spcAft>
              <a:buNone/>
              <a:defRPr b="0" i="0" sz="3600" u="none" cap="none" strike="noStrike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marR="0" rtl="0" algn="l">
              <a:spcBef>
                <a:spcPts val="0"/>
              </a:spcBef>
              <a:spcAft>
                <a:spcPts val="0"/>
              </a:spcAft>
              <a:buNone/>
              <a:defRPr b="0" i="0" sz="3600" u="none" cap="none" strike="noStrike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marR="0" rtl="0" algn="l">
              <a:spcBef>
                <a:spcPts val="0"/>
              </a:spcBef>
              <a:spcAft>
                <a:spcPts val="0"/>
              </a:spcAft>
              <a:buNone/>
              <a:defRPr b="0" i="0" sz="3600" u="none" cap="none" strike="noStrike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marR="0" rtl="0" algn="l">
              <a:spcBef>
                <a:spcPts val="0"/>
              </a:spcBef>
              <a:spcAft>
                <a:spcPts val="0"/>
              </a:spcAft>
              <a:buNone/>
              <a:defRPr b="0" i="0" sz="3600" u="none" cap="none" strike="noStrike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hyperlink" Target="https://www.cs.rit.edu/~tvf/CSCI344/JNotes/slides-5.pdf" TargetMode="External"/><Relationship Id="rId4" Type="http://schemas.openxmlformats.org/officeDocument/2006/relationships/slide" Target="/ppt/slides/slide45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9.gif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7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0.xml"/><Relationship Id="rId3" Type="http://schemas.openxmlformats.org/officeDocument/2006/relationships/hyperlink" Target="https://www.cs.rit.edu/usr/local/pub/jeh/courses/PLC/Handouts/J_OOP/Examples/accum.obj" TargetMode="External"/><Relationship Id="rId4" Type="http://schemas.openxmlformats.org/officeDocument/2006/relationships/hyperlink" Target="https://www.cs.rit.edu/usr/local/pub/jeh/courses/PLC/Handouts/J_OOP/Examples/circ-5ths.obj" TargetMode="External"/><Relationship Id="rId5" Type="http://schemas.openxmlformats.org/officeDocument/2006/relationships/image" Target="../media/image6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Relationship Id="rId3" Type="http://schemas.openxmlformats.org/officeDocument/2006/relationships/hyperlink" Target="https://www.cs.rit.edu/usr/local/pub/jeh/courses/PLC/Handouts/J_OOP/Examples/wheres-waldo.obj" TargetMode="Externa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7.pn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7.xml"/><Relationship Id="rId3" Type="http://schemas.openxmlformats.org/officeDocument/2006/relationships/hyperlink" Target="https://www.cs.rit.edu/usr/local/pub/jeh/courses/PLC/Handouts/J_OOP/Examples/obj-no-classes.obj" TargetMode="External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1"/>
          <p:cNvSpPr txBox="1"/>
          <p:nvPr>
            <p:ph type="ctrTitle"/>
          </p:nvPr>
        </p:nvSpPr>
        <p:spPr>
          <a:xfrm>
            <a:off x="510242" y="2733709"/>
            <a:ext cx="6069268" cy="137307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Tahoma"/>
              <a:buNone/>
            </a:pPr>
            <a:r>
              <a:rPr lang="en-US">
                <a:latin typeface="Tahoma"/>
                <a:ea typeface="Tahoma"/>
                <a:cs typeface="Tahoma"/>
                <a:sym typeface="Tahoma"/>
              </a:rPr>
              <a:t>Object Orientation</a:t>
            </a:r>
            <a:endParaRPr/>
          </a:p>
        </p:txBody>
      </p:sp>
      <p:sp>
        <p:nvSpPr>
          <p:cNvPr descr="Rectangle: Click to edit Master text styles&#10;Second level&#10;Third level&#10;Fourth level&#10;Fifth level" id="223" name="Google Shape;223;p1"/>
          <p:cNvSpPr txBox="1"/>
          <p:nvPr>
            <p:ph idx="1" type="subTitle"/>
          </p:nvPr>
        </p:nvSpPr>
        <p:spPr>
          <a:xfrm>
            <a:off x="510241" y="4394040"/>
            <a:ext cx="6108101" cy="11176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oto Sans Symbols"/>
              <a:buNone/>
            </a:pPr>
            <a:r>
              <a:rPr lang="en-US">
                <a:latin typeface="Tahoma"/>
                <a:ea typeface="Tahoma"/>
                <a:cs typeface="Tahoma"/>
                <a:sym typeface="Tahoma"/>
              </a:rPr>
              <a:t>PLC</a:t>
            </a:r>
            <a:endParaRPr/>
          </a:p>
          <a:p>
            <a:pPr indent="0" lvl="0" marL="0" rtl="0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oto Sans Symbols"/>
              <a:buNone/>
            </a:pPr>
            <a:r>
              <a:rPr lang="en-US">
                <a:latin typeface="Tahoma"/>
                <a:ea typeface="Tahoma"/>
                <a:cs typeface="Tahoma"/>
                <a:sym typeface="Tahoma"/>
              </a:rPr>
              <a:t>J. Heliotis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2"/>
          <p:cNvSpPr txBox="1"/>
          <p:nvPr>
            <p:ph type="title"/>
          </p:nvPr>
        </p:nvSpPr>
        <p:spPr>
          <a:xfrm>
            <a:off x="531639" y="753228"/>
            <a:ext cx="6896534" cy="1080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rebuchet MS"/>
              <a:buNone/>
            </a:pPr>
            <a:r>
              <a:rPr lang="en-US"/>
              <a:t>Exercise</a:t>
            </a:r>
            <a:endParaRPr/>
          </a:p>
        </p:txBody>
      </p:sp>
      <p:sp>
        <p:nvSpPr>
          <p:cNvPr id="229" name="Google Shape;229;p2"/>
          <p:cNvSpPr txBox="1"/>
          <p:nvPr>
            <p:ph idx="1" type="body"/>
          </p:nvPr>
        </p:nvSpPr>
        <p:spPr>
          <a:xfrm>
            <a:off x="533400" y="2336873"/>
            <a:ext cx="6887389" cy="35993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</a:pPr>
            <a:r>
              <a:rPr lang="en-US"/>
              <a:t>In </a:t>
            </a:r>
            <a:r>
              <a:rPr lang="en-US">
                <a:solidFill>
                  <a:srgbClr val="92D050"/>
                </a:solidFill>
              </a:rPr>
              <a:t>assigned groups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</a:pPr>
            <a:r>
              <a:rPr lang="en-US"/>
              <a:t>Write a class for a playing card.</a:t>
            </a:r>
            <a:endParaRPr/>
          </a:p>
          <a:p>
            <a:pPr indent="-228600" lvl="2" marL="1143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</a:pPr>
            <a:r>
              <a:rPr lang="en-US"/>
              <a:t>suit('C,'D,'H,'S) and rank(integer)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</a:pPr>
            <a:r>
              <a:rPr lang="en-US"/>
              <a:t>Write comparison procs </a:t>
            </a:r>
            <a:r>
              <a:rPr lang="en-US">
                <a:latin typeface="Lemon"/>
                <a:ea typeface="Lemon"/>
                <a:cs typeface="Lemon"/>
                <a:sym typeface="Lemon"/>
              </a:rPr>
              <a:t>less</a:t>
            </a:r>
            <a:r>
              <a:rPr lang="en-US"/>
              <a:t>, </a:t>
            </a:r>
            <a:r>
              <a:rPr lang="en-US">
                <a:latin typeface="Lemon"/>
                <a:ea typeface="Lemon"/>
                <a:cs typeface="Lemon"/>
                <a:sym typeface="Lemon"/>
              </a:rPr>
              <a:t>equal</a:t>
            </a:r>
            <a:endParaRPr/>
          </a:p>
          <a:p>
            <a:pPr indent="-228600" lvl="2" marL="1143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</a:pPr>
            <a:r>
              <a:rPr lang="en-US"/>
              <a:t>First, compare suits; use order above.</a:t>
            </a:r>
            <a:endParaRPr/>
          </a:p>
          <a:p>
            <a:pPr indent="-228600" lvl="2" marL="1143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</a:pPr>
            <a:r>
              <a:rPr lang="en-US"/>
              <a:t>If cards have same suit, base </a:t>
            </a:r>
            <a:r>
              <a:rPr lang="en-US">
                <a:latin typeface="Lemon"/>
                <a:ea typeface="Lemon"/>
                <a:cs typeface="Lemon"/>
                <a:sym typeface="Lemon"/>
              </a:rPr>
              <a:t>less</a:t>
            </a:r>
            <a:r>
              <a:rPr lang="en-US"/>
              <a:t> on rank.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</a:pPr>
            <a:r>
              <a:rPr lang="en-US"/>
              <a:t>Write an </a:t>
            </a:r>
            <a:r>
              <a:rPr lang="en-US">
                <a:latin typeface="Lemon"/>
                <a:ea typeface="Lemon"/>
                <a:cs typeface="Lemon"/>
                <a:sym typeface="Lemon"/>
              </a:rPr>
              <a:t>asString</a:t>
            </a:r>
            <a:r>
              <a:rPr lang="en-US"/>
              <a:t> proc that returns a string (list of characters) of the card in the format</a:t>
            </a:r>
            <a:endParaRPr/>
          </a:p>
          <a:p>
            <a:pPr indent="-228600" lvl="2" marL="1143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</a:pPr>
            <a:r>
              <a:rPr lang="en-US"/>
              <a:t>&lt;suit&gt;&lt;rank&gt;</a:t>
            </a:r>
            <a:endParaRPr/>
          </a:p>
          <a:p>
            <a:pPr indent="-228600" lvl="2" marL="1143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</a:pPr>
            <a:r>
              <a:rPr lang="en-US"/>
              <a:t>example: "H12"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</a:pPr>
            <a:r>
              <a:rPr lang="en-US"/>
              <a:t>Due </a:t>
            </a:r>
            <a:r>
              <a:rPr lang="en-US">
                <a:solidFill>
                  <a:srgbClr val="FFFF00"/>
                </a:solidFill>
              </a:rPr>
              <a:t>Tuesday by end-of-day</a:t>
            </a:r>
            <a:r>
              <a:rPr lang="en-US"/>
              <a:t>.</a:t>
            </a:r>
            <a:endParaRPr/>
          </a:p>
        </p:txBody>
      </p:sp>
      <p:sp>
        <p:nvSpPr>
          <p:cNvPr id="230" name="Google Shape;230;p2"/>
          <p:cNvSpPr txBox="1"/>
          <p:nvPr>
            <p:ph idx="10" type="dt"/>
          </p:nvPr>
        </p:nvSpPr>
        <p:spPr>
          <a:xfrm>
            <a:off x="5367881" y="5936188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4/21/21</a:t>
            </a:r>
            <a:endParaRPr/>
          </a:p>
        </p:txBody>
      </p:sp>
      <p:sp>
        <p:nvSpPr>
          <p:cNvPr id="231" name="Google Shape;231;p2"/>
          <p:cNvSpPr txBox="1"/>
          <p:nvPr>
            <p:ph idx="12" type="sldNum"/>
          </p:nvPr>
        </p:nvSpPr>
        <p:spPr>
          <a:xfrm>
            <a:off x="7848600" y="753228"/>
            <a:ext cx="1157674" cy="109078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3"/>
          <p:cNvSpPr txBox="1"/>
          <p:nvPr>
            <p:ph type="title"/>
          </p:nvPr>
        </p:nvSpPr>
        <p:spPr>
          <a:xfrm>
            <a:off x="531639" y="753228"/>
            <a:ext cx="6896534" cy="1080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rebuchet MS"/>
              <a:buNone/>
            </a:pPr>
            <a:r>
              <a:rPr lang="en-US"/>
              <a:t>Other Information</a:t>
            </a:r>
            <a:endParaRPr/>
          </a:p>
        </p:txBody>
      </p:sp>
      <p:sp>
        <p:nvSpPr>
          <p:cNvPr id="237" name="Google Shape;237;p3"/>
          <p:cNvSpPr txBox="1"/>
          <p:nvPr>
            <p:ph idx="1" type="body"/>
          </p:nvPr>
        </p:nvSpPr>
        <p:spPr>
          <a:xfrm>
            <a:off x="533400" y="2336872"/>
            <a:ext cx="6887389" cy="421632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</a:pPr>
            <a:r>
              <a:rPr lang="en-US"/>
              <a:t>Checking out Fossum's </a:t>
            </a:r>
            <a:r>
              <a:rPr lang="en-US" u="sng">
                <a:solidFill>
                  <a:schemeClr val="hlink"/>
                </a:solidFill>
                <a:hlinkClick r:id="rId3"/>
              </a:rPr>
              <a:t>New OBJ Env slides</a:t>
            </a:r>
            <a:r>
              <a:rPr lang="en-US"/>
              <a:t>: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</a:pPr>
            <a:r>
              <a:rPr lang="en-US"/>
              <a:t>Slides 18-26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</a:pPr>
            <a:r>
              <a:rPr lang="en-US"/>
              <a:t>More precise and detailed description of the class and object structures than is shown </a:t>
            </a:r>
            <a:r>
              <a:rPr lang="en-US" u="sng">
                <a:solidFill>
                  <a:schemeClr val="hlink"/>
                </a:solidFill>
                <a:hlinkClick action="ppaction://hlinksldjump" r:id="rId4"/>
              </a:rPr>
              <a:t>here</a:t>
            </a:r>
            <a:endParaRPr/>
          </a:p>
          <a:p>
            <a:pPr indent="-762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</a:pPr>
            <a:r>
              <a:t/>
            </a:r>
            <a:endParaRPr/>
          </a:p>
        </p:txBody>
      </p:sp>
      <p:sp>
        <p:nvSpPr>
          <p:cNvPr id="238" name="Google Shape;238;p3"/>
          <p:cNvSpPr txBox="1"/>
          <p:nvPr>
            <p:ph idx="10" type="dt"/>
          </p:nvPr>
        </p:nvSpPr>
        <p:spPr>
          <a:xfrm>
            <a:off x="5367881" y="5936188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4/21/21</a:t>
            </a:r>
            <a:endParaRPr/>
          </a:p>
        </p:txBody>
      </p:sp>
      <p:sp>
        <p:nvSpPr>
          <p:cNvPr id="239" name="Google Shape;239;p3"/>
          <p:cNvSpPr txBox="1"/>
          <p:nvPr>
            <p:ph idx="12" type="sldNum"/>
          </p:nvPr>
        </p:nvSpPr>
        <p:spPr>
          <a:xfrm>
            <a:off x="7848600" y="753228"/>
            <a:ext cx="1157674" cy="109078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4"/>
          <p:cNvSpPr txBox="1"/>
          <p:nvPr>
            <p:ph type="ctrTitle"/>
          </p:nvPr>
        </p:nvSpPr>
        <p:spPr>
          <a:xfrm>
            <a:off x="510242" y="2733709"/>
            <a:ext cx="6069268" cy="137307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Tahoma"/>
              <a:buNone/>
            </a:pPr>
            <a:r>
              <a:rPr lang="en-US">
                <a:latin typeface="Tahoma"/>
                <a:ea typeface="Tahoma"/>
                <a:cs typeface="Tahoma"/>
                <a:sym typeface="Tahoma"/>
              </a:rPr>
              <a:t>1. Issues and Concepts</a:t>
            </a:r>
            <a:endParaRPr/>
          </a:p>
        </p:txBody>
      </p:sp>
      <p:sp>
        <p:nvSpPr>
          <p:cNvPr descr="Rectangle: Click to edit Master text styles&#10;Second level&#10;Third level&#10;Fourth level&#10;Fifth level" id="246" name="Google Shape;246;p4"/>
          <p:cNvSpPr txBox="1"/>
          <p:nvPr>
            <p:ph idx="1" type="subTitle"/>
          </p:nvPr>
        </p:nvSpPr>
        <p:spPr>
          <a:xfrm>
            <a:off x="510241" y="4394040"/>
            <a:ext cx="6108101" cy="11176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oto Sans Symbols"/>
              <a:buNone/>
            </a:pPr>
            <a:r>
              <a:rPr lang="en-US">
                <a:latin typeface="Tahoma"/>
                <a:ea typeface="Tahoma"/>
                <a:cs typeface="Tahoma"/>
                <a:sym typeface="Tahoma"/>
              </a:rPr>
              <a:t>PLC</a:t>
            </a:r>
            <a:endParaRPr/>
          </a:p>
          <a:p>
            <a:pPr indent="0" lvl="0" marL="0" rtl="0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oto Sans Symbols"/>
              <a:buNone/>
            </a:pPr>
            <a:r>
              <a:rPr lang="en-US">
                <a:latin typeface="Tahoma"/>
                <a:ea typeface="Tahoma"/>
                <a:cs typeface="Tahoma"/>
                <a:sym typeface="Tahoma"/>
              </a:rPr>
              <a:t>J. Heliotis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5"/>
          <p:cNvSpPr txBox="1"/>
          <p:nvPr>
            <p:ph type="title"/>
          </p:nvPr>
        </p:nvSpPr>
        <p:spPr>
          <a:xfrm>
            <a:off x="533400" y="753228"/>
            <a:ext cx="6887390" cy="1080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ahoma"/>
              <a:buNone/>
            </a:pPr>
            <a:r>
              <a:rPr lang="en-US">
                <a:latin typeface="Tahoma"/>
                <a:ea typeface="Tahoma"/>
                <a:cs typeface="Tahoma"/>
                <a:sym typeface="Tahoma"/>
              </a:rPr>
              <a:t>New Issues in OO Languages</a:t>
            </a:r>
            <a:endParaRPr/>
          </a:p>
        </p:txBody>
      </p:sp>
      <p:sp>
        <p:nvSpPr>
          <p:cNvPr descr="Rectangle: Click to edit Master text styles&#10;Second level&#10;Third level&#10;Fourth level&#10;Fifth level" id="252" name="Google Shape;252;p5"/>
          <p:cNvSpPr txBox="1"/>
          <p:nvPr>
            <p:ph idx="1" type="body"/>
          </p:nvPr>
        </p:nvSpPr>
        <p:spPr>
          <a:xfrm>
            <a:off x="533400" y="2336873"/>
            <a:ext cx="3357899" cy="35993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</a:pPr>
            <a:r>
              <a:rPr lang="en-US">
                <a:latin typeface="Tahoma"/>
                <a:ea typeface="Tahoma"/>
                <a:cs typeface="Tahoma"/>
                <a:sym typeface="Tahoma"/>
              </a:rPr>
              <a:t>Types and classes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</a:pPr>
            <a:r>
              <a:rPr lang="en-US">
                <a:latin typeface="Tahoma"/>
                <a:ea typeface="Tahoma"/>
                <a:cs typeface="Tahoma"/>
                <a:sym typeface="Tahoma"/>
              </a:rPr>
              <a:t>Creation/destruction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</a:pPr>
            <a:r>
              <a:rPr lang="en-US">
                <a:latin typeface="Tahoma"/>
                <a:ea typeface="Tahoma"/>
                <a:cs typeface="Tahoma"/>
                <a:sym typeface="Tahoma"/>
              </a:rPr>
              <a:t>Self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</a:pPr>
            <a:r>
              <a:rPr lang="en-US">
                <a:latin typeface="Tahoma"/>
                <a:ea typeface="Tahoma"/>
                <a:cs typeface="Tahoma"/>
                <a:sym typeface="Tahoma"/>
              </a:rPr>
              <a:t>Scope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</a:pPr>
            <a:r>
              <a:rPr lang="en-US">
                <a:latin typeface="Tahoma"/>
                <a:ea typeface="Tahoma"/>
                <a:cs typeface="Tahoma"/>
                <a:sym typeface="Tahoma"/>
              </a:rPr>
              <a:t>Feature access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</a:pPr>
            <a:r>
              <a:rPr lang="en-US">
                <a:latin typeface="Tahoma"/>
                <a:ea typeface="Tahoma"/>
                <a:cs typeface="Tahoma"/>
                <a:sym typeface="Tahoma"/>
              </a:rPr>
              <a:t>Inheritance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</a:pPr>
            <a:r>
              <a:rPr lang="en-US">
                <a:latin typeface="Tahoma"/>
                <a:ea typeface="Tahoma"/>
                <a:cs typeface="Tahoma"/>
                <a:sym typeface="Tahoma"/>
              </a:rPr>
              <a:t>Polymorphism</a:t>
            </a:r>
            <a:endParaRPr/>
          </a:p>
        </p:txBody>
      </p:sp>
      <p:sp>
        <p:nvSpPr>
          <p:cNvPr id="253" name="Google Shape;253;p5"/>
          <p:cNvSpPr txBox="1"/>
          <p:nvPr>
            <p:ph idx="10" type="dt"/>
          </p:nvPr>
        </p:nvSpPr>
        <p:spPr>
          <a:xfrm>
            <a:off x="5367881" y="5936188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rPr>
              <a:t>4/21/21</a:t>
            </a:r>
            <a:endParaRPr b="0" i="0" sz="1400" u="none" cap="none" strike="noStrike">
              <a:solidFill>
                <a:schemeClr val="lt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54" name="Google Shape;254;p5"/>
          <p:cNvSpPr txBox="1"/>
          <p:nvPr>
            <p:ph idx="12" type="sldNum"/>
          </p:nvPr>
        </p:nvSpPr>
        <p:spPr>
          <a:xfrm>
            <a:off x="7848600" y="753228"/>
            <a:ext cx="1157674" cy="109078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400" u="none" cap="none" strike="noStrike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b="0" i="0" sz="1400" u="none" cap="none" strike="noStrike">
              <a:solidFill>
                <a:schemeClr val="lt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6"/>
          <p:cNvSpPr txBox="1"/>
          <p:nvPr>
            <p:ph type="title"/>
          </p:nvPr>
        </p:nvSpPr>
        <p:spPr>
          <a:xfrm>
            <a:off x="531639" y="753228"/>
            <a:ext cx="6896534" cy="1080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ahoma"/>
              <a:buNone/>
            </a:pPr>
            <a:r>
              <a:rPr lang="en-US">
                <a:latin typeface="Tahoma"/>
                <a:ea typeface="Tahoma"/>
                <a:cs typeface="Tahoma"/>
                <a:sym typeface="Tahoma"/>
              </a:rPr>
              <a:t>Is a class a type?</a:t>
            </a:r>
            <a:endParaRPr/>
          </a:p>
        </p:txBody>
      </p:sp>
      <p:sp>
        <p:nvSpPr>
          <p:cNvPr descr="Rectangle: Click to edit Master text styles&#10;Second level&#10;Third level&#10;Fourth level&#10;Fifth level" id="260" name="Google Shape;260;p6"/>
          <p:cNvSpPr txBox="1"/>
          <p:nvPr>
            <p:ph idx="1" type="body"/>
          </p:nvPr>
        </p:nvSpPr>
        <p:spPr>
          <a:xfrm>
            <a:off x="838200" y="2362200"/>
            <a:ext cx="74676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</a:pPr>
            <a:r>
              <a:rPr lang="en-US">
                <a:latin typeface="Tahoma"/>
                <a:ea typeface="Tahoma"/>
                <a:cs typeface="Tahoma"/>
                <a:sym typeface="Tahoma"/>
              </a:rPr>
              <a:t>'Type' can be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</a:pPr>
            <a:r>
              <a:rPr lang="en-US">
                <a:latin typeface="Tahoma"/>
                <a:ea typeface="Tahoma"/>
                <a:cs typeface="Tahoma"/>
                <a:sym typeface="Tahoma"/>
              </a:rPr>
              <a:t>a set of values (denotational)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</a:pPr>
            <a:r>
              <a:rPr lang="en-US">
                <a:latin typeface="Tahoma"/>
                <a:ea typeface="Tahoma"/>
                <a:cs typeface="Tahoma"/>
                <a:sym typeface="Tahoma"/>
              </a:rPr>
              <a:t>a set of legal operations (abstraction)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</a:pPr>
            <a:r>
              <a:rPr lang="en-US">
                <a:latin typeface="Tahoma"/>
                <a:ea typeface="Tahoma"/>
                <a:cs typeface="Tahoma"/>
                <a:sym typeface="Tahoma"/>
              </a:rPr>
              <a:t>a representation (constructive)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</a:pPr>
            <a:r>
              <a:rPr lang="en-US">
                <a:latin typeface="Tahoma"/>
                <a:ea typeface="Tahoma"/>
                <a:cs typeface="Tahoma"/>
                <a:sym typeface="Tahoma"/>
              </a:rPr>
              <a:t>'Class' adds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</a:pPr>
            <a:r>
              <a:rPr lang="en-US">
                <a:latin typeface="Tahoma"/>
                <a:ea typeface="Tahoma"/>
                <a:cs typeface="Tahoma"/>
                <a:sym typeface="Tahoma"/>
              </a:rPr>
              <a:t>a set of operation</a:t>
            </a:r>
            <a:br>
              <a:rPr lang="en-US">
                <a:latin typeface="Tahoma"/>
                <a:ea typeface="Tahoma"/>
                <a:cs typeface="Tahoma"/>
                <a:sym typeface="Tahoma"/>
              </a:rPr>
            </a:br>
            <a:r>
              <a:rPr lang="en-US">
                <a:latin typeface="Tahoma"/>
                <a:ea typeface="Tahoma"/>
                <a:cs typeface="Tahoma"/>
                <a:sym typeface="Tahoma"/>
              </a:rPr>
              <a:t>implementations</a:t>
            </a:r>
            <a:endParaRPr/>
          </a:p>
        </p:txBody>
      </p:sp>
      <p:sp>
        <p:nvSpPr>
          <p:cNvPr id="261" name="Google Shape;261;p6"/>
          <p:cNvSpPr txBox="1"/>
          <p:nvPr>
            <p:ph idx="10" type="dt"/>
          </p:nvPr>
        </p:nvSpPr>
        <p:spPr>
          <a:xfrm>
            <a:off x="5367881" y="5936188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rPr>
              <a:t>4/21/21</a:t>
            </a:r>
            <a:endParaRPr b="0" i="0" sz="1400" u="none" cap="none" strike="noStrike">
              <a:solidFill>
                <a:schemeClr val="lt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62" name="Google Shape;262;p6"/>
          <p:cNvSpPr txBox="1"/>
          <p:nvPr>
            <p:ph idx="12" type="sldNum"/>
          </p:nvPr>
        </p:nvSpPr>
        <p:spPr>
          <a:xfrm>
            <a:off x="7848600" y="753228"/>
            <a:ext cx="1157674" cy="109078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400" u="none" cap="none" strike="noStrike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b="0" i="0" sz="1400" u="none" cap="none" strike="noStrike">
              <a:solidFill>
                <a:schemeClr val="lt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6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6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6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6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6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60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7"/>
          <p:cNvSpPr txBox="1"/>
          <p:nvPr>
            <p:ph type="title"/>
          </p:nvPr>
        </p:nvSpPr>
        <p:spPr>
          <a:xfrm>
            <a:off x="531639" y="753228"/>
            <a:ext cx="6896534" cy="1080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ahoma"/>
              <a:buNone/>
            </a:pPr>
            <a:r>
              <a:rPr lang="en-US">
                <a:latin typeface="Tahoma"/>
                <a:ea typeface="Tahoma"/>
                <a:cs typeface="Tahoma"/>
                <a:sym typeface="Tahoma"/>
              </a:rPr>
              <a:t>Prototype-based Languages</a:t>
            </a:r>
            <a:endParaRPr/>
          </a:p>
        </p:txBody>
      </p:sp>
      <p:sp>
        <p:nvSpPr>
          <p:cNvPr descr="Rectangle: Click to edit Master text styles&#10;Second level&#10;Third level&#10;Fourth level&#10;Fifth level" id="268" name="Google Shape;268;p7"/>
          <p:cNvSpPr txBox="1"/>
          <p:nvPr>
            <p:ph idx="1" type="body"/>
          </p:nvPr>
        </p:nvSpPr>
        <p:spPr>
          <a:xfrm>
            <a:off x="838200" y="2514600"/>
            <a:ext cx="7772400" cy="3505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</a:pPr>
            <a:r>
              <a:rPr lang="en-US">
                <a:latin typeface="Tahoma"/>
                <a:ea typeface="Tahoma"/>
                <a:cs typeface="Tahoma"/>
                <a:sym typeface="Tahoma"/>
              </a:rPr>
              <a:t>Prototype-based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E2CAAA"/>
              </a:buClr>
              <a:buSzPts val="2000"/>
              <a:buChar char="•"/>
            </a:pPr>
            <a:r>
              <a:rPr lang="en-US">
                <a:solidFill>
                  <a:srgbClr val="E2CAAA"/>
                </a:solidFill>
                <a:latin typeface="Tahoma"/>
                <a:ea typeface="Tahoma"/>
                <a:cs typeface="Tahoma"/>
                <a:sym typeface="Tahoma"/>
              </a:rPr>
              <a:t>Self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E2CAAA"/>
              </a:buClr>
              <a:buSzPts val="2000"/>
              <a:buChar char="•"/>
            </a:pPr>
            <a:r>
              <a:rPr lang="en-US" sz="2000">
                <a:solidFill>
                  <a:srgbClr val="E2CAAA"/>
                </a:solidFill>
                <a:latin typeface="Tahoma"/>
                <a:ea typeface="Tahoma"/>
                <a:cs typeface="Tahoma"/>
                <a:sym typeface="Tahoma"/>
              </a:rPr>
              <a:t>[JavaScript]</a:t>
            </a:r>
            <a:endParaRPr>
              <a:solidFill>
                <a:srgbClr val="E2CAAA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</a:pPr>
            <a:r>
              <a:rPr lang="en-US">
                <a:latin typeface="Tahoma"/>
                <a:ea typeface="Tahoma"/>
                <a:cs typeface="Tahoma"/>
                <a:sym typeface="Tahoma"/>
              </a:rPr>
              <a:t>Objects contain everything they need,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</a:pPr>
            <a:r>
              <a:rPr lang="en-US">
                <a:latin typeface="Tahoma"/>
                <a:ea typeface="Tahoma"/>
                <a:cs typeface="Tahoma"/>
                <a:sym typeface="Tahoma"/>
              </a:rPr>
              <a:t>including a pointer to another object to which all operations not implemented locally are </a:t>
            </a:r>
            <a:r>
              <a:rPr i="1" lang="en-US">
                <a:latin typeface="Tahoma"/>
                <a:ea typeface="Tahoma"/>
                <a:cs typeface="Tahoma"/>
                <a:sym typeface="Tahoma"/>
              </a:rPr>
              <a:t>delegated</a:t>
            </a:r>
            <a:r>
              <a:rPr lang="en-US">
                <a:latin typeface="Tahoma"/>
                <a:ea typeface="Tahoma"/>
                <a:cs typeface="Tahoma"/>
                <a:sym typeface="Tahoma"/>
              </a:rPr>
              <a:t>.</a:t>
            </a:r>
            <a:endParaRPr/>
          </a:p>
        </p:txBody>
      </p:sp>
      <p:sp>
        <p:nvSpPr>
          <p:cNvPr id="269" name="Google Shape;269;p7"/>
          <p:cNvSpPr txBox="1"/>
          <p:nvPr>
            <p:ph idx="10" type="dt"/>
          </p:nvPr>
        </p:nvSpPr>
        <p:spPr>
          <a:xfrm>
            <a:off x="5367881" y="5936188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rPr>
              <a:t>4/21/21</a:t>
            </a:r>
            <a:endParaRPr b="0" i="0" sz="1400" u="none" cap="none" strike="noStrike">
              <a:solidFill>
                <a:schemeClr val="lt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70" name="Google Shape;270;p7"/>
          <p:cNvSpPr txBox="1"/>
          <p:nvPr>
            <p:ph idx="12" type="sldNum"/>
          </p:nvPr>
        </p:nvSpPr>
        <p:spPr>
          <a:xfrm>
            <a:off x="7848600" y="753228"/>
            <a:ext cx="1157674" cy="109078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400" u="none" cap="none" strike="noStrike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b="0" i="0" sz="1400" u="none" cap="none" strike="noStrike">
              <a:solidFill>
                <a:schemeClr val="lt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8"/>
          <p:cNvSpPr txBox="1"/>
          <p:nvPr>
            <p:ph type="title"/>
          </p:nvPr>
        </p:nvSpPr>
        <p:spPr>
          <a:xfrm>
            <a:off x="531639" y="753228"/>
            <a:ext cx="6896534" cy="1080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ahoma"/>
              <a:buNone/>
            </a:pPr>
            <a:r>
              <a:rPr lang="en-US">
                <a:latin typeface="Tahoma"/>
                <a:ea typeface="Tahoma"/>
                <a:cs typeface="Tahoma"/>
                <a:sym typeface="Tahoma"/>
              </a:rPr>
              <a:t>Other Interpreted Languages</a:t>
            </a:r>
            <a:endParaRPr/>
          </a:p>
        </p:txBody>
      </p:sp>
      <p:sp>
        <p:nvSpPr>
          <p:cNvPr descr="Rectangle: Click to edit Master text styles&#10;Second level&#10;Third level&#10;Fourth level&#10;Fifth level" id="276" name="Google Shape;276;p8"/>
          <p:cNvSpPr txBox="1"/>
          <p:nvPr>
            <p:ph idx="1" type="body"/>
          </p:nvPr>
        </p:nvSpPr>
        <p:spPr>
          <a:xfrm>
            <a:off x="838200" y="2286000"/>
            <a:ext cx="7772400" cy="3733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</a:pPr>
            <a:r>
              <a:rPr lang="en-US">
                <a:latin typeface="Tahoma"/>
                <a:ea typeface="Tahoma"/>
                <a:cs typeface="Tahoma"/>
                <a:sym typeface="Tahoma"/>
              </a:rPr>
              <a:t>Classes ⊆ Objects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E2CAAA"/>
              </a:buClr>
              <a:buSzPts val="2000"/>
              <a:buChar char="•"/>
            </a:pPr>
            <a:r>
              <a:rPr lang="en-US">
                <a:solidFill>
                  <a:srgbClr val="E2CAAA"/>
                </a:solidFill>
                <a:latin typeface="Tahoma"/>
                <a:ea typeface="Tahoma"/>
                <a:cs typeface="Tahoma"/>
                <a:sym typeface="Tahoma"/>
              </a:rPr>
              <a:t>Smalltalk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E2CAAA"/>
              </a:buClr>
              <a:buSzPts val="2000"/>
              <a:buChar char="•"/>
            </a:pPr>
            <a:r>
              <a:rPr lang="en-US">
                <a:solidFill>
                  <a:srgbClr val="E2CAAA"/>
                </a:solidFill>
                <a:latin typeface="Tahoma"/>
                <a:ea typeface="Tahoma"/>
                <a:cs typeface="Tahoma"/>
                <a:sym typeface="Tahoma"/>
              </a:rPr>
              <a:t>Python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E2CAAA"/>
              </a:buClr>
              <a:buSzPts val="2000"/>
              <a:buChar char="•"/>
            </a:pPr>
            <a:r>
              <a:rPr lang="en-US">
                <a:solidFill>
                  <a:srgbClr val="E2CAAA"/>
                </a:solidFill>
                <a:latin typeface="Tahoma"/>
                <a:ea typeface="Tahoma"/>
                <a:cs typeface="Tahoma"/>
                <a:sym typeface="Tahoma"/>
              </a:rPr>
              <a:t>[Java]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</a:pPr>
            <a:r>
              <a:rPr lang="en-US">
                <a:latin typeface="Tahoma"/>
                <a:ea typeface="Tahoma"/>
                <a:cs typeface="Tahoma"/>
                <a:sym typeface="Tahoma"/>
              </a:rPr>
              <a:t>Objects point to their classes.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</a:pPr>
            <a:r>
              <a:rPr lang="en-US">
                <a:latin typeface="Tahoma"/>
                <a:ea typeface="Tahoma"/>
                <a:cs typeface="Tahoma"/>
                <a:sym typeface="Tahoma"/>
              </a:rPr>
              <a:t>Classes may have </a:t>
            </a:r>
            <a:r>
              <a:rPr i="1" lang="en-US">
                <a:latin typeface="Tahoma"/>
                <a:ea typeface="Tahoma"/>
                <a:cs typeface="Tahoma"/>
                <a:sym typeface="Tahoma"/>
              </a:rPr>
              <a:t>metaclasses</a:t>
            </a:r>
            <a:r>
              <a:rPr lang="en-US">
                <a:latin typeface="Tahoma"/>
                <a:ea typeface="Tahoma"/>
                <a:cs typeface="Tahoma"/>
                <a:sym typeface="Tahoma"/>
              </a:rPr>
              <a:t>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</a:pPr>
            <a:r>
              <a:rPr lang="en-US">
                <a:latin typeface="Tahoma"/>
                <a:ea typeface="Tahoma"/>
                <a:cs typeface="Tahoma"/>
                <a:sym typeface="Tahoma"/>
              </a:rPr>
              <a:t>Classes also point to their superclasses.</a:t>
            </a:r>
            <a:endParaRPr/>
          </a:p>
        </p:txBody>
      </p:sp>
      <p:sp>
        <p:nvSpPr>
          <p:cNvPr id="277" name="Google Shape;277;p8"/>
          <p:cNvSpPr txBox="1"/>
          <p:nvPr>
            <p:ph idx="10" type="dt"/>
          </p:nvPr>
        </p:nvSpPr>
        <p:spPr>
          <a:xfrm>
            <a:off x="5367881" y="5936188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rPr>
              <a:t>4/21/21</a:t>
            </a:r>
            <a:endParaRPr b="0" i="0" sz="1400" u="none" cap="none" strike="noStrike">
              <a:solidFill>
                <a:schemeClr val="lt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78" name="Google Shape;278;p8"/>
          <p:cNvSpPr txBox="1"/>
          <p:nvPr>
            <p:ph idx="12" type="sldNum"/>
          </p:nvPr>
        </p:nvSpPr>
        <p:spPr>
          <a:xfrm>
            <a:off x="7848600" y="753228"/>
            <a:ext cx="1157674" cy="109078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400" u="none" cap="none" strike="noStrike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b="0" i="0" sz="1400" u="none" cap="none" strike="noStrike">
              <a:solidFill>
                <a:schemeClr val="lt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9"/>
          <p:cNvSpPr txBox="1"/>
          <p:nvPr>
            <p:ph type="title"/>
          </p:nvPr>
        </p:nvSpPr>
        <p:spPr>
          <a:xfrm>
            <a:off x="531639" y="753228"/>
            <a:ext cx="6896534" cy="1080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ahoma"/>
              <a:buNone/>
            </a:pPr>
            <a:r>
              <a:rPr lang="en-US">
                <a:latin typeface="Tahoma"/>
                <a:ea typeface="Tahoma"/>
                <a:cs typeface="Tahoma"/>
                <a:sym typeface="Tahoma"/>
              </a:rPr>
              <a:t>Fully Compiled Languages</a:t>
            </a:r>
            <a:endParaRPr/>
          </a:p>
        </p:txBody>
      </p:sp>
      <p:sp>
        <p:nvSpPr>
          <p:cNvPr descr="Rectangle: Click to edit Master text styles&#10;Second level&#10;Third level&#10;Fourth level&#10;Fifth level" id="284" name="Google Shape;284;p9"/>
          <p:cNvSpPr txBox="1"/>
          <p:nvPr>
            <p:ph idx="1" type="body"/>
          </p:nvPr>
        </p:nvSpPr>
        <p:spPr>
          <a:xfrm>
            <a:off x="838200" y="2209800"/>
            <a:ext cx="7772400" cy="381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</a:pPr>
            <a:r>
              <a:rPr lang="en-US">
                <a:latin typeface="Tahoma"/>
                <a:ea typeface="Tahoma"/>
                <a:cs typeface="Tahoma"/>
                <a:sym typeface="Tahoma"/>
              </a:rPr>
              <a:t>Classes don't exist at run time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</a:pPr>
            <a:r>
              <a:rPr lang="en-US">
                <a:latin typeface="Tahoma"/>
                <a:ea typeface="Tahoma"/>
                <a:cs typeface="Tahoma"/>
                <a:sym typeface="Tahoma"/>
              </a:rPr>
              <a:t>C++</a:t>
            </a:r>
            <a:endParaRPr/>
          </a:p>
          <a:p>
            <a:pPr indent="-228600" lvl="2" marL="1143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</a:pPr>
            <a:r>
              <a:rPr lang="en-US">
                <a:latin typeface="Tahoma"/>
                <a:ea typeface="Tahoma"/>
                <a:cs typeface="Tahoma"/>
                <a:sym typeface="Tahoma"/>
              </a:rPr>
              <a:t>(Well, there is RTTI.)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</a:pPr>
            <a:r>
              <a:rPr lang="en-US">
                <a:latin typeface="Tahoma"/>
                <a:ea typeface="Tahoma"/>
                <a:cs typeface="Tahoma"/>
                <a:sym typeface="Tahoma"/>
              </a:rPr>
              <a:t>Objects are </a:t>
            </a:r>
            <a:r>
              <a:rPr lang="en-US">
                <a:latin typeface="Arial"/>
                <a:ea typeface="Arial"/>
                <a:cs typeface="Arial"/>
                <a:sym typeface="Arial"/>
              </a:rPr>
              <a:t>struct</a:t>
            </a:r>
            <a:r>
              <a:rPr lang="en-US">
                <a:latin typeface="Tahoma"/>
                <a:ea typeface="Tahoma"/>
                <a:cs typeface="Tahoma"/>
                <a:sym typeface="Tahoma"/>
              </a:rPr>
              <a:t>s, with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</a:pPr>
            <a:r>
              <a:rPr lang="en-US">
                <a:latin typeface="Tahoma"/>
                <a:ea typeface="Tahoma"/>
                <a:cs typeface="Tahoma"/>
                <a:sym typeface="Tahoma"/>
              </a:rPr>
              <a:t>Associated functions that contain an extra parameter with a struct pointer</a:t>
            </a:r>
            <a:endParaRPr/>
          </a:p>
          <a:p>
            <a:pPr indent="-228600" lvl="2" marL="1143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</a:pPr>
            <a:r>
              <a:rPr lang="en-US">
                <a:latin typeface="Tahoma"/>
                <a:ea typeface="Tahoma"/>
                <a:cs typeface="Tahoma"/>
                <a:sym typeface="Tahoma"/>
              </a:rPr>
              <a:t>Possibly hidden in source code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</a:pPr>
            <a:r>
              <a:rPr lang="en-US">
                <a:latin typeface="Tahoma"/>
                <a:ea typeface="Tahoma"/>
                <a:cs typeface="Tahoma"/>
                <a:sym typeface="Tahoma"/>
              </a:rPr>
              <a:t>Indirect function address lookup tables for polymorphism</a:t>
            </a:r>
            <a:endParaRPr/>
          </a:p>
          <a:p>
            <a:pPr indent="-101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</a:pPr>
            <a:r>
              <a:t/>
            </a:r>
            <a:endParaRPr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85" name="Google Shape;285;p9"/>
          <p:cNvSpPr txBox="1"/>
          <p:nvPr>
            <p:ph idx="10" type="dt"/>
          </p:nvPr>
        </p:nvSpPr>
        <p:spPr>
          <a:xfrm>
            <a:off x="5367881" y="5936188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rPr>
              <a:t>4/21/21</a:t>
            </a:r>
            <a:endParaRPr b="0" i="0" sz="1400" u="none" cap="none" strike="noStrike">
              <a:solidFill>
                <a:schemeClr val="lt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86" name="Google Shape;286;p9"/>
          <p:cNvSpPr txBox="1"/>
          <p:nvPr>
            <p:ph idx="12" type="sldNum"/>
          </p:nvPr>
        </p:nvSpPr>
        <p:spPr>
          <a:xfrm>
            <a:off x="7848600" y="753228"/>
            <a:ext cx="1157674" cy="109078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400" u="none" cap="none" strike="noStrike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b="0" i="0" sz="1400" u="none" cap="none" strike="noStrike">
              <a:solidFill>
                <a:schemeClr val="lt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10"/>
          <p:cNvSpPr txBox="1"/>
          <p:nvPr>
            <p:ph type="title"/>
          </p:nvPr>
        </p:nvSpPr>
        <p:spPr>
          <a:xfrm>
            <a:off x="531639" y="753228"/>
            <a:ext cx="6896534" cy="1080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ahoma"/>
              <a:buNone/>
            </a:pPr>
            <a:r>
              <a:rPr lang="en-US">
                <a:latin typeface="Tahoma"/>
                <a:ea typeface="Tahoma"/>
                <a:cs typeface="Tahoma"/>
                <a:sym typeface="Tahoma"/>
              </a:rPr>
              <a:t>Types and Classes</a:t>
            </a:r>
            <a:endParaRPr/>
          </a:p>
        </p:txBody>
      </p:sp>
      <p:sp>
        <p:nvSpPr>
          <p:cNvPr descr="Rectangle: Click to edit Master text styles&#10;Second level&#10;Third level&#10;Fourth level&#10;Fifth level" id="292" name="Google Shape;292;p10"/>
          <p:cNvSpPr txBox="1"/>
          <p:nvPr>
            <p:ph idx="1" type="body"/>
          </p:nvPr>
        </p:nvSpPr>
        <p:spPr>
          <a:xfrm>
            <a:off x="655037" y="2590800"/>
            <a:ext cx="777240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</a:pPr>
            <a:r>
              <a:rPr lang="en-US">
                <a:latin typeface="Tahoma"/>
                <a:ea typeface="Tahoma"/>
                <a:cs typeface="Tahoma"/>
                <a:sym typeface="Tahoma"/>
              </a:rPr>
              <a:t>Object descriptions are classes.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</a:pPr>
            <a:r>
              <a:rPr lang="en-US">
                <a:latin typeface="Tahoma"/>
                <a:ea typeface="Tahoma"/>
                <a:cs typeface="Tahoma"/>
                <a:sym typeface="Tahoma"/>
              </a:rPr>
              <a:t>Classes are an extension of the </a:t>
            </a:r>
            <a:r>
              <a:rPr i="1" lang="en-US">
                <a:latin typeface="Tahoma"/>
                <a:ea typeface="Tahoma"/>
                <a:cs typeface="Tahoma"/>
                <a:sym typeface="Tahoma"/>
              </a:rPr>
              <a:t>record </a:t>
            </a:r>
            <a:r>
              <a:rPr lang="en-US">
                <a:latin typeface="Tahoma"/>
                <a:ea typeface="Tahoma"/>
                <a:cs typeface="Tahoma"/>
                <a:sym typeface="Tahoma"/>
              </a:rPr>
              <a:t>concept...</a:t>
            </a:r>
            <a:endParaRPr/>
          </a:p>
        </p:txBody>
      </p:sp>
      <p:sp>
        <p:nvSpPr>
          <p:cNvPr id="293" name="Google Shape;293;p10"/>
          <p:cNvSpPr txBox="1"/>
          <p:nvPr>
            <p:ph idx="10" type="dt"/>
          </p:nvPr>
        </p:nvSpPr>
        <p:spPr>
          <a:xfrm>
            <a:off x="5367881" y="5936188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rPr>
              <a:t>4/21/21</a:t>
            </a:r>
            <a:endParaRPr b="0" i="0" sz="1400" u="none" cap="none" strike="noStrike">
              <a:solidFill>
                <a:schemeClr val="lt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94" name="Google Shape;294;p10"/>
          <p:cNvSpPr txBox="1"/>
          <p:nvPr>
            <p:ph idx="12" type="sldNum"/>
          </p:nvPr>
        </p:nvSpPr>
        <p:spPr>
          <a:xfrm>
            <a:off x="7848600" y="753228"/>
            <a:ext cx="1157674" cy="109078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400" u="none" cap="none" strike="noStrike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b="0" i="0" sz="1400" u="none" cap="none" strike="noStrike">
              <a:solidFill>
                <a:schemeClr val="lt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11"/>
          <p:cNvSpPr txBox="1"/>
          <p:nvPr>
            <p:ph type="title"/>
          </p:nvPr>
        </p:nvSpPr>
        <p:spPr>
          <a:xfrm>
            <a:off x="531639" y="753228"/>
            <a:ext cx="6896534" cy="1080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ahoma"/>
              <a:buNone/>
            </a:pPr>
            <a:r>
              <a:rPr lang="en-US">
                <a:latin typeface="Tahoma"/>
                <a:ea typeface="Tahoma"/>
                <a:cs typeface="Tahoma"/>
                <a:sym typeface="Tahoma"/>
              </a:rPr>
              <a:t>Pre-OO and OO</a:t>
            </a:r>
            <a:br>
              <a:rPr lang="en-US">
                <a:latin typeface="Tahoma"/>
                <a:ea typeface="Tahoma"/>
                <a:cs typeface="Tahoma"/>
                <a:sym typeface="Tahoma"/>
              </a:rPr>
            </a:br>
            <a:r>
              <a:rPr lang="en-US">
                <a:latin typeface="Tahoma"/>
                <a:ea typeface="Tahoma"/>
                <a:cs typeface="Tahoma"/>
                <a:sym typeface="Tahoma"/>
              </a:rPr>
              <a:t>What does this tell us?</a:t>
            </a:r>
            <a:endParaRPr/>
          </a:p>
        </p:txBody>
      </p:sp>
      <p:sp>
        <p:nvSpPr>
          <p:cNvPr id="300" name="Google Shape;300;p11"/>
          <p:cNvSpPr txBox="1"/>
          <p:nvPr>
            <p:ph idx="10" type="dt"/>
          </p:nvPr>
        </p:nvSpPr>
        <p:spPr>
          <a:xfrm>
            <a:off x="5367881" y="5936188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rPr>
              <a:t>4/21/21</a:t>
            </a:r>
            <a:endParaRPr b="0" i="0" sz="1400" u="none" cap="none" strike="noStrike">
              <a:solidFill>
                <a:schemeClr val="lt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01" name="Google Shape;301;p11"/>
          <p:cNvSpPr txBox="1"/>
          <p:nvPr>
            <p:ph idx="12" type="sldNum"/>
          </p:nvPr>
        </p:nvSpPr>
        <p:spPr>
          <a:xfrm>
            <a:off x="7848600" y="753228"/>
            <a:ext cx="1157674" cy="109078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400" u="none" cap="none" strike="noStrike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b="0" i="0" sz="1400" u="none" cap="none" strike="noStrike">
              <a:solidFill>
                <a:schemeClr val="lt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graphicFrame>
        <p:nvGraphicFramePr>
          <p:cNvPr id="302" name="Google Shape;302;p11"/>
          <p:cNvGraphicFramePr/>
          <p:nvPr/>
        </p:nvGraphicFramePr>
        <p:xfrm>
          <a:off x="1329281" y="2057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{AD39FC57-7208-4ECA-BF16-C2C62686F5C4}</a:tableStyleId>
              </a:tblPr>
              <a:tblGrid>
                <a:gridCol w="3967500"/>
                <a:gridCol w="3542425"/>
              </a:tblGrid>
              <a:tr h="4648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hlink"/>
                        </a:buClr>
                        <a:buSzPts val="2200"/>
                        <a:buFont typeface="Noto Sans Symbols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lt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// ADT Manager</a:t>
                      </a:r>
                      <a:br>
                        <a:rPr b="1" i="0" lang="en-US" sz="2000" u="none" cap="none" strike="noStrike">
                          <a:solidFill>
                            <a:schemeClr val="lt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</a:br>
                      <a:r>
                        <a:rPr b="1" i="0" lang="en-US" sz="2000" u="none" cap="none" strike="noStrike">
                          <a:solidFill>
                            <a:schemeClr val="lt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struct Foo {</a:t>
                      </a:r>
                      <a:br>
                        <a:rPr b="1" i="0" lang="en-US" sz="2000" u="none" cap="none" strike="noStrike">
                          <a:solidFill>
                            <a:schemeClr val="lt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</a:br>
                      <a:r>
                        <a:rPr b="1" i="0" lang="en-US" sz="2000" u="none" cap="none" strike="noStrike">
                          <a:solidFill>
                            <a:schemeClr val="lt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 T1 a;</a:t>
                      </a:r>
                      <a:br>
                        <a:rPr b="1" i="0" lang="en-US" sz="2000" u="none" cap="none" strike="noStrike">
                          <a:solidFill>
                            <a:schemeClr val="lt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</a:br>
                      <a:r>
                        <a:rPr b="1" i="0" lang="en-US" sz="2000" u="none" cap="none" strike="noStrike">
                          <a:solidFill>
                            <a:schemeClr val="lt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 T2 b;</a:t>
                      </a:r>
                      <a:br>
                        <a:rPr b="1" i="0" lang="en-US" sz="2000" u="none" cap="none" strike="noStrike">
                          <a:solidFill>
                            <a:schemeClr val="lt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</a:br>
                      <a:r>
                        <a:rPr b="1" i="0" lang="en-US" sz="2000" u="none" cap="none" strike="noStrike">
                          <a:solidFill>
                            <a:schemeClr val="lt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};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0"/>
                        </a:spcAft>
                        <a:buClr>
                          <a:schemeClr val="hlink"/>
                        </a:buClr>
                        <a:buSzPts val="2200"/>
                        <a:buFont typeface="Noto Sans Symbols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lt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void init(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0"/>
                        </a:spcAft>
                        <a:buClr>
                          <a:schemeClr val="hlink"/>
                        </a:buClr>
                        <a:buSzPts val="2200"/>
                        <a:buFont typeface="Noto Sans Symbols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lt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 struct Foo *f ) {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0"/>
                        </a:spcAft>
                        <a:buClr>
                          <a:schemeClr val="hlink"/>
                        </a:buClr>
                        <a:buSzPts val="2200"/>
                        <a:buFont typeface="Noto Sans Symbols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lt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 // …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0"/>
                        </a:spcAft>
                        <a:buClr>
                          <a:schemeClr val="hlink"/>
                        </a:buClr>
                        <a:buSzPts val="2200"/>
                        <a:buFont typeface="Noto Sans Symbols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lt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}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0"/>
                        </a:spcAft>
                        <a:buClr>
                          <a:schemeClr val="hlink"/>
                        </a:buClr>
                        <a:buSzPts val="2200"/>
                        <a:buFont typeface="Noto Sans Symbols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lt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void m(</a:t>
                      </a:r>
                      <a:br>
                        <a:rPr b="1" i="0" lang="en-US" sz="2000" u="none" cap="none" strike="noStrike">
                          <a:solidFill>
                            <a:schemeClr val="lt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</a:br>
                      <a:r>
                        <a:rPr b="1" i="0" lang="en-US" sz="2000" u="none" cap="none" strike="noStrike">
                          <a:solidFill>
                            <a:schemeClr val="lt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 struct Foo *f ) {</a:t>
                      </a:r>
                      <a:br>
                        <a:rPr b="1" i="0" lang="en-US" sz="2000" u="none" cap="none" strike="noStrike">
                          <a:solidFill>
                            <a:schemeClr val="lt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</a:br>
                      <a:r>
                        <a:rPr b="1" i="0" lang="en-US" sz="2000" u="none" cap="none" strike="noStrike">
                          <a:solidFill>
                            <a:schemeClr val="lt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 // …</a:t>
                      </a:r>
                      <a:br>
                        <a:rPr b="1" i="0" lang="en-US" sz="2000" u="none" cap="none" strike="noStrike">
                          <a:solidFill>
                            <a:schemeClr val="lt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</a:br>
                      <a:r>
                        <a:rPr b="1" i="0" lang="en-US" sz="2000" u="none" cap="none" strike="noStrike">
                          <a:solidFill>
                            <a:schemeClr val="lt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}</a:t>
                      </a:r>
                      <a:endParaRPr/>
                    </a:p>
                  </a:txBody>
                  <a:tcPr marT="45725" marB="45725" marR="91450" marL="91450">
                    <a:lnL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hlink"/>
                        </a:buClr>
                        <a:buSzPts val="2200"/>
                        <a:buFont typeface="Noto Sans Symbols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lt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// True class</a:t>
                      </a:r>
                      <a:br>
                        <a:rPr b="1" i="0" lang="en-US" sz="2000" u="none" cap="none" strike="noStrike">
                          <a:solidFill>
                            <a:schemeClr val="lt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</a:br>
                      <a:r>
                        <a:rPr b="1" i="0" lang="en-US" sz="2000" u="none" cap="none" strike="noStrike">
                          <a:solidFill>
                            <a:schemeClr val="lt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class Foo {</a:t>
                      </a:r>
                      <a:br>
                        <a:rPr b="1" i="0" lang="en-US" sz="2000" u="none" cap="none" strike="noStrike">
                          <a:solidFill>
                            <a:schemeClr val="lt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</a:br>
                      <a:r>
                        <a:rPr b="1" i="0" lang="en-US" sz="2000" u="none" cap="none" strike="noStrike">
                          <a:solidFill>
                            <a:schemeClr val="lt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 T1 a;</a:t>
                      </a:r>
                      <a:br>
                        <a:rPr b="1" i="0" lang="en-US" sz="2000" u="none" cap="none" strike="noStrike">
                          <a:solidFill>
                            <a:schemeClr val="lt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</a:br>
                      <a:r>
                        <a:rPr b="1" i="0" lang="en-US" sz="2000" u="none" cap="none" strike="noStrike">
                          <a:solidFill>
                            <a:schemeClr val="lt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 T2 b;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0"/>
                        </a:spcAft>
                        <a:buClr>
                          <a:schemeClr val="hlink"/>
                        </a:buClr>
                        <a:buSzPts val="2200"/>
                        <a:buFont typeface="Noto Sans Symbols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lt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 Foo() {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0"/>
                        </a:spcAft>
                        <a:buClr>
                          <a:schemeClr val="hlink"/>
                        </a:buClr>
                        <a:buSzPts val="2200"/>
                        <a:buFont typeface="Noto Sans Symbols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lt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   // …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0"/>
                        </a:spcAft>
                        <a:buClr>
                          <a:schemeClr val="hlink"/>
                        </a:buClr>
                        <a:buSzPts val="2200"/>
                        <a:buFont typeface="Noto Sans Symbols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lt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 }</a:t>
                      </a:r>
                      <a:br>
                        <a:rPr b="1" i="0" lang="en-US" sz="2000" u="none" cap="none" strike="noStrike">
                          <a:solidFill>
                            <a:schemeClr val="lt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</a:br>
                      <a:r>
                        <a:rPr b="1" i="0" lang="en-US" sz="2000" u="none" cap="none" strike="noStrike">
                          <a:solidFill>
                            <a:schemeClr val="lt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 void m() {</a:t>
                      </a:r>
                      <a:br>
                        <a:rPr b="1" i="0" lang="en-US" sz="2000" u="none" cap="none" strike="noStrike">
                          <a:solidFill>
                            <a:schemeClr val="lt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</a:br>
                      <a:r>
                        <a:rPr b="1" i="0" lang="en-US" sz="2000" u="none" cap="none" strike="noStrike">
                          <a:solidFill>
                            <a:schemeClr val="lt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   // …</a:t>
                      </a:r>
                      <a:br>
                        <a:rPr b="1" i="0" lang="en-US" sz="2000" u="none" cap="none" strike="noStrike">
                          <a:solidFill>
                            <a:schemeClr val="lt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</a:br>
                      <a:r>
                        <a:rPr b="1" i="0" lang="en-US" sz="2000" u="none" cap="none" strike="noStrike">
                          <a:solidFill>
                            <a:schemeClr val="lt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 }</a:t>
                      </a:r>
                      <a:br>
                        <a:rPr b="1" i="0" lang="en-US" sz="2000" u="none" cap="none" strike="noStrike">
                          <a:solidFill>
                            <a:schemeClr val="lt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</a:br>
                      <a:r>
                        <a:rPr b="1" i="0" lang="en-US" sz="2000" u="none" cap="none" strike="noStrike">
                          <a:solidFill>
                            <a:schemeClr val="lt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};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12"/>
          <p:cNvSpPr txBox="1"/>
          <p:nvPr>
            <p:ph type="title"/>
          </p:nvPr>
        </p:nvSpPr>
        <p:spPr>
          <a:xfrm>
            <a:off x="531639" y="753228"/>
            <a:ext cx="6896534" cy="1080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ahoma"/>
              <a:buNone/>
            </a:pPr>
            <a:r>
              <a:rPr lang="en-US">
                <a:latin typeface="Tahoma"/>
                <a:ea typeface="Tahoma"/>
                <a:cs typeface="Tahoma"/>
                <a:sym typeface="Tahoma"/>
              </a:rPr>
              <a:t>Module: Precursor to Class</a:t>
            </a:r>
            <a:endParaRPr/>
          </a:p>
        </p:txBody>
      </p:sp>
      <p:sp>
        <p:nvSpPr>
          <p:cNvPr id="309" name="Google Shape;309;p12"/>
          <p:cNvSpPr txBox="1"/>
          <p:nvPr>
            <p:ph idx="10" type="dt"/>
          </p:nvPr>
        </p:nvSpPr>
        <p:spPr>
          <a:xfrm>
            <a:off x="5367881" y="5936188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rPr>
              <a:t>4/21/21</a:t>
            </a:r>
            <a:endParaRPr b="0" i="0" sz="1400" u="none" cap="none" strike="noStrike">
              <a:solidFill>
                <a:schemeClr val="lt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10" name="Google Shape;310;p12"/>
          <p:cNvSpPr txBox="1"/>
          <p:nvPr>
            <p:ph idx="12" type="sldNum"/>
          </p:nvPr>
        </p:nvSpPr>
        <p:spPr>
          <a:xfrm>
            <a:off x="7848600" y="753228"/>
            <a:ext cx="1157674" cy="109078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400" u="none" cap="none" strike="noStrike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b="0" i="0" sz="1400" u="none" cap="none" strike="noStrike">
              <a:solidFill>
                <a:schemeClr val="lt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11" name="Google Shape;311;p12"/>
          <p:cNvSpPr txBox="1"/>
          <p:nvPr/>
        </p:nvSpPr>
        <p:spPr>
          <a:xfrm>
            <a:off x="531639" y="2025322"/>
            <a:ext cx="3108543" cy="4093428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module Foo {</a:t>
            </a:r>
            <a:br>
              <a:rPr b="1" i="0" lang="en-US" sz="20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1" i="0" lang="en-US" sz="20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struct Data {</a:t>
            </a:r>
            <a:br>
              <a:rPr b="1" i="0" lang="en-US" sz="20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1" i="0" lang="en-US" sz="20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  T1 a;</a:t>
            </a:r>
            <a:br>
              <a:rPr b="1" i="0" lang="en-US" sz="20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1" i="0" lang="en-US" sz="20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  T2 b;</a:t>
            </a:r>
            <a:br>
              <a:rPr b="1" i="0" lang="en-US" sz="20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1" i="0" lang="en-US" sz="20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};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Data *create() {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  // …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}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void m(Data *d) {</a:t>
            </a:r>
            <a:br>
              <a:rPr b="1" i="0" lang="en-US" sz="20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1" i="0" lang="en-US" sz="20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  // …</a:t>
            </a:r>
            <a:br>
              <a:rPr b="1" i="0" lang="en-US" sz="20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1" i="0" lang="en-US" sz="20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}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/>
          </a:p>
        </p:txBody>
      </p:sp>
      <p:sp>
        <p:nvSpPr>
          <p:cNvPr id="312" name="Google Shape;312;p12"/>
          <p:cNvSpPr txBox="1"/>
          <p:nvPr/>
        </p:nvSpPr>
        <p:spPr>
          <a:xfrm>
            <a:off x="4087787" y="2267133"/>
            <a:ext cx="4339650" cy="2616101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import Foo;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1" i="0" sz="2000" u="none" cap="none" strike="noStrike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Foo.Data *x = Foo.create();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1" i="0" sz="2000" u="none" cap="none" strike="noStrike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Foo.m(x);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1" i="0" sz="2000" u="none" cap="none" strike="noStrike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print( x.a, x.b );</a:t>
            </a:r>
            <a:endParaRPr/>
          </a:p>
        </p:txBody>
      </p:sp>
      <p:sp>
        <p:nvSpPr>
          <p:cNvPr id="313" name="Google Shape;313;p12"/>
          <p:cNvSpPr txBox="1"/>
          <p:nvPr/>
        </p:nvSpPr>
        <p:spPr>
          <a:xfrm>
            <a:off x="4648200" y="5181600"/>
            <a:ext cx="3764941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2400" u="none" cap="none" strike="noStrike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rPr>
              <a:t>close to Python, except...?</a:t>
            </a:r>
            <a:endParaRPr/>
          </a:p>
        </p:txBody>
      </p:sp>
      <p:sp>
        <p:nvSpPr>
          <p:cNvPr id="314" name="Google Shape;314;p12"/>
          <p:cNvSpPr txBox="1"/>
          <p:nvPr/>
        </p:nvSpPr>
        <p:spPr>
          <a:xfrm>
            <a:off x="2209800" y="6234555"/>
            <a:ext cx="5690982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rPr>
              <a:t>Modula, Mesa, Ada, CLU (see later slide)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13"/>
          <p:cNvSpPr txBox="1"/>
          <p:nvPr>
            <p:ph type="title"/>
          </p:nvPr>
        </p:nvSpPr>
        <p:spPr>
          <a:xfrm>
            <a:off x="531639" y="753228"/>
            <a:ext cx="6896534" cy="1080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ahoma"/>
              <a:buNone/>
            </a:pPr>
            <a:r>
              <a:rPr lang="en-US">
                <a:latin typeface="Tahoma"/>
                <a:ea typeface="Tahoma"/>
                <a:cs typeface="Tahoma"/>
                <a:sym typeface="Tahoma"/>
              </a:rPr>
              <a:t>Classes As Extensions of ADT Managers</a:t>
            </a:r>
            <a:endParaRPr/>
          </a:p>
        </p:txBody>
      </p:sp>
      <p:sp>
        <p:nvSpPr>
          <p:cNvPr descr="Rectangle: Click to edit Master text styles&#10;Second level&#10;Third level&#10;Fourth level&#10;Fifth level" id="320" name="Google Shape;320;p13"/>
          <p:cNvSpPr txBox="1"/>
          <p:nvPr>
            <p:ph idx="1" type="body"/>
          </p:nvPr>
        </p:nvSpPr>
        <p:spPr>
          <a:xfrm>
            <a:off x="533400" y="2336873"/>
            <a:ext cx="8305800" cy="35993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oto Sans Symbols"/>
              <a:buNone/>
            </a:pPr>
            <a:r>
              <a:rPr b="1" lang="en-US" sz="2400">
                <a:latin typeface="Courier New"/>
                <a:ea typeface="Courier New"/>
                <a:cs typeface="Courier New"/>
                <a:sym typeface="Courier New"/>
              </a:rPr>
              <a:t># File tree.py</a:t>
            </a:r>
            <a:endParaRPr b="1" sz="24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oto Sans Symbols"/>
              <a:buNone/>
            </a:pPr>
            <a:r>
              <a:rPr b="1" lang="en-US" sz="2400">
                <a:latin typeface="Courier New"/>
                <a:ea typeface="Courier New"/>
                <a:cs typeface="Courier New"/>
                <a:sym typeface="Courier New"/>
              </a:rPr>
              <a:t>class BSTNode(object):</a:t>
            </a:r>
            <a:br>
              <a:rPr b="1" lang="en-US" sz="2400">
                <a:latin typeface="Courier New"/>
                <a:ea typeface="Courier New"/>
                <a:cs typeface="Courier New"/>
                <a:sym typeface="Courier New"/>
              </a:rPr>
            </a:br>
            <a:r>
              <a:rPr b="1" lang="en-US" sz="2400">
                <a:latin typeface="Courier New"/>
                <a:ea typeface="Courier New"/>
                <a:cs typeface="Courier New"/>
                <a:sym typeface="Courier New"/>
              </a:rPr>
              <a:t>    __slots__ = ("value","left","right")</a:t>
            </a:r>
            <a:br>
              <a:rPr b="1" lang="en-US" sz="2400">
                <a:latin typeface="Courier New"/>
                <a:ea typeface="Courier New"/>
                <a:cs typeface="Courier New"/>
                <a:sym typeface="Courier New"/>
              </a:rPr>
            </a:br>
            <a:endParaRPr b="1" sz="24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oto Sans Symbols"/>
              <a:buNone/>
            </a:pPr>
            <a:r>
              <a:rPr b="1" lang="en-US" sz="2400">
                <a:latin typeface="Courier New"/>
                <a:ea typeface="Courier New"/>
                <a:cs typeface="Courier New"/>
                <a:sym typeface="Courier New"/>
              </a:rPr>
              <a:t>def makeNode(v):</a:t>
            </a:r>
            <a:br>
              <a:rPr b="1" lang="en-US" sz="2400">
                <a:latin typeface="Courier New"/>
                <a:ea typeface="Courier New"/>
                <a:cs typeface="Courier New"/>
                <a:sym typeface="Courier New"/>
              </a:rPr>
            </a:br>
            <a:r>
              <a:rPr b="1" lang="en-US" sz="2400">
                <a:latin typeface="Courier New"/>
                <a:ea typeface="Courier New"/>
                <a:cs typeface="Courier New"/>
                <a:sym typeface="Courier New"/>
              </a:rPr>
              <a:t>    n = BSTNode()</a:t>
            </a:r>
            <a:br>
              <a:rPr b="1" lang="en-US" sz="2400">
                <a:latin typeface="Courier New"/>
                <a:ea typeface="Courier New"/>
                <a:cs typeface="Courier New"/>
                <a:sym typeface="Courier New"/>
              </a:rPr>
            </a:br>
            <a:r>
              <a:rPr b="1" lang="en-US" sz="2400">
                <a:latin typeface="Courier New"/>
                <a:ea typeface="Courier New"/>
                <a:cs typeface="Courier New"/>
                <a:sym typeface="Courier New"/>
              </a:rPr>
              <a:t>    n.value = v</a:t>
            </a:r>
            <a:br>
              <a:rPr b="1" lang="en-US" sz="2400">
                <a:latin typeface="Courier New"/>
                <a:ea typeface="Courier New"/>
                <a:cs typeface="Courier New"/>
                <a:sym typeface="Courier New"/>
              </a:rPr>
            </a:br>
            <a:r>
              <a:rPr b="1" lang="en-US" sz="2400">
                <a:latin typeface="Courier New"/>
                <a:ea typeface="Courier New"/>
                <a:cs typeface="Courier New"/>
                <a:sym typeface="Courier New"/>
              </a:rPr>
              <a:t>    n.left = None</a:t>
            </a:r>
            <a:br>
              <a:rPr b="1" lang="en-US" sz="2400">
                <a:latin typeface="Courier New"/>
                <a:ea typeface="Courier New"/>
                <a:cs typeface="Courier New"/>
                <a:sym typeface="Courier New"/>
              </a:rPr>
            </a:br>
            <a:r>
              <a:rPr b="1" lang="en-US" sz="2400">
                <a:latin typeface="Courier New"/>
                <a:ea typeface="Courier New"/>
                <a:cs typeface="Courier New"/>
                <a:sym typeface="Courier New"/>
              </a:rPr>
              <a:t>    n.right = None</a:t>
            </a:r>
            <a:br>
              <a:rPr b="1" lang="en-US" sz="2400">
                <a:latin typeface="Courier New"/>
                <a:ea typeface="Courier New"/>
                <a:cs typeface="Courier New"/>
                <a:sym typeface="Courier New"/>
              </a:rPr>
            </a:br>
            <a:r>
              <a:rPr b="1" lang="en-US" sz="2400">
                <a:latin typeface="Courier New"/>
                <a:ea typeface="Courier New"/>
                <a:cs typeface="Courier New"/>
                <a:sym typeface="Courier New"/>
              </a:rPr>
              <a:t>    return n</a:t>
            </a:r>
            <a:endParaRPr/>
          </a:p>
        </p:txBody>
      </p:sp>
      <p:sp>
        <p:nvSpPr>
          <p:cNvPr id="321" name="Google Shape;321;p13"/>
          <p:cNvSpPr txBox="1"/>
          <p:nvPr>
            <p:ph idx="10" type="dt"/>
          </p:nvPr>
        </p:nvSpPr>
        <p:spPr>
          <a:xfrm>
            <a:off x="5367881" y="5936188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rPr>
              <a:t>4/21/21</a:t>
            </a:r>
            <a:endParaRPr sz="1400">
              <a:solidFill>
                <a:schemeClr val="lt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22" name="Google Shape;322;p13"/>
          <p:cNvSpPr txBox="1"/>
          <p:nvPr>
            <p:ph idx="12" type="sldNum"/>
          </p:nvPr>
        </p:nvSpPr>
        <p:spPr>
          <a:xfrm>
            <a:off x="7848600" y="753228"/>
            <a:ext cx="1157674" cy="109078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sz="1400">
              <a:solidFill>
                <a:schemeClr val="lt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23" name="Google Shape;323;p13"/>
          <p:cNvSpPr txBox="1"/>
          <p:nvPr/>
        </p:nvSpPr>
        <p:spPr>
          <a:xfrm>
            <a:off x="5486400" y="5562600"/>
            <a:ext cx="1793875" cy="461963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continued…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14"/>
          <p:cNvSpPr txBox="1"/>
          <p:nvPr>
            <p:ph type="title"/>
          </p:nvPr>
        </p:nvSpPr>
        <p:spPr>
          <a:xfrm>
            <a:off x="531639" y="753228"/>
            <a:ext cx="6896534" cy="1080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ahoma"/>
              <a:buNone/>
            </a:pPr>
            <a:r>
              <a:rPr lang="en-US">
                <a:latin typeface="Tahoma"/>
                <a:ea typeface="Tahoma"/>
                <a:cs typeface="Tahoma"/>
                <a:sym typeface="Tahoma"/>
              </a:rPr>
              <a:t>Classes As Extensions of ADT Managers</a:t>
            </a:r>
            <a:endParaRPr/>
          </a:p>
        </p:txBody>
      </p:sp>
      <p:sp>
        <p:nvSpPr>
          <p:cNvPr descr="Rectangle: Click to edit Master text styles&#10;Second level&#10;Third level&#10;Fourth level&#10;Fifth level" id="329" name="Google Shape;329;p14"/>
          <p:cNvSpPr txBox="1"/>
          <p:nvPr>
            <p:ph idx="1" type="body"/>
          </p:nvPr>
        </p:nvSpPr>
        <p:spPr>
          <a:xfrm>
            <a:off x="685800" y="2133600"/>
            <a:ext cx="8077200" cy="44883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</a:pPr>
            <a:r>
              <a:rPr b="1" lang="en-US" sz="2000">
                <a:latin typeface="Courier New"/>
                <a:ea typeface="Courier New"/>
                <a:cs typeface="Courier New"/>
                <a:sym typeface="Courier New"/>
              </a:rPr>
              <a:t>def add( n, newValue ):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</a:pPr>
            <a:r>
              <a:rPr b="1" lang="en-US" sz="2000">
                <a:latin typeface="Courier New"/>
                <a:ea typeface="Courier New"/>
                <a:cs typeface="Courier New"/>
                <a:sym typeface="Courier New"/>
              </a:rPr>
              <a:t>    if newValue &lt; n.value: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</a:pPr>
            <a:r>
              <a:rPr b="1" lang="en-US" sz="2000">
                <a:latin typeface="Courier New"/>
                <a:ea typeface="Courier New"/>
                <a:cs typeface="Courier New"/>
                <a:sym typeface="Courier New"/>
              </a:rPr>
              <a:t>        if n.left is not None: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</a:pPr>
            <a:r>
              <a:rPr b="1" lang="en-US" sz="2000">
                <a:latin typeface="Courier New"/>
                <a:ea typeface="Courier New"/>
                <a:cs typeface="Courier New"/>
                <a:sym typeface="Courier New"/>
              </a:rPr>
              <a:t>            add( n.left, newValue )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</a:pPr>
            <a:r>
              <a:rPr b="1" lang="en-US" sz="2000">
                <a:latin typeface="Courier New"/>
                <a:ea typeface="Courier New"/>
                <a:cs typeface="Courier New"/>
                <a:sym typeface="Courier New"/>
              </a:rPr>
              <a:t>        else: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</a:pPr>
            <a:r>
              <a:rPr b="1" lang="en-US" sz="2000">
                <a:latin typeface="Courier New"/>
                <a:ea typeface="Courier New"/>
                <a:cs typeface="Courier New"/>
                <a:sym typeface="Courier New"/>
              </a:rPr>
              <a:t>            n.left = makeNode( newValue )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</a:pPr>
            <a:r>
              <a:rPr b="1" lang="en-US" sz="2000">
                <a:latin typeface="Courier New"/>
                <a:ea typeface="Courier New"/>
                <a:cs typeface="Courier New"/>
                <a:sym typeface="Courier New"/>
              </a:rPr>
              <a:t>    else: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</a:pPr>
            <a:r>
              <a:rPr b="1" lang="en-US" sz="2000">
                <a:latin typeface="Courier New"/>
                <a:ea typeface="Courier New"/>
                <a:cs typeface="Courier New"/>
                <a:sym typeface="Courier New"/>
              </a:rPr>
              <a:t>        if n.right is not None: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</a:pPr>
            <a:r>
              <a:rPr b="1" lang="en-US" sz="2000">
                <a:latin typeface="Courier New"/>
                <a:ea typeface="Courier New"/>
                <a:cs typeface="Courier New"/>
                <a:sym typeface="Courier New"/>
              </a:rPr>
              <a:t>            add( n.right, newValue )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</a:pPr>
            <a:r>
              <a:rPr b="1" lang="en-US" sz="2000">
                <a:latin typeface="Courier New"/>
                <a:ea typeface="Courier New"/>
                <a:cs typeface="Courier New"/>
                <a:sym typeface="Courier New"/>
              </a:rPr>
              <a:t>        else: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</a:pPr>
            <a:r>
              <a:rPr b="1" lang="en-US" sz="2000">
                <a:latin typeface="Courier New"/>
                <a:ea typeface="Courier New"/>
                <a:cs typeface="Courier New"/>
                <a:sym typeface="Courier New"/>
              </a:rPr>
              <a:t>            n.right = makeNode( newValue )</a:t>
            </a:r>
            <a:endParaRPr b="1" sz="20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30" name="Google Shape;330;p14"/>
          <p:cNvSpPr txBox="1"/>
          <p:nvPr>
            <p:ph idx="10" type="dt"/>
          </p:nvPr>
        </p:nvSpPr>
        <p:spPr>
          <a:xfrm>
            <a:off x="5367881" y="5936188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rPr>
              <a:t>4/21/21</a:t>
            </a:r>
            <a:endParaRPr sz="1400">
              <a:solidFill>
                <a:schemeClr val="lt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31" name="Google Shape;331;p14"/>
          <p:cNvSpPr txBox="1"/>
          <p:nvPr>
            <p:ph idx="12" type="sldNum"/>
          </p:nvPr>
        </p:nvSpPr>
        <p:spPr>
          <a:xfrm>
            <a:off x="7848600" y="753228"/>
            <a:ext cx="1157674" cy="109078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sz="1400">
              <a:solidFill>
                <a:schemeClr val="lt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15"/>
          <p:cNvSpPr txBox="1"/>
          <p:nvPr>
            <p:ph type="title"/>
          </p:nvPr>
        </p:nvSpPr>
        <p:spPr>
          <a:xfrm>
            <a:off x="152400" y="701017"/>
            <a:ext cx="8001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rebuchet MS"/>
              <a:buNone/>
            </a:pPr>
            <a:r>
              <a:rPr lang="en-US"/>
              <a:t>CLU [MIT, Barbara Liskov et al]</a:t>
            </a:r>
            <a:endParaRPr/>
          </a:p>
        </p:txBody>
      </p:sp>
      <p:sp>
        <p:nvSpPr>
          <p:cNvPr id="338" name="Google Shape;338;p15"/>
          <p:cNvSpPr txBox="1"/>
          <p:nvPr>
            <p:ph idx="1" type="body"/>
          </p:nvPr>
        </p:nvSpPr>
        <p:spPr>
          <a:xfrm>
            <a:off x="1689730" y="2057400"/>
            <a:ext cx="6701381" cy="44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</a:pPr>
            <a:r>
              <a:rPr b="1" lang="en-US" sz="2400">
                <a:latin typeface="Courier New"/>
                <a:ea typeface="Courier New"/>
                <a:cs typeface="Courier New"/>
                <a:sym typeface="Courier New"/>
              </a:rPr>
              <a:t>complex_number = cluster is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</a:pPr>
            <a:r>
              <a:rPr b="1" lang="en-US" sz="2400">
                <a:latin typeface="Courier New"/>
                <a:ea typeface="Courier New"/>
                <a:cs typeface="Courier New"/>
                <a:sym typeface="Courier New"/>
              </a:rPr>
              <a:t>  add, subtract, multiply, ...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</a:pPr>
            <a:r>
              <a:rPr b="1" lang="en-US" sz="2400">
                <a:latin typeface="Courier New"/>
                <a:ea typeface="Courier New"/>
                <a:cs typeface="Courier New"/>
                <a:sym typeface="Courier New"/>
              </a:rPr>
              <a:t>  rep = record [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</a:pPr>
            <a:r>
              <a:rPr b="1" lang="en-US" sz="2400">
                <a:latin typeface="Courier New"/>
                <a:ea typeface="Courier New"/>
                <a:cs typeface="Courier New"/>
                <a:sym typeface="Courier New"/>
              </a:rPr>
              <a:t>    real_part: real,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</a:pPr>
            <a:r>
              <a:rPr b="1" lang="en-US" sz="2400">
                <a:latin typeface="Courier New"/>
                <a:ea typeface="Courier New"/>
                <a:cs typeface="Courier New"/>
                <a:sym typeface="Courier New"/>
              </a:rPr>
              <a:t>    imag_part: real ]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</a:pPr>
            <a:r>
              <a:rPr b="1" lang="en-US" sz="2400">
                <a:latin typeface="Courier New"/>
                <a:ea typeface="Courier New"/>
                <a:cs typeface="Courier New"/>
                <a:sym typeface="Courier New"/>
              </a:rPr>
              <a:t>  add = proc ... end add;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</a:pPr>
            <a:r>
              <a:rPr b="1" lang="en-US" sz="2400">
                <a:latin typeface="Courier New"/>
                <a:ea typeface="Courier New"/>
                <a:cs typeface="Courier New"/>
                <a:sym typeface="Courier New"/>
              </a:rPr>
              <a:t>  subtract = proc ... end subtract;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</a:pPr>
            <a:r>
              <a:rPr b="1" lang="en-US" sz="2400">
                <a:latin typeface="Courier New"/>
                <a:ea typeface="Courier New"/>
                <a:cs typeface="Courier New"/>
                <a:sym typeface="Courier New"/>
              </a:rPr>
              <a:t>  multiply = proc ... end multiply;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</a:pPr>
            <a:r>
              <a:rPr b="1" lang="en-US" sz="2400">
                <a:latin typeface="Courier New"/>
                <a:ea typeface="Courier New"/>
                <a:cs typeface="Courier New"/>
                <a:sym typeface="Courier New"/>
              </a:rPr>
              <a:t>  ...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</a:pPr>
            <a:r>
              <a:rPr b="1" lang="en-US" sz="2400">
                <a:latin typeface="Courier New"/>
                <a:ea typeface="Courier New"/>
                <a:cs typeface="Courier New"/>
                <a:sym typeface="Courier New"/>
              </a:rPr>
              <a:t>end complex_number;</a:t>
            </a:r>
            <a:endParaRPr/>
          </a:p>
        </p:txBody>
      </p:sp>
      <p:sp>
        <p:nvSpPr>
          <p:cNvPr id="339" name="Google Shape;339;p15"/>
          <p:cNvSpPr txBox="1"/>
          <p:nvPr>
            <p:ph idx="10" type="dt"/>
          </p:nvPr>
        </p:nvSpPr>
        <p:spPr>
          <a:xfrm>
            <a:off x="5367881" y="5936188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4/21/21</a:t>
            </a:r>
            <a:endParaRPr/>
          </a:p>
        </p:txBody>
      </p:sp>
      <p:sp>
        <p:nvSpPr>
          <p:cNvPr id="340" name="Google Shape;340;p15"/>
          <p:cNvSpPr txBox="1"/>
          <p:nvPr>
            <p:ph idx="12" type="sldNum"/>
          </p:nvPr>
        </p:nvSpPr>
        <p:spPr>
          <a:xfrm>
            <a:off x="7848600" y="753228"/>
            <a:ext cx="1157674" cy="109078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16"/>
          <p:cNvSpPr txBox="1"/>
          <p:nvPr>
            <p:ph type="title"/>
          </p:nvPr>
        </p:nvSpPr>
        <p:spPr>
          <a:xfrm>
            <a:off x="531639" y="753228"/>
            <a:ext cx="6896534" cy="1080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ahoma"/>
              <a:buNone/>
            </a:pPr>
            <a:r>
              <a:rPr lang="en-US">
                <a:latin typeface="Tahoma"/>
                <a:ea typeface="Tahoma"/>
                <a:cs typeface="Tahoma"/>
                <a:sym typeface="Tahoma"/>
              </a:rPr>
              <a:t>Creation/Destruction</a:t>
            </a:r>
            <a:endParaRPr/>
          </a:p>
        </p:txBody>
      </p:sp>
      <p:sp>
        <p:nvSpPr>
          <p:cNvPr descr="Rectangle: Click to edit Master text styles&#10;Second level&#10;Third level&#10;Fourth level&#10;Fifth level" id="347" name="Google Shape;347;p16"/>
          <p:cNvSpPr txBox="1"/>
          <p:nvPr>
            <p:ph idx="1" type="body"/>
          </p:nvPr>
        </p:nvSpPr>
        <p:spPr>
          <a:xfrm>
            <a:off x="762000" y="2242066"/>
            <a:ext cx="7772400" cy="27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</a:pPr>
            <a:r>
              <a:rPr lang="en-US">
                <a:latin typeface="Tahoma"/>
                <a:ea typeface="Tahoma"/>
                <a:cs typeface="Tahoma"/>
                <a:sym typeface="Tahoma"/>
              </a:rPr>
              <a:t>Old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oto Sans Symbols"/>
              <a:buNone/>
            </a:pPr>
            <a:r>
              <a:rPr b="1" lang="en-US" sz="2400">
                <a:latin typeface="Courier New"/>
                <a:ea typeface="Courier New"/>
                <a:cs typeface="Courier New"/>
                <a:sym typeface="Courier New"/>
              </a:rPr>
              <a:t>obj = malloc( sizeof( struct Foo ) );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oto Sans Symbols"/>
              <a:buNone/>
            </a:pPr>
            <a:r>
              <a:rPr b="1" lang="en-US" sz="2400">
                <a:latin typeface="Courier New"/>
                <a:ea typeface="Courier New"/>
                <a:cs typeface="Courier New"/>
                <a:sym typeface="Courier New"/>
              </a:rPr>
              <a:t>Foo_init( obj );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</a:pPr>
            <a:r>
              <a:rPr lang="en-US">
                <a:latin typeface="Tahoma"/>
                <a:ea typeface="Tahoma"/>
                <a:cs typeface="Tahoma"/>
                <a:sym typeface="Tahoma"/>
              </a:rPr>
              <a:t>OO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oto Sans Symbols"/>
              <a:buNone/>
            </a:pPr>
            <a:r>
              <a:rPr b="1" lang="en-US">
                <a:latin typeface="Courier New"/>
                <a:ea typeface="Courier New"/>
                <a:cs typeface="Courier New"/>
                <a:sym typeface="Courier New"/>
              </a:rPr>
              <a:t>obj = new Foo();</a:t>
            </a:r>
            <a:endParaRPr/>
          </a:p>
        </p:txBody>
      </p:sp>
      <p:sp>
        <p:nvSpPr>
          <p:cNvPr id="348" name="Google Shape;348;p16"/>
          <p:cNvSpPr txBox="1"/>
          <p:nvPr>
            <p:ph idx="10" type="dt"/>
          </p:nvPr>
        </p:nvSpPr>
        <p:spPr>
          <a:xfrm>
            <a:off x="5367881" y="5936188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rPr>
              <a:t>4/21/21</a:t>
            </a:r>
            <a:endParaRPr sz="1400">
              <a:solidFill>
                <a:schemeClr val="lt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49" name="Google Shape;349;p16"/>
          <p:cNvSpPr txBox="1"/>
          <p:nvPr>
            <p:ph idx="12" type="sldNum"/>
          </p:nvPr>
        </p:nvSpPr>
        <p:spPr>
          <a:xfrm>
            <a:off x="7848600" y="753228"/>
            <a:ext cx="1157674" cy="109078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sz="1400">
              <a:solidFill>
                <a:schemeClr val="lt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50" name="Google Shape;350;p16"/>
          <p:cNvSpPr/>
          <p:nvPr/>
        </p:nvSpPr>
        <p:spPr>
          <a:xfrm>
            <a:off x="419100" y="4961721"/>
            <a:ext cx="1752600" cy="829479"/>
          </a:xfrm>
          <a:prstGeom prst="wedgeRectCallout">
            <a:avLst>
              <a:gd fmla="val 62146" name="adj1"/>
              <a:gd fmla="val -142932" name="adj2"/>
            </a:avLst>
          </a:prstGeom>
          <a:solidFill>
            <a:schemeClr val="accent1"/>
          </a:solidFill>
          <a:ln cap="flat" cmpd="sng" w="952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rPr>
              <a:t>Allocates memory</a:t>
            </a:r>
            <a:endParaRPr/>
          </a:p>
        </p:txBody>
      </p:sp>
      <p:sp>
        <p:nvSpPr>
          <p:cNvPr id="351" name="Google Shape;351;p16"/>
          <p:cNvSpPr/>
          <p:nvPr/>
        </p:nvSpPr>
        <p:spPr>
          <a:xfrm>
            <a:off x="2858387" y="4981413"/>
            <a:ext cx="1752600" cy="809787"/>
          </a:xfrm>
          <a:prstGeom prst="wedgeRectCallout">
            <a:avLst>
              <a:gd fmla="val -32585" name="adj1"/>
              <a:gd fmla="val -146490" name="adj2"/>
            </a:avLst>
          </a:prstGeom>
          <a:solidFill>
            <a:schemeClr val="accent1"/>
          </a:solidFill>
          <a:ln cap="flat" cmpd="sng" w="952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rPr>
              <a:t>Initializes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rPr>
              <a:t>data</a:t>
            </a:r>
            <a:endParaRPr/>
          </a:p>
        </p:txBody>
      </p:sp>
      <p:grpSp>
        <p:nvGrpSpPr>
          <p:cNvPr id="352" name="Google Shape;352;p16"/>
          <p:cNvGrpSpPr/>
          <p:nvPr/>
        </p:nvGrpSpPr>
        <p:grpSpPr>
          <a:xfrm>
            <a:off x="1295400" y="3401197"/>
            <a:ext cx="3045071" cy="609601"/>
            <a:chOff x="601436" y="3401197"/>
            <a:chExt cx="4676359" cy="609601"/>
          </a:xfrm>
        </p:grpSpPr>
        <p:sp>
          <p:nvSpPr>
            <p:cNvPr id="353" name="Google Shape;353;p16"/>
            <p:cNvSpPr/>
            <p:nvPr/>
          </p:nvSpPr>
          <p:spPr>
            <a:xfrm rot="5400000">
              <a:off x="2087336" y="2220098"/>
              <a:ext cx="304800" cy="3276600"/>
            </a:xfrm>
            <a:prstGeom prst="leftBrace">
              <a:avLst>
                <a:gd fmla="val 8311" name="adj1"/>
                <a:gd fmla="val 50000" name="adj2"/>
              </a:avLst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354" name="Google Shape;354;p16"/>
            <p:cNvSpPr txBox="1"/>
            <p:nvPr/>
          </p:nvSpPr>
          <p:spPr>
            <a:xfrm>
              <a:off x="1186543" y="3401197"/>
              <a:ext cx="4091252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1800">
                  <a:solidFill>
                    <a:schemeClr val="lt1"/>
                  </a:solidFill>
                  <a:latin typeface="Tahoma"/>
                  <a:ea typeface="Tahoma"/>
                  <a:cs typeface="Tahoma"/>
                  <a:sym typeface="Tahoma"/>
                </a:rPr>
                <a:t>What's happening here?</a:t>
              </a:r>
              <a:endParaRPr/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35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17"/>
          <p:cNvSpPr txBox="1"/>
          <p:nvPr>
            <p:ph type="title"/>
          </p:nvPr>
        </p:nvSpPr>
        <p:spPr>
          <a:xfrm>
            <a:off x="381000" y="753228"/>
            <a:ext cx="7315199" cy="1080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ahoma"/>
              <a:buNone/>
            </a:pPr>
            <a:r>
              <a:rPr i="1" lang="en-US">
                <a:latin typeface="Tahoma"/>
                <a:ea typeface="Tahoma"/>
                <a:cs typeface="Tahoma"/>
                <a:sym typeface="Tahoma"/>
              </a:rPr>
              <a:t>Self</a:t>
            </a:r>
            <a:r>
              <a:rPr lang="en-US">
                <a:latin typeface="Tahoma"/>
                <a:ea typeface="Tahoma"/>
                <a:cs typeface="Tahoma"/>
                <a:sym typeface="Tahoma"/>
              </a:rPr>
              <a:t>: A Method Call's Target Object</a:t>
            </a:r>
            <a:endParaRPr/>
          </a:p>
        </p:txBody>
      </p:sp>
      <p:sp>
        <p:nvSpPr>
          <p:cNvPr descr="Rectangle: Click to edit Master text styles&#10;Second level&#10;Third level&#10;Fourth level&#10;Fifth level" id="361" name="Google Shape;361;p17"/>
          <p:cNvSpPr txBox="1"/>
          <p:nvPr>
            <p:ph idx="1" type="body"/>
          </p:nvPr>
        </p:nvSpPr>
        <p:spPr>
          <a:xfrm>
            <a:off x="533400" y="2336873"/>
            <a:ext cx="6887389" cy="35993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</a:pPr>
            <a:r>
              <a:rPr lang="en-US">
                <a:latin typeface="Tahoma"/>
                <a:ea typeface="Tahoma"/>
                <a:cs typeface="Tahoma"/>
                <a:sym typeface="Tahoma"/>
              </a:rPr>
              <a:t>An extra argument is added to each instance subroutine's parameter list.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</a:pPr>
            <a:r>
              <a:rPr lang="en-US">
                <a:latin typeface="Tahoma"/>
                <a:ea typeface="Tahoma"/>
                <a:cs typeface="Tahoma"/>
                <a:sym typeface="Tahoma"/>
              </a:rPr>
              <a:t>It is known as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</a:pPr>
            <a:r>
              <a:rPr b="1" lang="en-US">
                <a:latin typeface="Courier New"/>
                <a:ea typeface="Courier New"/>
                <a:cs typeface="Courier New"/>
                <a:sym typeface="Courier New"/>
              </a:rPr>
              <a:t>self</a:t>
            </a:r>
            <a:r>
              <a:rPr lang="en-US">
                <a:latin typeface="Tahoma"/>
                <a:ea typeface="Tahoma"/>
                <a:cs typeface="Tahoma"/>
                <a:sym typeface="Tahoma"/>
              </a:rPr>
              <a:t> (Smalltalk, Python*, Ruby, Ada-95)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</a:pPr>
            <a:r>
              <a:rPr b="1" lang="en-US">
                <a:latin typeface="Courier New"/>
                <a:ea typeface="Courier New"/>
                <a:cs typeface="Courier New"/>
                <a:sym typeface="Courier New"/>
              </a:rPr>
              <a:t>this</a:t>
            </a:r>
            <a:r>
              <a:rPr lang="en-US">
                <a:latin typeface="Tahoma"/>
                <a:ea typeface="Tahoma"/>
                <a:cs typeface="Tahoma"/>
                <a:sym typeface="Tahoma"/>
              </a:rPr>
              <a:t> (Simula, C++, Java, C#)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</a:pPr>
            <a:r>
              <a:rPr b="1" lang="en-US">
                <a:latin typeface="Courier New"/>
                <a:ea typeface="Courier New"/>
                <a:cs typeface="Courier New"/>
                <a:sym typeface="Courier New"/>
              </a:rPr>
              <a:t>Current</a:t>
            </a:r>
            <a:r>
              <a:rPr lang="en-US">
                <a:latin typeface="Tahoma"/>
                <a:ea typeface="Tahoma"/>
                <a:cs typeface="Tahoma"/>
                <a:sym typeface="Tahoma"/>
              </a:rPr>
              <a:t> (Eiffel)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</a:pPr>
            <a:r>
              <a:rPr b="1" lang="en-US">
                <a:latin typeface="Courier New"/>
                <a:ea typeface="Courier New"/>
                <a:cs typeface="Courier New"/>
                <a:sym typeface="Courier New"/>
              </a:rPr>
              <a:t>self</a:t>
            </a:r>
            <a:r>
              <a:rPr lang="en-US">
                <a:latin typeface="Tahoma"/>
                <a:ea typeface="Tahoma"/>
                <a:cs typeface="Tahoma"/>
                <a:sym typeface="Tahoma"/>
              </a:rPr>
              <a:t> and </a:t>
            </a:r>
            <a:r>
              <a:rPr b="1" lang="en-US">
                <a:latin typeface="Courier New"/>
                <a:ea typeface="Courier New"/>
                <a:cs typeface="Courier New"/>
                <a:sym typeface="Courier New"/>
              </a:rPr>
              <a:t>this</a:t>
            </a:r>
            <a:r>
              <a:rPr lang="en-US">
                <a:latin typeface="Tahoma"/>
                <a:ea typeface="Tahoma"/>
                <a:cs typeface="Tahoma"/>
                <a:sym typeface="Tahoma"/>
              </a:rPr>
              <a:t> (PLCC's OBJ language!?!)</a:t>
            </a:r>
            <a:endParaRPr/>
          </a:p>
        </p:txBody>
      </p:sp>
      <p:sp>
        <p:nvSpPr>
          <p:cNvPr id="362" name="Google Shape;362;p17"/>
          <p:cNvSpPr txBox="1"/>
          <p:nvPr>
            <p:ph idx="10" type="dt"/>
          </p:nvPr>
        </p:nvSpPr>
        <p:spPr>
          <a:xfrm>
            <a:off x="5367881" y="5936188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rPr>
              <a:t>4/21/21</a:t>
            </a:r>
            <a:endParaRPr sz="1400">
              <a:solidFill>
                <a:schemeClr val="lt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63" name="Google Shape;363;p17"/>
          <p:cNvSpPr txBox="1"/>
          <p:nvPr>
            <p:ph idx="12" type="sldNum"/>
          </p:nvPr>
        </p:nvSpPr>
        <p:spPr>
          <a:xfrm>
            <a:off x="7848600" y="753228"/>
            <a:ext cx="1157674" cy="109078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sz="1400">
              <a:solidFill>
                <a:schemeClr val="lt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18"/>
          <p:cNvSpPr txBox="1"/>
          <p:nvPr>
            <p:ph type="title"/>
          </p:nvPr>
        </p:nvSpPr>
        <p:spPr>
          <a:xfrm>
            <a:off x="533400" y="753228"/>
            <a:ext cx="6887390" cy="1080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ahoma"/>
              <a:buNone/>
            </a:pPr>
            <a:r>
              <a:rPr lang="en-US">
                <a:latin typeface="Tahoma"/>
                <a:ea typeface="Tahoma"/>
                <a:cs typeface="Tahoma"/>
                <a:sym typeface="Tahoma"/>
              </a:rPr>
              <a:t>Scope</a:t>
            </a:r>
            <a:endParaRPr/>
          </a:p>
        </p:txBody>
      </p:sp>
      <p:sp>
        <p:nvSpPr>
          <p:cNvPr descr="Rectangle: Click to edit Master text styles&#10;Second level&#10;Third level&#10;Fourth level&#10;Fifth level" id="370" name="Google Shape;370;p18"/>
          <p:cNvSpPr txBox="1"/>
          <p:nvPr>
            <p:ph idx="1" type="body"/>
          </p:nvPr>
        </p:nvSpPr>
        <p:spPr>
          <a:xfrm>
            <a:off x="512852" y="2156350"/>
            <a:ext cx="3810000" cy="368035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</a:pPr>
            <a:r>
              <a:rPr lang="en-US" sz="2400">
                <a:latin typeface="Tahoma"/>
                <a:ea typeface="Tahoma"/>
                <a:cs typeface="Tahoma"/>
                <a:sym typeface="Tahoma"/>
              </a:rPr>
              <a:t>Recall: What is the scope of </a:t>
            </a:r>
            <a:r>
              <a:rPr b="1" lang="en-US" sz="2400">
                <a:latin typeface="Courier New"/>
                <a:ea typeface="Courier New"/>
                <a:cs typeface="Courier New"/>
                <a:sym typeface="Courier New"/>
              </a:rPr>
              <a:t>x</a:t>
            </a:r>
            <a:r>
              <a:rPr lang="en-US" sz="2400">
                <a:latin typeface="Tahoma"/>
                <a:ea typeface="Tahoma"/>
                <a:cs typeface="Tahoma"/>
                <a:sym typeface="Tahoma"/>
              </a:rPr>
              <a:t> inside </a:t>
            </a:r>
            <a:r>
              <a:rPr b="1" lang="en-US" sz="2400">
                <a:latin typeface="Courier New"/>
                <a:ea typeface="Courier New"/>
                <a:cs typeface="Courier New"/>
                <a:sym typeface="Courier New"/>
              </a:rPr>
              <a:t>m</a:t>
            </a:r>
            <a:r>
              <a:rPr lang="en-US" sz="2400">
                <a:latin typeface="Tahoma"/>
                <a:ea typeface="Tahoma"/>
                <a:cs typeface="Tahoma"/>
                <a:sym typeface="Tahoma"/>
              </a:rPr>
              <a:t>?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</a:pPr>
            <a:r>
              <a:rPr lang="en-US" sz="2000">
                <a:latin typeface="Tahoma"/>
                <a:ea typeface="Tahoma"/>
                <a:cs typeface="Tahoma"/>
                <a:sym typeface="Tahoma"/>
              </a:rPr>
              <a:t>global?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</a:pPr>
            <a:r>
              <a:rPr lang="en-US" sz="2000">
                <a:latin typeface="Tahoma"/>
                <a:ea typeface="Tahoma"/>
                <a:cs typeface="Tahoma"/>
                <a:sym typeface="Tahoma"/>
              </a:rPr>
              <a:t>file?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</a:pPr>
            <a:r>
              <a:rPr lang="en-US" sz="2000">
                <a:latin typeface="Tahoma"/>
                <a:ea typeface="Tahoma"/>
                <a:cs typeface="Tahoma"/>
                <a:sym typeface="Tahoma"/>
              </a:rPr>
              <a:t>subroutine local?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</a:pPr>
            <a:r>
              <a:rPr lang="en-US" sz="2400">
                <a:latin typeface="Tahoma"/>
                <a:ea typeface="Tahoma"/>
                <a:cs typeface="Tahoma"/>
                <a:sym typeface="Tahoma"/>
              </a:rPr>
              <a:t>Technically, </a:t>
            </a:r>
            <a:r>
              <a:rPr b="1" lang="en-US" sz="2400">
                <a:latin typeface="Courier New"/>
                <a:ea typeface="Courier New"/>
                <a:cs typeface="Courier New"/>
                <a:sym typeface="Courier New"/>
              </a:rPr>
              <a:t>x</a:t>
            </a:r>
            <a:r>
              <a:rPr lang="en-US" sz="2400">
                <a:latin typeface="Tahoma"/>
                <a:ea typeface="Tahoma"/>
                <a:cs typeface="Tahoma"/>
                <a:sym typeface="Tahoma"/>
              </a:rPr>
              <a:t> is not a variable.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</a:pPr>
            <a:r>
              <a:rPr lang="en-US" sz="2400">
                <a:latin typeface="Tahoma"/>
                <a:ea typeface="Tahoma"/>
                <a:cs typeface="Tahoma"/>
                <a:sym typeface="Tahoma"/>
              </a:rPr>
              <a:t>It's a field inside the record named by </a:t>
            </a:r>
            <a:r>
              <a:rPr b="1" lang="en-US" sz="2400">
                <a:latin typeface="Courier New"/>
                <a:ea typeface="Courier New"/>
                <a:cs typeface="Courier New"/>
                <a:sym typeface="Courier New"/>
              </a:rPr>
              <a:t>this</a:t>
            </a:r>
            <a:r>
              <a:rPr lang="en-US" sz="2400">
                <a:latin typeface="Tahoma"/>
                <a:ea typeface="Tahoma"/>
                <a:cs typeface="Tahoma"/>
                <a:sym typeface="Tahoma"/>
              </a:rPr>
              <a:t>.</a:t>
            </a:r>
            <a:endParaRPr/>
          </a:p>
        </p:txBody>
      </p:sp>
      <p:sp>
        <p:nvSpPr>
          <p:cNvPr descr="Rectangle: Click to edit Master text styles&#10;Second level&#10;Third level&#10;Fourth level&#10;Fifth level" id="371" name="Google Shape;371;p18"/>
          <p:cNvSpPr txBox="1"/>
          <p:nvPr>
            <p:ph idx="2" type="body"/>
          </p:nvPr>
        </p:nvSpPr>
        <p:spPr>
          <a:xfrm>
            <a:off x="4800599" y="2057400"/>
            <a:ext cx="3352801" cy="1914851"/>
          </a:xfrm>
          <a:prstGeom prst="rect">
            <a:avLst/>
          </a:prstGeom>
          <a:noFill/>
          <a:ln cap="flat" cmpd="sng" w="9525">
            <a:solidFill>
              <a:srgbClr val="FACEB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oto Sans Symbols"/>
              <a:buNone/>
            </a:pPr>
            <a:r>
              <a:rPr b="1" lang="en-US" sz="2000">
                <a:latin typeface="Courier New"/>
                <a:ea typeface="Courier New"/>
                <a:cs typeface="Courier New"/>
                <a:sym typeface="Courier New"/>
              </a:rPr>
              <a:t>class C {</a:t>
            </a:r>
            <a:br>
              <a:rPr b="1" lang="en-US" sz="2000">
                <a:latin typeface="Courier New"/>
                <a:ea typeface="Courier New"/>
                <a:cs typeface="Courier New"/>
                <a:sym typeface="Courier New"/>
              </a:rPr>
            </a:br>
            <a:r>
              <a:rPr b="1" lang="en-US" sz="2000">
                <a:latin typeface="Courier New"/>
                <a:ea typeface="Courier New"/>
                <a:cs typeface="Courier New"/>
                <a:sym typeface="Courier New"/>
              </a:rPr>
              <a:t>  int x;</a:t>
            </a:r>
            <a:br>
              <a:rPr b="1" lang="en-US" sz="2000">
                <a:latin typeface="Courier New"/>
                <a:ea typeface="Courier New"/>
                <a:cs typeface="Courier New"/>
                <a:sym typeface="Courier New"/>
              </a:rPr>
            </a:br>
            <a:r>
              <a:rPr b="1" lang="en-US" sz="2000">
                <a:latin typeface="Courier New"/>
                <a:ea typeface="Courier New"/>
                <a:cs typeface="Courier New"/>
                <a:sym typeface="Courier New"/>
              </a:rPr>
              <a:t>  void m() {</a:t>
            </a:r>
            <a:br>
              <a:rPr b="1" lang="en-US" sz="2000">
                <a:latin typeface="Courier New"/>
                <a:ea typeface="Courier New"/>
                <a:cs typeface="Courier New"/>
                <a:sym typeface="Courier New"/>
              </a:rPr>
            </a:br>
            <a:r>
              <a:rPr b="1" lang="en-US" sz="2000">
                <a:latin typeface="Courier New"/>
                <a:ea typeface="Courier New"/>
                <a:cs typeface="Courier New"/>
                <a:sym typeface="Courier New"/>
              </a:rPr>
              <a:t>    x = 5;</a:t>
            </a:r>
            <a:br>
              <a:rPr b="1" lang="en-US" sz="2000">
                <a:latin typeface="Courier New"/>
                <a:ea typeface="Courier New"/>
                <a:cs typeface="Courier New"/>
                <a:sym typeface="Courier New"/>
              </a:rPr>
            </a:br>
            <a:r>
              <a:rPr b="1" lang="en-US" sz="2000">
                <a:latin typeface="Courier New"/>
                <a:ea typeface="Courier New"/>
                <a:cs typeface="Courier New"/>
                <a:sym typeface="Courier New"/>
              </a:rPr>
              <a:t>  }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oto Sans Symbols"/>
              <a:buNone/>
            </a:pPr>
            <a:r>
              <a:rPr b="1" lang="en-US" sz="2000"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/>
          </a:p>
        </p:txBody>
      </p:sp>
      <p:sp>
        <p:nvSpPr>
          <p:cNvPr id="372" name="Google Shape;372;p18"/>
          <p:cNvSpPr txBox="1"/>
          <p:nvPr>
            <p:ph idx="10" type="dt"/>
          </p:nvPr>
        </p:nvSpPr>
        <p:spPr>
          <a:xfrm>
            <a:off x="5367881" y="5936188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rPr>
              <a:t>4/21/21</a:t>
            </a:r>
            <a:endParaRPr sz="1400">
              <a:solidFill>
                <a:schemeClr val="lt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73" name="Google Shape;373;p18"/>
          <p:cNvSpPr txBox="1"/>
          <p:nvPr>
            <p:ph idx="12" type="sldNum"/>
          </p:nvPr>
        </p:nvSpPr>
        <p:spPr>
          <a:xfrm>
            <a:off x="7848600" y="753228"/>
            <a:ext cx="1157674" cy="109078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sz="1400">
              <a:solidFill>
                <a:schemeClr val="lt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descr="Rectangle: Click to edit Master text styles&#10;Second level&#10;Third level&#10;Fourth level&#10;Fifth level" id="374" name="Google Shape;374;p18"/>
          <p:cNvSpPr/>
          <p:nvPr/>
        </p:nvSpPr>
        <p:spPr>
          <a:xfrm>
            <a:off x="4800600" y="3962400"/>
            <a:ext cx="3352800" cy="1983640"/>
          </a:xfrm>
          <a:prstGeom prst="rect">
            <a:avLst/>
          </a:prstGeom>
          <a:noFill/>
          <a:ln cap="flat" cmpd="sng" w="9525">
            <a:solidFill>
              <a:srgbClr val="FACEB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2200"/>
              <a:buFont typeface="Noto Sans Symbols"/>
              <a:buNone/>
            </a:pPr>
            <a:r>
              <a:rPr b="1" lang="en-US" sz="20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class C {</a:t>
            </a:r>
            <a:br>
              <a:rPr b="1" lang="en-US" sz="20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1" lang="en-US" sz="20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int x;</a:t>
            </a:r>
            <a:br>
              <a:rPr b="1" lang="en-US" sz="20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1" lang="en-US" sz="20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void m(C this) {</a:t>
            </a:r>
            <a:br>
              <a:rPr b="1" lang="en-US" sz="20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1" lang="en-US" sz="20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  this.x = 5;</a:t>
            </a:r>
            <a:br>
              <a:rPr b="1" lang="en-US" sz="20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1" lang="en-US" sz="20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}</a:t>
            </a:r>
            <a:endParaRPr/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2200"/>
              <a:buFont typeface="Noto Sans Symbols"/>
              <a:buNone/>
            </a:pPr>
            <a:r>
              <a:rPr b="1" lang="en-US" sz="20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0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19"/>
          <p:cNvSpPr txBox="1"/>
          <p:nvPr>
            <p:ph type="title"/>
          </p:nvPr>
        </p:nvSpPr>
        <p:spPr>
          <a:xfrm>
            <a:off x="531639" y="753228"/>
            <a:ext cx="6896534" cy="1080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ahoma"/>
              <a:buNone/>
            </a:pPr>
            <a:r>
              <a:rPr lang="en-US">
                <a:latin typeface="Tahoma"/>
                <a:ea typeface="Tahoma"/>
                <a:cs typeface="Tahoma"/>
                <a:sym typeface="Tahoma"/>
              </a:rPr>
              <a:t>Again: invoking an operation</a:t>
            </a:r>
            <a:endParaRPr/>
          </a:p>
        </p:txBody>
      </p:sp>
      <p:sp>
        <p:nvSpPr>
          <p:cNvPr descr="Rectangle: Click to edit Master text styles&#10;Second level&#10;Third level&#10;Fourth level&#10;Fifth level" id="381" name="Google Shape;381;p19"/>
          <p:cNvSpPr txBox="1"/>
          <p:nvPr>
            <p:ph idx="1" type="body"/>
          </p:nvPr>
        </p:nvSpPr>
        <p:spPr>
          <a:xfrm>
            <a:off x="533400" y="2336873"/>
            <a:ext cx="6887389" cy="35993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</a:pPr>
            <a:r>
              <a:rPr lang="en-US">
                <a:latin typeface="Tahoma"/>
                <a:ea typeface="Tahoma"/>
                <a:cs typeface="Tahoma"/>
                <a:sym typeface="Tahoma"/>
              </a:rPr>
              <a:t>C obj;</a:t>
            </a:r>
            <a:br>
              <a:rPr lang="en-US">
                <a:latin typeface="Tahoma"/>
                <a:ea typeface="Tahoma"/>
                <a:cs typeface="Tahoma"/>
                <a:sym typeface="Tahoma"/>
              </a:rPr>
            </a:br>
            <a:r>
              <a:rPr lang="en-US">
                <a:latin typeface="Tahoma"/>
                <a:ea typeface="Tahoma"/>
                <a:cs typeface="Tahoma"/>
                <a:sym typeface="Tahoma"/>
              </a:rPr>
              <a:t>obj.m( x, y );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oto Sans Symbols"/>
              <a:buNone/>
            </a:pPr>
            <a:r>
              <a:rPr lang="en-US">
                <a:latin typeface="Tahoma"/>
                <a:ea typeface="Tahoma"/>
                <a:cs typeface="Tahoma"/>
                <a:sym typeface="Tahoma"/>
              </a:rPr>
              <a:t>⇓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</a:pPr>
            <a:r>
              <a:rPr lang="en-US">
                <a:latin typeface="Tahoma"/>
                <a:ea typeface="Tahoma"/>
                <a:cs typeface="Tahoma"/>
                <a:sym typeface="Tahoma"/>
              </a:rPr>
              <a:t>struct C obj;</a:t>
            </a:r>
            <a:br>
              <a:rPr lang="en-US">
                <a:latin typeface="Tahoma"/>
                <a:ea typeface="Tahoma"/>
                <a:cs typeface="Tahoma"/>
                <a:sym typeface="Tahoma"/>
              </a:rPr>
            </a:br>
            <a:r>
              <a:rPr lang="en-US">
                <a:latin typeface="Tahoma"/>
                <a:ea typeface="Tahoma"/>
                <a:cs typeface="Tahoma"/>
                <a:sym typeface="Tahoma"/>
              </a:rPr>
              <a:t>m( obj, x, y );</a:t>
            </a:r>
            <a:endParaRPr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82" name="Google Shape;382;p19"/>
          <p:cNvSpPr txBox="1"/>
          <p:nvPr>
            <p:ph idx="10" type="dt"/>
          </p:nvPr>
        </p:nvSpPr>
        <p:spPr>
          <a:xfrm>
            <a:off x="5367881" y="5936188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rPr>
              <a:t>4/21/21</a:t>
            </a:r>
            <a:endParaRPr sz="1400">
              <a:solidFill>
                <a:schemeClr val="lt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83" name="Google Shape;383;p19"/>
          <p:cNvSpPr txBox="1"/>
          <p:nvPr>
            <p:ph idx="12" type="sldNum"/>
          </p:nvPr>
        </p:nvSpPr>
        <p:spPr>
          <a:xfrm>
            <a:off x="7848600" y="753228"/>
            <a:ext cx="1157674" cy="109078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sz="1400">
              <a:solidFill>
                <a:schemeClr val="lt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84" name="Google Shape;384;p19"/>
          <p:cNvSpPr txBox="1"/>
          <p:nvPr/>
        </p:nvSpPr>
        <p:spPr>
          <a:xfrm>
            <a:off x="5257800" y="2590800"/>
            <a:ext cx="3200400" cy="12001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400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rPr>
              <a:t>Does an OO language do anything more than adjust syntax?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20"/>
          <p:cNvSpPr txBox="1"/>
          <p:nvPr>
            <p:ph type="title"/>
          </p:nvPr>
        </p:nvSpPr>
        <p:spPr>
          <a:xfrm>
            <a:off x="531639" y="753228"/>
            <a:ext cx="6896534" cy="1080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ahoma"/>
              <a:buNone/>
            </a:pPr>
            <a:r>
              <a:rPr lang="en-US">
                <a:latin typeface="Tahoma"/>
                <a:ea typeface="Tahoma"/>
                <a:cs typeface="Tahoma"/>
                <a:sym typeface="Tahoma"/>
              </a:rPr>
              <a:t>Feature Access</a:t>
            </a:r>
            <a:endParaRPr/>
          </a:p>
        </p:txBody>
      </p:sp>
      <p:sp>
        <p:nvSpPr>
          <p:cNvPr descr="Rectangle: Click to edit Master text styles&#10;Second level&#10;Third level&#10;Fourth level&#10;Fifth level" id="390" name="Google Shape;390;p20"/>
          <p:cNvSpPr txBox="1"/>
          <p:nvPr>
            <p:ph idx="1" type="body"/>
          </p:nvPr>
        </p:nvSpPr>
        <p:spPr>
          <a:xfrm>
            <a:off x="762000" y="2197576"/>
            <a:ext cx="7772400" cy="38886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</a:pPr>
            <a:r>
              <a:rPr lang="en-US">
                <a:latin typeface="Tahoma"/>
                <a:ea typeface="Tahoma"/>
                <a:cs typeface="Tahoma"/>
                <a:sym typeface="Tahoma"/>
              </a:rPr>
              <a:t>3- or 4-level (C++, Java, C#)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</a:pPr>
            <a:r>
              <a:rPr b="1" lang="en-US">
                <a:latin typeface="Courier New"/>
                <a:ea typeface="Courier New"/>
                <a:cs typeface="Courier New"/>
                <a:sym typeface="Courier New"/>
              </a:rPr>
              <a:t>public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</a:pPr>
            <a:r>
              <a:rPr b="1" lang="en-US">
                <a:latin typeface="Courier New"/>
                <a:ea typeface="Courier New"/>
                <a:cs typeface="Courier New"/>
                <a:sym typeface="Courier New"/>
              </a:rPr>
              <a:t>protected</a:t>
            </a:r>
            <a:r>
              <a:rPr lang="en-US">
                <a:latin typeface="Tahoma"/>
                <a:ea typeface="Tahoma"/>
                <a:cs typeface="Tahoma"/>
                <a:sym typeface="Tahoma"/>
              </a:rPr>
              <a:t> (loophole!)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</a:pPr>
            <a:r>
              <a:rPr b="1" lang="en-US">
                <a:latin typeface="Courier New"/>
                <a:ea typeface="Courier New"/>
                <a:cs typeface="Courier New"/>
                <a:sym typeface="Courier New"/>
              </a:rPr>
              <a:t>private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</a:pPr>
            <a:r>
              <a:rPr b="1" lang="en-US">
                <a:latin typeface="Courier New"/>
                <a:ea typeface="Courier New"/>
                <a:cs typeface="Courier New"/>
                <a:sym typeface="Courier New"/>
              </a:rPr>
              <a:t>internal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</a:pPr>
            <a:r>
              <a:rPr lang="en-US">
                <a:latin typeface="Tahoma"/>
                <a:ea typeface="Tahoma"/>
                <a:cs typeface="Tahoma"/>
                <a:sym typeface="Tahoma"/>
              </a:rPr>
              <a:t>by class (Eiffel)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</a:pPr>
            <a:r>
              <a:rPr b="1" lang="en-US">
                <a:latin typeface="Courier New"/>
                <a:ea typeface="Courier New"/>
                <a:cs typeface="Courier New"/>
                <a:sym typeface="Courier New"/>
              </a:rPr>
              <a:t>feature </a:t>
            </a:r>
            <a:r>
              <a:rPr lang="en-US" sz="1800">
                <a:latin typeface="Tahoma"/>
                <a:ea typeface="Tahoma"/>
                <a:cs typeface="Tahoma"/>
                <a:sym typeface="Tahoma"/>
              </a:rPr>
              <a:t>– public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</a:pPr>
            <a:r>
              <a:rPr b="1" lang="en-US">
                <a:latin typeface="Courier New"/>
                <a:ea typeface="Courier New"/>
                <a:cs typeface="Courier New"/>
                <a:sym typeface="Courier New"/>
              </a:rPr>
              <a:t>feature { SOME_CLASS }</a:t>
            </a:r>
            <a:br>
              <a:rPr b="1" lang="en-US"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-US">
                <a:latin typeface="Tahoma"/>
                <a:ea typeface="Tahoma"/>
                <a:cs typeface="Tahoma"/>
                <a:sym typeface="Tahoma"/>
              </a:rPr>
              <a:t>– </a:t>
            </a:r>
            <a:r>
              <a:rPr lang="en-US" sz="1600">
                <a:latin typeface="Tahoma"/>
                <a:ea typeface="Tahoma"/>
                <a:cs typeface="Tahoma"/>
                <a:sym typeface="Tahoma"/>
              </a:rPr>
              <a:t>restricted to SOME_CLASS &amp; descendants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</a:pPr>
            <a:r>
              <a:rPr b="1" lang="en-US">
                <a:latin typeface="Courier New"/>
                <a:ea typeface="Courier New"/>
                <a:cs typeface="Courier New"/>
                <a:sym typeface="Courier New"/>
              </a:rPr>
              <a:t>feature { NONE }</a:t>
            </a:r>
            <a:br>
              <a:rPr b="1" lang="en-US"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-US">
                <a:latin typeface="Tahoma"/>
                <a:ea typeface="Tahoma"/>
                <a:cs typeface="Tahoma"/>
                <a:sym typeface="Tahoma"/>
              </a:rPr>
              <a:t>– </a:t>
            </a:r>
            <a:r>
              <a:rPr lang="en-US" sz="1600">
                <a:latin typeface="Tahoma"/>
                <a:ea typeface="Tahoma"/>
                <a:cs typeface="Tahoma"/>
                <a:sym typeface="Tahoma"/>
              </a:rPr>
              <a:t>accessible only to this class's routines (not via </a:t>
            </a:r>
            <a:r>
              <a:rPr b="1" lang="en-US" sz="1600">
                <a:latin typeface="Courier New"/>
                <a:ea typeface="Courier New"/>
                <a:cs typeface="Courier New"/>
                <a:sym typeface="Courier New"/>
              </a:rPr>
              <a:t>Current</a:t>
            </a:r>
            <a:r>
              <a:rPr lang="en-US" sz="1600">
                <a:latin typeface="Tahoma"/>
                <a:ea typeface="Tahoma"/>
                <a:cs typeface="Tahoma"/>
                <a:sym typeface="Tahoma"/>
              </a:rPr>
              <a:t>.)</a:t>
            </a:r>
            <a:endParaRPr/>
          </a:p>
        </p:txBody>
      </p:sp>
      <p:sp>
        <p:nvSpPr>
          <p:cNvPr id="391" name="Google Shape;391;p20"/>
          <p:cNvSpPr txBox="1"/>
          <p:nvPr>
            <p:ph idx="10" type="dt"/>
          </p:nvPr>
        </p:nvSpPr>
        <p:spPr>
          <a:xfrm>
            <a:off x="5367881" y="5936188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rPr>
              <a:t>4/21/21</a:t>
            </a:r>
            <a:endParaRPr sz="1400">
              <a:solidFill>
                <a:schemeClr val="lt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92" name="Google Shape;392;p20"/>
          <p:cNvSpPr txBox="1"/>
          <p:nvPr>
            <p:ph idx="12" type="sldNum"/>
          </p:nvPr>
        </p:nvSpPr>
        <p:spPr>
          <a:xfrm>
            <a:off x="7848600" y="753228"/>
            <a:ext cx="1157674" cy="109078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sz="1400">
              <a:solidFill>
                <a:schemeClr val="lt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93" name="Google Shape;393;p20"/>
          <p:cNvSpPr txBox="1"/>
          <p:nvPr/>
        </p:nvSpPr>
        <p:spPr>
          <a:xfrm>
            <a:off x="5105400" y="2819400"/>
            <a:ext cx="1261884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270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ourier New"/>
              <a:buChar char="•"/>
            </a:pPr>
            <a:r>
              <a:rPr b="1" lang="en-US" sz="20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friend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21"/>
          <p:cNvSpPr txBox="1"/>
          <p:nvPr>
            <p:ph type="title"/>
          </p:nvPr>
        </p:nvSpPr>
        <p:spPr>
          <a:xfrm>
            <a:off x="531639" y="753228"/>
            <a:ext cx="6896534" cy="1080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ahoma"/>
              <a:buNone/>
            </a:pPr>
            <a:r>
              <a:rPr lang="en-US">
                <a:latin typeface="Tahoma"/>
                <a:ea typeface="Tahoma"/>
                <a:cs typeface="Tahoma"/>
                <a:sym typeface="Tahoma"/>
              </a:rPr>
              <a:t>Side Trip</a:t>
            </a:r>
            <a:br>
              <a:rPr lang="en-US">
                <a:latin typeface="Tahoma"/>
                <a:ea typeface="Tahoma"/>
                <a:cs typeface="Tahoma"/>
                <a:sym typeface="Tahoma"/>
              </a:rPr>
            </a:br>
            <a:r>
              <a:rPr lang="en-US">
                <a:latin typeface="Tahoma"/>
                <a:ea typeface="Tahoma"/>
                <a:cs typeface="Tahoma"/>
                <a:sym typeface="Tahoma"/>
              </a:rPr>
              <a:t>Nested Classes, in Java</a:t>
            </a:r>
            <a:endParaRPr/>
          </a:p>
        </p:txBody>
      </p:sp>
      <p:sp>
        <p:nvSpPr>
          <p:cNvPr descr="Rectangle: Click to edit Master text styles&#10;Second level&#10;Third level&#10;Fourth level&#10;Fifth level" id="399" name="Google Shape;399;p21"/>
          <p:cNvSpPr txBox="1"/>
          <p:nvPr>
            <p:ph idx="1" type="body"/>
          </p:nvPr>
        </p:nvSpPr>
        <p:spPr>
          <a:xfrm>
            <a:off x="814331" y="4737499"/>
            <a:ext cx="3810000" cy="129709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</a:pPr>
            <a:r>
              <a:rPr lang="en-US">
                <a:latin typeface="Tahoma"/>
                <a:ea typeface="Tahoma"/>
                <a:cs typeface="Tahoma"/>
                <a:sym typeface="Tahoma"/>
              </a:rPr>
              <a:t>Instance of nested class requires instance of outer class.</a:t>
            </a:r>
            <a:endParaRPr/>
          </a:p>
        </p:txBody>
      </p:sp>
      <p:sp>
        <p:nvSpPr>
          <p:cNvPr id="400" name="Google Shape;400;p21"/>
          <p:cNvSpPr txBox="1"/>
          <p:nvPr>
            <p:ph idx="10" type="dt"/>
          </p:nvPr>
        </p:nvSpPr>
        <p:spPr>
          <a:xfrm>
            <a:off x="5367881" y="5936188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rPr>
              <a:t>4/21/21</a:t>
            </a:r>
            <a:endParaRPr sz="1400">
              <a:solidFill>
                <a:schemeClr val="lt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401" name="Google Shape;401;p21"/>
          <p:cNvSpPr txBox="1"/>
          <p:nvPr>
            <p:ph idx="12" type="sldNum"/>
          </p:nvPr>
        </p:nvSpPr>
        <p:spPr>
          <a:xfrm>
            <a:off x="7848600" y="753228"/>
            <a:ext cx="1157674" cy="109078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sz="1400">
              <a:solidFill>
                <a:schemeClr val="lt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402" name="Google Shape;402;p21"/>
          <p:cNvSpPr txBox="1"/>
          <p:nvPr/>
        </p:nvSpPr>
        <p:spPr>
          <a:xfrm>
            <a:off x="751468" y="2039676"/>
            <a:ext cx="2949846" cy="26776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FACEBE"/>
                </a:solidFill>
                <a:latin typeface="Courier New"/>
                <a:ea typeface="Courier New"/>
                <a:cs typeface="Courier New"/>
                <a:sym typeface="Courier New"/>
              </a:rPr>
              <a:t>class Base {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FACEBE"/>
                </a:solidFill>
                <a:latin typeface="Courier New"/>
                <a:ea typeface="Courier New"/>
                <a:cs typeface="Courier New"/>
                <a:sym typeface="Courier New"/>
              </a:rPr>
              <a:t>  boolean c;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accent2"/>
                </a:solidFill>
                <a:latin typeface="Courier New"/>
                <a:ea typeface="Courier New"/>
                <a:cs typeface="Courier New"/>
                <a:sym typeface="Courier New"/>
              </a:rPr>
              <a:t>  class Inner {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accent2"/>
                </a:solidFill>
                <a:latin typeface="Courier New"/>
                <a:ea typeface="Courier New"/>
                <a:cs typeface="Courier New"/>
                <a:sym typeface="Courier New"/>
              </a:rPr>
              <a:t>    int a;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accent2"/>
                </a:solidFill>
                <a:latin typeface="Courier New"/>
                <a:ea typeface="Courier New"/>
                <a:cs typeface="Courier New"/>
                <a:sym typeface="Courier New"/>
              </a:rPr>
              <a:t>    float b;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accent2"/>
                </a:solidFill>
                <a:latin typeface="Courier New"/>
                <a:ea typeface="Courier New"/>
                <a:cs typeface="Courier New"/>
                <a:sym typeface="Courier New"/>
              </a:rPr>
              <a:t>  }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FACEBE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/>
          </a:p>
        </p:txBody>
      </p:sp>
      <p:sp>
        <p:nvSpPr>
          <p:cNvPr id="403" name="Google Shape;403;p21"/>
          <p:cNvSpPr/>
          <p:nvPr/>
        </p:nvSpPr>
        <p:spPr>
          <a:xfrm>
            <a:off x="5181600" y="3352800"/>
            <a:ext cx="1219200" cy="304800"/>
          </a:xfrm>
          <a:prstGeom prst="rect">
            <a:avLst/>
          </a:prstGeom>
          <a:solidFill>
            <a:schemeClr val="accent2"/>
          </a:solidFill>
          <a:ln cap="flat" cmpd="sng" w="952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rPr>
              <a:t>6</a:t>
            </a:r>
            <a:endParaRPr/>
          </a:p>
        </p:txBody>
      </p:sp>
      <p:sp>
        <p:nvSpPr>
          <p:cNvPr id="404" name="Google Shape;404;p21"/>
          <p:cNvSpPr/>
          <p:nvPr/>
        </p:nvSpPr>
        <p:spPr>
          <a:xfrm>
            <a:off x="5181600" y="3657600"/>
            <a:ext cx="1219200" cy="304800"/>
          </a:xfrm>
          <a:prstGeom prst="rect">
            <a:avLst/>
          </a:prstGeom>
          <a:solidFill>
            <a:schemeClr val="accent2"/>
          </a:solidFill>
          <a:ln cap="flat" cmpd="sng" w="952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rPr>
              <a:t>0.0932</a:t>
            </a:r>
            <a:endParaRPr/>
          </a:p>
        </p:txBody>
      </p:sp>
      <p:sp>
        <p:nvSpPr>
          <p:cNvPr id="405" name="Google Shape;405;p21"/>
          <p:cNvSpPr/>
          <p:nvPr/>
        </p:nvSpPr>
        <p:spPr>
          <a:xfrm>
            <a:off x="5181600" y="3962400"/>
            <a:ext cx="1219200" cy="304800"/>
          </a:xfrm>
          <a:prstGeom prst="rect">
            <a:avLst/>
          </a:prstGeom>
          <a:solidFill>
            <a:schemeClr val="accent2"/>
          </a:solidFill>
          <a:ln cap="flat" cmpd="sng" w="952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lt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406" name="Google Shape;406;p21"/>
          <p:cNvSpPr/>
          <p:nvPr/>
        </p:nvSpPr>
        <p:spPr>
          <a:xfrm>
            <a:off x="7315200" y="3048000"/>
            <a:ext cx="1219200" cy="304800"/>
          </a:xfrm>
          <a:prstGeom prst="rect">
            <a:avLst/>
          </a:prstGeom>
          <a:solidFill>
            <a:srgbClr val="FACEBE"/>
          </a:solidFill>
          <a:ln cap="flat" cmpd="sng" w="952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lt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407" name="Google Shape;407;p21"/>
          <p:cNvSpPr txBox="1"/>
          <p:nvPr/>
        </p:nvSpPr>
        <p:spPr>
          <a:xfrm>
            <a:off x="4953000" y="3352800"/>
            <a:ext cx="306388" cy="336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a</a:t>
            </a:r>
            <a:endParaRPr/>
          </a:p>
        </p:txBody>
      </p:sp>
      <p:sp>
        <p:nvSpPr>
          <p:cNvPr id="408" name="Google Shape;408;p21"/>
          <p:cNvSpPr txBox="1"/>
          <p:nvPr/>
        </p:nvSpPr>
        <p:spPr>
          <a:xfrm>
            <a:off x="4953000" y="3657600"/>
            <a:ext cx="306388" cy="336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b</a:t>
            </a:r>
            <a:endParaRPr/>
          </a:p>
        </p:txBody>
      </p:sp>
      <p:sp>
        <p:nvSpPr>
          <p:cNvPr id="409" name="Google Shape;409;p21"/>
          <p:cNvSpPr txBox="1"/>
          <p:nvPr/>
        </p:nvSpPr>
        <p:spPr>
          <a:xfrm>
            <a:off x="3965428" y="3962400"/>
            <a:ext cx="1295547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Base.this</a:t>
            </a:r>
            <a:endParaRPr b="1" sz="1600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410" name="Google Shape;410;p21"/>
          <p:cNvSpPr/>
          <p:nvPr/>
        </p:nvSpPr>
        <p:spPr>
          <a:xfrm>
            <a:off x="5867400" y="3352800"/>
            <a:ext cx="1447800" cy="838200"/>
          </a:xfrm>
          <a:custGeom>
            <a:rect b="b" l="l" r="r" t="t"/>
            <a:pathLst>
              <a:path extrusionOk="0" h="672" w="912">
                <a:moveTo>
                  <a:pt x="0" y="672"/>
                </a:moveTo>
                <a:cubicBezTo>
                  <a:pt x="264" y="668"/>
                  <a:pt x="528" y="664"/>
                  <a:pt x="624" y="576"/>
                </a:cubicBezTo>
                <a:cubicBezTo>
                  <a:pt x="720" y="488"/>
                  <a:pt x="528" y="240"/>
                  <a:pt x="576" y="144"/>
                </a:cubicBezTo>
                <a:cubicBezTo>
                  <a:pt x="624" y="48"/>
                  <a:pt x="856" y="24"/>
                  <a:pt x="912" y="0"/>
                </a:cubicBezTo>
              </a:path>
            </a:pathLst>
          </a:cu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lt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411" name="Google Shape;411;p21"/>
          <p:cNvSpPr txBox="1"/>
          <p:nvPr/>
        </p:nvSpPr>
        <p:spPr>
          <a:xfrm>
            <a:off x="4047596" y="3378504"/>
            <a:ext cx="678391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this</a:t>
            </a:r>
            <a:endParaRPr/>
          </a:p>
        </p:txBody>
      </p:sp>
      <p:sp>
        <p:nvSpPr>
          <p:cNvPr id="412" name="Google Shape;412;p21"/>
          <p:cNvSpPr txBox="1"/>
          <p:nvPr/>
        </p:nvSpPr>
        <p:spPr>
          <a:xfrm>
            <a:off x="6976672" y="3016250"/>
            <a:ext cx="308098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c</a:t>
            </a:r>
            <a:endParaRPr/>
          </a:p>
        </p:txBody>
      </p:sp>
      <p:sp>
        <p:nvSpPr>
          <p:cNvPr id="413" name="Google Shape;413;p21"/>
          <p:cNvSpPr txBox="1"/>
          <p:nvPr/>
        </p:nvSpPr>
        <p:spPr>
          <a:xfrm>
            <a:off x="7302259" y="2394987"/>
            <a:ext cx="922047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Base</a:t>
            </a:r>
            <a:endParaRPr b="1" sz="2400">
              <a:solidFill>
                <a:schemeClr val="accent2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414" name="Google Shape;414;p21"/>
          <p:cNvSpPr txBox="1"/>
          <p:nvPr/>
        </p:nvSpPr>
        <p:spPr>
          <a:xfrm>
            <a:off x="5181600" y="2812703"/>
            <a:ext cx="1106393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accent2"/>
                </a:solidFill>
                <a:latin typeface="Courier New"/>
                <a:ea typeface="Courier New"/>
                <a:cs typeface="Courier New"/>
                <a:sym typeface="Courier New"/>
              </a:rPr>
              <a:t>Inner</a:t>
            </a:r>
            <a:endParaRPr b="1" sz="2400">
              <a:solidFill>
                <a:schemeClr val="accent2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p22"/>
          <p:cNvSpPr txBox="1"/>
          <p:nvPr>
            <p:ph type="title"/>
          </p:nvPr>
        </p:nvSpPr>
        <p:spPr>
          <a:xfrm>
            <a:off x="531639" y="753228"/>
            <a:ext cx="6896534" cy="1080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ahoma"/>
              <a:buNone/>
            </a:pPr>
            <a:r>
              <a:rPr lang="en-US">
                <a:latin typeface="Tahoma"/>
                <a:ea typeface="Tahoma"/>
                <a:cs typeface="Tahoma"/>
                <a:sym typeface="Tahoma"/>
              </a:rPr>
              <a:t>Inheritance</a:t>
            </a:r>
            <a:endParaRPr/>
          </a:p>
        </p:txBody>
      </p:sp>
      <p:sp>
        <p:nvSpPr>
          <p:cNvPr descr="Rectangle: Click to edit Master text styles&#10;Second level&#10;Third level&#10;Fourth level&#10;Fifth level" id="420" name="Google Shape;420;p22"/>
          <p:cNvSpPr txBox="1"/>
          <p:nvPr>
            <p:ph idx="1" type="body"/>
          </p:nvPr>
        </p:nvSpPr>
        <p:spPr>
          <a:xfrm>
            <a:off x="132797" y="2025120"/>
            <a:ext cx="3810000" cy="233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</a:pPr>
            <a:r>
              <a:rPr lang="en-US">
                <a:latin typeface="Tahoma"/>
                <a:ea typeface="Tahoma"/>
                <a:cs typeface="Tahoma"/>
                <a:sym typeface="Tahoma"/>
              </a:rPr>
              <a:t>Structure of subclass is appended to structure of superclass.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</a:pPr>
            <a:r>
              <a:rPr lang="en-US">
                <a:latin typeface="Tahoma"/>
                <a:ea typeface="Tahoma"/>
                <a:cs typeface="Tahoma"/>
                <a:sym typeface="Tahoma"/>
              </a:rPr>
              <a:t>Offsets to fields in new structure are easy to compute:</a:t>
            </a:r>
            <a:endParaRPr/>
          </a:p>
        </p:txBody>
      </p:sp>
      <p:sp>
        <p:nvSpPr>
          <p:cNvPr id="421" name="Google Shape;421;p22"/>
          <p:cNvSpPr txBox="1"/>
          <p:nvPr>
            <p:ph idx="10" type="dt"/>
          </p:nvPr>
        </p:nvSpPr>
        <p:spPr>
          <a:xfrm>
            <a:off x="5367881" y="5936188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rPr>
              <a:t>4/21/21</a:t>
            </a:r>
            <a:endParaRPr sz="1400">
              <a:solidFill>
                <a:schemeClr val="lt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422" name="Google Shape;422;p22"/>
          <p:cNvSpPr txBox="1"/>
          <p:nvPr>
            <p:ph idx="12" type="sldNum"/>
          </p:nvPr>
        </p:nvSpPr>
        <p:spPr>
          <a:xfrm>
            <a:off x="7848600" y="753228"/>
            <a:ext cx="1157674" cy="109078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sz="1400">
              <a:solidFill>
                <a:schemeClr val="lt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423" name="Google Shape;423;p22"/>
          <p:cNvSpPr txBox="1"/>
          <p:nvPr/>
        </p:nvSpPr>
        <p:spPr>
          <a:xfrm>
            <a:off x="1894470" y="4419832"/>
            <a:ext cx="3079689" cy="20313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FEE4DE"/>
                </a:solidFill>
                <a:latin typeface="Courier New"/>
                <a:ea typeface="Courier New"/>
                <a:cs typeface="Courier New"/>
                <a:sym typeface="Courier New"/>
              </a:rPr>
              <a:t>class Base {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FEE4DE"/>
                </a:solidFill>
                <a:latin typeface="Courier New"/>
                <a:ea typeface="Courier New"/>
                <a:cs typeface="Courier New"/>
                <a:sym typeface="Courier New"/>
              </a:rPr>
              <a:t>  int a;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FEE4DE"/>
                </a:solidFill>
                <a:latin typeface="Courier New"/>
                <a:ea typeface="Courier New"/>
                <a:cs typeface="Courier New"/>
                <a:sym typeface="Courier New"/>
              </a:rPr>
              <a:t>  float b;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FEE4DE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accent2"/>
                </a:solidFill>
                <a:latin typeface="Courier New"/>
                <a:ea typeface="Courier New"/>
                <a:cs typeface="Courier New"/>
                <a:sym typeface="Courier New"/>
              </a:rPr>
              <a:t>class Derived: Base {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accent2"/>
                </a:solidFill>
                <a:latin typeface="Courier New"/>
                <a:ea typeface="Courier New"/>
                <a:cs typeface="Courier New"/>
                <a:sym typeface="Courier New"/>
              </a:rPr>
              <a:t>  Base *parent;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accent2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/>
          </a:p>
        </p:txBody>
      </p:sp>
      <p:sp>
        <p:nvSpPr>
          <p:cNvPr id="424" name="Google Shape;424;p22"/>
          <p:cNvSpPr/>
          <p:nvPr/>
        </p:nvSpPr>
        <p:spPr>
          <a:xfrm>
            <a:off x="5150276" y="3842016"/>
            <a:ext cx="1219200" cy="3048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rPr>
              <a:t>6</a:t>
            </a:r>
            <a:endParaRPr/>
          </a:p>
        </p:txBody>
      </p:sp>
      <p:sp>
        <p:nvSpPr>
          <p:cNvPr id="425" name="Google Shape;425;p22"/>
          <p:cNvSpPr/>
          <p:nvPr/>
        </p:nvSpPr>
        <p:spPr>
          <a:xfrm>
            <a:off x="5150276" y="4146816"/>
            <a:ext cx="1219200" cy="3048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rPr>
              <a:t>0.0932</a:t>
            </a:r>
            <a:endParaRPr/>
          </a:p>
        </p:txBody>
      </p:sp>
      <p:sp>
        <p:nvSpPr>
          <p:cNvPr id="426" name="Google Shape;426;p22"/>
          <p:cNvSpPr/>
          <p:nvPr/>
        </p:nvSpPr>
        <p:spPr>
          <a:xfrm>
            <a:off x="5150276" y="4451616"/>
            <a:ext cx="1219200" cy="304800"/>
          </a:xfrm>
          <a:prstGeom prst="rect">
            <a:avLst/>
          </a:prstGeom>
          <a:solidFill>
            <a:schemeClr val="accent2"/>
          </a:solidFill>
          <a:ln cap="flat" cmpd="sng" w="952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lt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427" name="Google Shape;427;p22"/>
          <p:cNvSpPr/>
          <p:nvPr/>
        </p:nvSpPr>
        <p:spPr>
          <a:xfrm>
            <a:off x="7315200" y="3048000"/>
            <a:ext cx="1219200" cy="3048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lt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428" name="Google Shape;428;p22"/>
          <p:cNvSpPr/>
          <p:nvPr/>
        </p:nvSpPr>
        <p:spPr>
          <a:xfrm>
            <a:off x="7315200" y="3352800"/>
            <a:ext cx="1219200" cy="3048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lt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429" name="Google Shape;429;p22"/>
          <p:cNvSpPr/>
          <p:nvPr/>
        </p:nvSpPr>
        <p:spPr>
          <a:xfrm>
            <a:off x="7315200" y="3657600"/>
            <a:ext cx="1219200" cy="304800"/>
          </a:xfrm>
          <a:prstGeom prst="rect">
            <a:avLst/>
          </a:prstGeom>
          <a:solidFill>
            <a:schemeClr val="accent2">
              <a:alpha val="49803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lt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430" name="Google Shape;430;p22"/>
          <p:cNvSpPr txBox="1"/>
          <p:nvPr/>
        </p:nvSpPr>
        <p:spPr>
          <a:xfrm>
            <a:off x="4921676" y="3842016"/>
            <a:ext cx="306388" cy="336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a</a:t>
            </a:r>
            <a:endParaRPr/>
          </a:p>
        </p:txBody>
      </p:sp>
      <p:sp>
        <p:nvSpPr>
          <p:cNvPr id="431" name="Google Shape;431;p22"/>
          <p:cNvSpPr txBox="1"/>
          <p:nvPr/>
        </p:nvSpPr>
        <p:spPr>
          <a:xfrm>
            <a:off x="4921676" y="4146816"/>
            <a:ext cx="306388" cy="336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b</a:t>
            </a:r>
            <a:endParaRPr/>
          </a:p>
        </p:txBody>
      </p:sp>
      <p:sp>
        <p:nvSpPr>
          <p:cNvPr id="432" name="Google Shape;432;p22"/>
          <p:cNvSpPr txBox="1"/>
          <p:nvPr/>
        </p:nvSpPr>
        <p:spPr>
          <a:xfrm>
            <a:off x="4312076" y="4451616"/>
            <a:ext cx="917575" cy="336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parent</a:t>
            </a:r>
            <a:endParaRPr/>
          </a:p>
        </p:txBody>
      </p:sp>
      <p:sp>
        <p:nvSpPr>
          <p:cNvPr id="433" name="Google Shape;433;p22"/>
          <p:cNvSpPr/>
          <p:nvPr/>
        </p:nvSpPr>
        <p:spPr>
          <a:xfrm>
            <a:off x="5837664" y="3124200"/>
            <a:ext cx="1477536" cy="1447800"/>
          </a:xfrm>
          <a:custGeom>
            <a:rect b="b" l="l" r="r" t="t"/>
            <a:pathLst>
              <a:path extrusionOk="0" h="672" w="912">
                <a:moveTo>
                  <a:pt x="0" y="672"/>
                </a:moveTo>
                <a:cubicBezTo>
                  <a:pt x="264" y="668"/>
                  <a:pt x="528" y="664"/>
                  <a:pt x="624" y="576"/>
                </a:cubicBezTo>
                <a:cubicBezTo>
                  <a:pt x="720" y="488"/>
                  <a:pt x="528" y="240"/>
                  <a:pt x="576" y="144"/>
                </a:cubicBezTo>
                <a:cubicBezTo>
                  <a:pt x="624" y="48"/>
                  <a:pt x="856" y="24"/>
                  <a:pt x="912" y="0"/>
                </a:cubicBezTo>
              </a:path>
            </a:pathLst>
          </a:cu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lt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434" name="Google Shape;434;p22"/>
          <p:cNvSpPr txBox="1"/>
          <p:nvPr/>
        </p:nvSpPr>
        <p:spPr>
          <a:xfrm>
            <a:off x="5105400" y="5105400"/>
            <a:ext cx="2981325" cy="9159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a</a:t>
            </a:r>
            <a:r>
              <a:rPr lang="en-US" sz="1800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rPr>
              <a:t>: @objectPointer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b</a:t>
            </a:r>
            <a:r>
              <a:rPr lang="en-US" sz="1800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rPr>
              <a:t>: @objectPointer+4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parent</a:t>
            </a:r>
            <a:r>
              <a:rPr lang="en-US" sz="1800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rPr>
              <a:t>: @objectPointer+8</a:t>
            </a:r>
            <a:endParaRPr/>
          </a:p>
        </p:txBody>
      </p:sp>
      <p:sp>
        <p:nvSpPr>
          <p:cNvPr id="435" name="Google Shape;435;p22"/>
          <p:cNvSpPr/>
          <p:nvPr/>
        </p:nvSpPr>
        <p:spPr>
          <a:xfrm>
            <a:off x="6934200" y="2743200"/>
            <a:ext cx="1981200" cy="1447800"/>
          </a:xfrm>
          <a:prstGeom prst="ellipse">
            <a:avLst/>
          </a:prstGeom>
          <a:solidFill>
            <a:srgbClr val="FCE8CF">
              <a:alpha val="17647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lt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436" name="Google Shape;436;p22"/>
          <p:cNvSpPr txBox="1"/>
          <p:nvPr/>
        </p:nvSpPr>
        <p:spPr>
          <a:xfrm>
            <a:off x="5867603" y="2603868"/>
            <a:ext cx="1048685" cy="9541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rPr>
              <a:t>could be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rPr>
              <a:t>instance of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Base</a:t>
            </a:r>
            <a:r>
              <a:rPr lang="en-US" sz="1400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rPr>
              <a:t> or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Derived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0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p23"/>
          <p:cNvSpPr txBox="1"/>
          <p:nvPr>
            <p:ph type="title"/>
          </p:nvPr>
        </p:nvSpPr>
        <p:spPr>
          <a:xfrm>
            <a:off x="531639" y="753228"/>
            <a:ext cx="6896534" cy="1080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ahoma"/>
              <a:buNone/>
            </a:pPr>
            <a:r>
              <a:rPr lang="en-US">
                <a:latin typeface="Tahoma"/>
                <a:ea typeface="Tahoma"/>
                <a:cs typeface="Tahoma"/>
                <a:sym typeface="Tahoma"/>
              </a:rPr>
              <a:t>Polymorphism</a:t>
            </a:r>
            <a:endParaRPr/>
          </a:p>
        </p:txBody>
      </p:sp>
      <p:sp>
        <p:nvSpPr>
          <p:cNvPr descr="Rectangle: Click to edit Master text styles&#10;Second level&#10;Third level&#10;Fourth level&#10;Fifth level" id="442" name="Google Shape;442;p23"/>
          <p:cNvSpPr txBox="1"/>
          <p:nvPr>
            <p:ph idx="1" type="body"/>
          </p:nvPr>
        </p:nvSpPr>
        <p:spPr>
          <a:xfrm>
            <a:off x="533400" y="2336873"/>
            <a:ext cx="6887389" cy="35993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</a:pPr>
            <a:r>
              <a:rPr lang="en-US">
                <a:latin typeface="Tahoma"/>
                <a:ea typeface="Tahoma"/>
                <a:cs typeface="Tahoma"/>
                <a:sym typeface="Tahoma"/>
              </a:rPr>
              <a:t>Two approaches:</a:t>
            </a:r>
            <a:endParaRPr/>
          </a:p>
          <a:p>
            <a:pPr indent="-762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</a:pPr>
            <a:r>
              <a:t/>
            </a:r>
            <a:endParaRPr>
              <a:latin typeface="Tahoma"/>
              <a:ea typeface="Tahoma"/>
              <a:cs typeface="Tahoma"/>
              <a:sym typeface="Tahoma"/>
            </a:endParaRPr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</a:pPr>
            <a:r>
              <a:rPr lang="en-US" sz="2400">
                <a:latin typeface="Tahoma"/>
                <a:ea typeface="Tahoma"/>
                <a:cs typeface="Tahoma"/>
                <a:sym typeface="Tahoma"/>
              </a:rPr>
              <a:t>Virtual function table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</a:pPr>
            <a:r>
              <a:rPr lang="en-US" sz="2400">
                <a:latin typeface="Tahoma"/>
                <a:ea typeface="Tahoma"/>
                <a:cs typeface="Tahoma"/>
                <a:sym typeface="Tahoma"/>
              </a:rPr>
              <a:t>Class objects</a:t>
            </a:r>
            <a:endParaRPr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443" name="Google Shape;443;p23"/>
          <p:cNvSpPr txBox="1"/>
          <p:nvPr>
            <p:ph idx="10" type="dt"/>
          </p:nvPr>
        </p:nvSpPr>
        <p:spPr>
          <a:xfrm>
            <a:off x="5367881" y="5936188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rPr>
              <a:t>4/21/21</a:t>
            </a:r>
            <a:endParaRPr sz="1400">
              <a:solidFill>
                <a:schemeClr val="lt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444" name="Google Shape;444;p23"/>
          <p:cNvSpPr txBox="1"/>
          <p:nvPr>
            <p:ph idx="12" type="sldNum"/>
          </p:nvPr>
        </p:nvSpPr>
        <p:spPr>
          <a:xfrm>
            <a:off x="7848600" y="753228"/>
            <a:ext cx="1157674" cy="109078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sz="1400">
              <a:solidFill>
                <a:schemeClr val="lt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8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p24"/>
          <p:cNvSpPr txBox="1"/>
          <p:nvPr>
            <p:ph type="title"/>
          </p:nvPr>
        </p:nvSpPr>
        <p:spPr>
          <a:xfrm>
            <a:off x="531639" y="753228"/>
            <a:ext cx="6896534" cy="1080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ahoma"/>
              <a:buNone/>
            </a:pPr>
            <a:r>
              <a:rPr lang="en-US">
                <a:latin typeface="Tahoma"/>
                <a:ea typeface="Tahoma"/>
                <a:cs typeface="Tahoma"/>
                <a:sym typeface="Tahoma"/>
              </a:rPr>
              <a:t>Function Table</a:t>
            </a:r>
            <a:endParaRPr/>
          </a:p>
        </p:txBody>
      </p:sp>
      <p:sp>
        <p:nvSpPr>
          <p:cNvPr id="450" name="Google Shape;450;p24"/>
          <p:cNvSpPr txBox="1"/>
          <p:nvPr>
            <p:ph idx="10" type="dt"/>
          </p:nvPr>
        </p:nvSpPr>
        <p:spPr>
          <a:xfrm>
            <a:off x="5367881" y="5936188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rPr>
              <a:t>4/21/21</a:t>
            </a:r>
            <a:endParaRPr sz="1400">
              <a:solidFill>
                <a:schemeClr val="lt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451" name="Google Shape;451;p24"/>
          <p:cNvSpPr txBox="1"/>
          <p:nvPr>
            <p:ph idx="12" type="sldNum"/>
          </p:nvPr>
        </p:nvSpPr>
        <p:spPr>
          <a:xfrm>
            <a:off x="7848600" y="753228"/>
            <a:ext cx="1157674" cy="109078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sz="1400">
              <a:solidFill>
                <a:schemeClr val="lt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452" name="Google Shape;452;p24"/>
          <p:cNvSpPr/>
          <p:nvPr/>
        </p:nvSpPr>
        <p:spPr>
          <a:xfrm>
            <a:off x="6096000" y="2133600"/>
            <a:ext cx="1219200" cy="304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hlink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@Derived.f1</a:t>
            </a:r>
            <a:endParaRPr/>
          </a:p>
        </p:txBody>
      </p:sp>
      <p:sp>
        <p:nvSpPr>
          <p:cNvPr id="453" name="Google Shape;453;p24"/>
          <p:cNvSpPr/>
          <p:nvPr/>
        </p:nvSpPr>
        <p:spPr>
          <a:xfrm>
            <a:off x="6096000" y="2438400"/>
            <a:ext cx="1219200" cy="304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hlink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@Derived.f2</a:t>
            </a:r>
            <a:endParaRPr/>
          </a:p>
        </p:txBody>
      </p:sp>
      <p:sp>
        <p:nvSpPr>
          <p:cNvPr id="454" name="Google Shape;454;p24"/>
          <p:cNvSpPr txBox="1"/>
          <p:nvPr/>
        </p:nvSpPr>
        <p:spPr>
          <a:xfrm>
            <a:off x="248939" y="2037308"/>
            <a:ext cx="4063282" cy="41549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FACEBE"/>
                </a:solidFill>
                <a:latin typeface="Courier New"/>
                <a:ea typeface="Courier New"/>
                <a:cs typeface="Courier New"/>
                <a:sym typeface="Courier New"/>
              </a:rPr>
              <a:t>class Base {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FACEBE"/>
                </a:solidFill>
                <a:latin typeface="Courier New"/>
                <a:ea typeface="Courier New"/>
                <a:cs typeface="Courier New"/>
                <a:sym typeface="Courier New"/>
              </a:rPr>
              <a:t>  int a;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FACEBE"/>
                </a:solidFill>
                <a:latin typeface="Courier New"/>
                <a:ea typeface="Courier New"/>
                <a:cs typeface="Courier New"/>
                <a:sym typeface="Courier New"/>
              </a:rPr>
              <a:t>  float b;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FACEBE"/>
                </a:solidFill>
                <a:latin typeface="Courier New"/>
                <a:ea typeface="Courier New"/>
                <a:cs typeface="Courier New"/>
                <a:sym typeface="Courier New"/>
              </a:rPr>
              <a:t>  void f1(){…}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FACEBE"/>
                </a:solidFill>
                <a:latin typeface="Courier New"/>
                <a:ea typeface="Courier New"/>
                <a:cs typeface="Courier New"/>
                <a:sym typeface="Courier New"/>
              </a:rPr>
              <a:t>  void f2(){…}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FACEBE"/>
                </a:solidFill>
                <a:latin typeface="Courier New"/>
                <a:ea typeface="Courier New"/>
                <a:cs typeface="Courier New"/>
                <a:sym typeface="Courier New"/>
              </a:rPr>
              <a:t>  void f3(){…}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FACEBE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accent2"/>
                </a:solidFill>
                <a:latin typeface="Courier New"/>
                <a:ea typeface="Courier New"/>
                <a:cs typeface="Courier New"/>
                <a:sym typeface="Courier New"/>
              </a:rPr>
              <a:t>class Derived: Base {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accent2"/>
                </a:solidFill>
                <a:latin typeface="Courier New"/>
                <a:ea typeface="Courier New"/>
                <a:cs typeface="Courier New"/>
                <a:sym typeface="Courier New"/>
              </a:rPr>
              <a:t>  void f1(){…}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accent2"/>
                </a:solidFill>
                <a:latin typeface="Courier New"/>
                <a:ea typeface="Courier New"/>
                <a:cs typeface="Courier New"/>
                <a:sym typeface="Courier New"/>
              </a:rPr>
              <a:t>  void f2(){…}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accent2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/>
          </a:p>
        </p:txBody>
      </p:sp>
      <p:sp>
        <p:nvSpPr>
          <p:cNvPr id="455" name="Google Shape;455;p24"/>
          <p:cNvSpPr/>
          <p:nvPr/>
        </p:nvSpPr>
        <p:spPr>
          <a:xfrm>
            <a:off x="5943600" y="4419600"/>
            <a:ext cx="1219200" cy="304800"/>
          </a:xfrm>
          <a:prstGeom prst="rect">
            <a:avLst/>
          </a:prstGeom>
          <a:solidFill>
            <a:srgbClr val="FACEBE"/>
          </a:solidFill>
          <a:ln cap="flat" cmpd="sng" w="952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3A3838"/>
                </a:solidFill>
                <a:latin typeface="Tahoma"/>
                <a:ea typeface="Tahoma"/>
                <a:cs typeface="Tahoma"/>
                <a:sym typeface="Tahoma"/>
              </a:rPr>
              <a:t>6</a:t>
            </a:r>
            <a:endParaRPr/>
          </a:p>
        </p:txBody>
      </p:sp>
      <p:sp>
        <p:nvSpPr>
          <p:cNvPr id="456" name="Google Shape;456;p24"/>
          <p:cNvSpPr/>
          <p:nvPr/>
        </p:nvSpPr>
        <p:spPr>
          <a:xfrm>
            <a:off x="5943600" y="4724400"/>
            <a:ext cx="1219200" cy="304800"/>
          </a:xfrm>
          <a:prstGeom prst="rect">
            <a:avLst/>
          </a:prstGeom>
          <a:solidFill>
            <a:srgbClr val="FACEBE"/>
          </a:solidFill>
          <a:ln cap="flat" cmpd="sng" w="952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3A3838"/>
                </a:solidFill>
                <a:latin typeface="Tahoma"/>
                <a:ea typeface="Tahoma"/>
                <a:cs typeface="Tahoma"/>
                <a:sym typeface="Tahoma"/>
              </a:rPr>
              <a:t>0.0932</a:t>
            </a:r>
            <a:endParaRPr/>
          </a:p>
        </p:txBody>
      </p:sp>
      <p:sp>
        <p:nvSpPr>
          <p:cNvPr id="457" name="Google Shape;457;p24"/>
          <p:cNvSpPr txBox="1"/>
          <p:nvPr/>
        </p:nvSpPr>
        <p:spPr>
          <a:xfrm>
            <a:off x="5715000" y="4419600"/>
            <a:ext cx="306388" cy="336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a</a:t>
            </a:r>
            <a:endParaRPr/>
          </a:p>
        </p:txBody>
      </p:sp>
      <p:sp>
        <p:nvSpPr>
          <p:cNvPr id="458" name="Google Shape;458;p24"/>
          <p:cNvSpPr txBox="1"/>
          <p:nvPr/>
        </p:nvSpPr>
        <p:spPr>
          <a:xfrm>
            <a:off x="5715000" y="4724400"/>
            <a:ext cx="306388" cy="336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b</a:t>
            </a:r>
            <a:endParaRPr/>
          </a:p>
        </p:txBody>
      </p:sp>
      <p:sp>
        <p:nvSpPr>
          <p:cNvPr id="459" name="Google Shape;459;p24"/>
          <p:cNvSpPr/>
          <p:nvPr/>
        </p:nvSpPr>
        <p:spPr>
          <a:xfrm>
            <a:off x="5943600" y="4114800"/>
            <a:ext cx="1219200" cy="304800"/>
          </a:xfrm>
          <a:prstGeom prst="rect">
            <a:avLst/>
          </a:prstGeom>
          <a:solidFill>
            <a:srgbClr val="FACEBE"/>
          </a:solidFill>
          <a:ln cap="flat" cmpd="sng" w="952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3A3838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460" name="Google Shape;460;p24"/>
          <p:cNvSpPr txBox="1"/>
          <p:nvPr/>
        </p:nvSpPr>
        <p:spPr>
          <a:xfrm>
            <a:off x="5099050" y="4114800"/>
            <a:ext cx="923925" cy="3381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fn_tbl</a:t>
            </a:r>
            <a:endParaRPr/>
          </a:p>
        </p:txBody>
      </p:sp>
      <p:sp>
        <p:nvSpPr>
          <p:cNvPr id="461" name="Google Shape;461;p24"/>
          <p:cNvSpPr/>
          <p:nvPr/>
        </p:nvSpPr>
        <p:spPr>
          <a:xfrm>
            <a:off x="5105400" y="2286000"/>
            <a:ext cx="1447800" cy="1981200"/>
          </a:xfrm>
          <a:custGeom>
            <a:rect b="b" l="l" r="r" t="t"/>
            <a:pathLst>
              <a:path extrusionOk="0" h="1248" w="912">
                <a:moveTo>
                  <a:pt x="912" y="1248"/>
                </a:moveTo>
                <a:cubicBezTo>
                  <a:pt x="844" y="1092"/>
                  <a:pt x="776" y="936"/>
                  <a:pt x="624" y="768"/>
                </a:cubicBezTo>
                <a:cubicBezTo>
                  <a:pt x="472" y="600"/>
                  <a:pt x="0" y="368"/>
                  <a:pt x="0" y="240"/>
                </a:cubicBezTo>
                <a:cubicBezTo>
                  <a:pt x="0" y="112"/>
                  <a:pt x="520" y="40"/>
                  <a:pt x="624" y="0"/>
                </a:cubicBezTo>
              </a:path>
            </a:pathLst>
          </a:cu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lt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462" name="Google Shape;462;p24"/>
          <p:cNvSpPr/>
          <p:nvPr/>
        </p:nvSpPr>
        <p:spPr>
          <a:xfrm>
            <a:off x="6096000" y="2743200"/>
            <a:ext cx="1219200" cy="304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hlink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@Base.f3</a:t>
            </a:r>
            <a:endParaRPr/>
          </a:p>
        </p:txBody>
      </p:sp>
      <p:sp>
        <p:nvSpPr>
          <p:cNvPr id="463" name="Google Shape;463;p24"/>
          <p:cNvSpPr/>
          <p:nvPr/>
        </p:nvSpPr>
        <p:spPr>
          <a:xfrm>
            <a:off x="7543800" y="2133600"/>
            <a:ext cx="1219200" cy="304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hlink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@Base.f1</a:t>
            </a:r>
            <a:endParaRPr/>
          </a:p>
        </p:txBody>
      </p:sp>
      <p:sp>
        <p:nvSpPr>
          <p:cNvPr id="464" name="Google Shape;464;p24"/>
          <p:cNvSpPr/>
          <p:nvPr/>
        </p:nvSpPr>
        <p:spPr>
          <a:xfrm>
            <a:off x="7543800" y="2438400"/>
            <a:ext cx="1219200" cy="304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hlink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@Base.f2</a:t>
            </a:r>
            <a:endParaRPr/>
          </a:p>
        </p:txBody>
      </p:sp>
      <p:sp>
        <p:nvSpPr>
          <p:cNvPr id="465" name="Google Shape;465;p24"/>
          <p:cNvSpPr/>
          <p:nvPr/>
        </p:nvSpPr>
        <p:spPr>
          <a:xfrm>
            <a:off x="7543800" y="2743200"/>
            <a:ext cx="1219200" cy="304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hlink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@Base.f3</a:t>
            </a:r>
            <a:endParaRPr/>
          </a:p>
        </p:txBody>
      </p:sp>
      <p:sp>
        <p:nvSpPr>
          <p:cNvPr id="466" name="Google Shape;466;p24"/>
          <p:cNvSpPr txBox="1"/>
          <p:nvPr/>
        </p:nvSpPr>
        <p:spPr>
          <a:xfrm>
            <a:off x="6102463" y="3014662"/>
            <a:ext cx="1261884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rPr>
              <a:t>for</a:t>
            </a:r>
            <a:br>
              <a:rPr lang="en-US" sz="2000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rPr>
            </a:br>
            <a:r>
              <a:rPr b="1" lang="en-US" sz="2000">
                <a:solidFill>
                  <a:schemeClr val="accent2"/>
                </a:solidFill>
                <a:latin typeface="Courier New"/>
                <a:ea typeface="Courier New"/>
                <a:cs typeface="Courier New"/>
                <a:sym typeface="Courier New"/>
              </a:rPr>
              <a:t>Derived</a:t>
            </a:r>
            <a:endParaRPr b="1" sz="2000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467" name="Google Shape;467;p24"/>
          <p:cNvSpPr txBox="1"/>
          <p:nvPr/>
        </p:nvSpPr>
        <p:spPr>
          <a:xfrm>
            <a:off x="7656388" y="2998787"/>
            <a:ext cx="800219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rPr>
              <a:t>for</a:t>
            </a:r>
            <a:br>
              <a:rPr lang="en-US" sz="2000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rPr>
            </a:br>
            <a:r>
              <a:rPr b="1" lang="en-US" sz="2000">
                <a:solidFill>
                  <a:srgbClr val="FACEBE"/>
                </a:solidFill>
                <a:latin typeface="Courier New"/>
                <a:ea typeface="Courier New"/>
                <a:cs typeface="Courier New"/>
                <a:sym typeface="Courier New"/>
              </a:rPr>
              <a:t>Base</a:t>
            </a:r>
            <a:endParaRPr b="1" sz="2000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468" name="Google Shape;468;p24"/>
          <p:cNvSpPr txBox="1"/>
          <p:nvPr/>
        </p:nvSpPr>
        <p:spPr>
          <a:xfrm>
            <a:off x="4726781" y="5162404"/>
            <a:ext cx="3957638" cy="8302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rPr>
              <a:t>C++ compilers typically use</a:t>
            </a:r>
            <a:br>
              <a:rPr lang="en-US" sz="2400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rPr>
            </a:br>
            <a:r>
              <a:rPr lang="en-US" sz="2400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rPr>
              <a:t>this for virtual functions.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4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2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p25"/>
          <p:cNvSpPr txBox="1"/>
          <p:nvPr>
            <p:ph type="title"/>
          </p:nvPr>
        </p:nvSpPr>
        <p:spPr>
          <a:xfrm>
            <a:off x="577923" y="674232"/>
            <a:ext cx="50292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ahoma"/>
              <a:buNone/>
            </a:pPr>
            <a:r>
              <a:rPr lang="en-US">
                <a:latin typeface="Tahoma"/>
                <a:ea typeface="Tahoma"/>
                <a:cs typeface="Tahoma"/>
                <a:sym typeface="Tahoma"/>
              </a:rPr>
              <a:t>Class Object</a:t>
            </a:r>
            <a:br>
              <a:rPr lang="en-US">
                <a:latin typeface="Tahoma"/>
                <a:ea typeface="Tahoma"/>
                <a:cs typeface="Tahoma"/>
                <a:sym typeface="Tahoma"/>
              </a:rPr>
            </a:br>
            <a:r>
              <a:rPr lang="en-US" sz="2400">
                <a:latin typeface="Tahoma"/>
                <a:ea typeface="Tahoma"/>
                <a:cs typeface="Tahoma"/>
                <a:sym typeface="Tahoma"/>
              </a:rPr>
              <a:t>(closer to PLCC language)</a:t>
            </a:r>
            <a:endParaRPr/>
          </a:p>
        </p:txBody>
      </p:sp>
      <p:sp>
        <p:nvSpPr>
          <p:cNvPr id="474" name="Google Shape;474;p25"/>
          <p:cNvSpPr txBox="1"/>
          <p:nvPr>
            <p:ph idx="10" type="dt"/>
          </p:nvPr>
        </p:nvSpPr>
        <p:spPr>
          <a:xfrm>
            <a:off x="5367881" y="5936188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rPr>
              <a:t>4/21/21</a:t>
            </a:r>
            <a:endParaRPr sz="1400">
              <a:solidFill>
                <a:schemeClr val="lt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475" name="Google Shape;475;p25"/>
          <p:cNvSpPr txBox="1"/>
          <p:nvPr>
            <p:ph idx="12" type="sldNum"/>
          </p:nvPr>
        </p:nvSpPr>
        <p:spPr>
          <a:xfrm>
            <a:off x="7848600" y="753228"/>
            <a:ext cx="1157674" cy="109078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sz="1400">
              <a:solidFill>
                <a:schemeClr val="lt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476" name="Google Shape;476;p25"/>
          <p:cNvSpPr/>
          <p:nvPr/>
        </p:nvSpPr>
        <p:spPr>
          <a:xfrm>
            <a:off x="4989766" y="3672817"/>
            <a:ext cx="1219200" cy="304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hlink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@Derived.f1</a:t>
            </a:r>
            <a:endParaRPr/>
          </a:p>
        </p:txBody>
      </p:sp>
      <p:sp>
        <p:nvSpPr>
          <p:cNvPr id="477" name="Google Shape;477;p25"/>
          <p:cNvSpPr/>
          <p:nvPr/>
        </p:nvSpPr>
        <p:spPr>
          <a:xfrm>
            <a:off x="4989766" y="3977617"/>
            <a:ext cx="1219200" cy="304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hlink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@Derived.f2</a:t>
            </a:r>
            <a:endParaRPr/>
          </a:p>
        </p:txBody>
      </p:sp>
      <p:sp>
        <p:nvSpPr>
          <p:cNvPr id="478" name="Google Shape;478;p25"/>
          <p:cNvSpPr txBox="1"/>
          <p:nvPr/>
        </p:nvSpPr>
        <p:spPr>
          <a:xfrm>
            <a:off x="158906" y="2005042"/>
            <a:ext cx="4063282" cy="45243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class Base {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  int a;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  float b;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  static int c;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  void f1(){…}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  void f2(){…}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  void f3(){…}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accent2"/>
                </a:solidFill>
                <a:latin typeface="Courier New"/>
                <a:ea typeface="Courier New"/>
                <a:cs typeface="Courier New"/>
                <a:sym typeface="Courier New"/>
              </a:rPr>
              <a:t>class Derived: Base {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accent2"/>
                </a:solidFill>
                <a:latin typeface="Courier New"/>
                <a:ea typeface="Courier New"/>
                <a:cs typeface="Courier New"/>
                <a:sym typeface="Courier New"/>
              </a:rPr>
              <a:t>  void f1(){…}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accent2"/>
                </a:solidFill>
                <a:latin typeface="Courier New"/>
                <a:ea typeface="Courier New"/>
                <a:cs typeface="Courier New"/>
                <a:sym typeface="Courier New"/>
              </a:rPr>
              <a:t>  void f2(){…}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accent2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/>
          </a:p>
        </p:txBody>
      </p:sp>
      <p:sp>
        <p:nvSpPr>
          <p:cNvPr id="479" name="Google Shape;479;p25"/>
          <p:cNvSpPr/>
          <p:nvPr/>
        </p:nvSpPr>
        <p:spPr>
          <a:xfrm>
            <a:off x="4837366" y="5654017"/>
            <a:ext cx="1219200" cy="3048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rPr>
              <a:t>6</a:t>
            </a:r>
            <a:endParaRPr/>
          </a:p>
        </p:txBody>
      </p:sp>
      <p:sp>
        <p:nvSpPr>
          <p:cNvPr id="480" name="Google Shape;480;p25"/>
          <p:cNvSpPr/>
          <p:nvPr/>
        </p:nvSpPr>
        <p:spPr>
          <a:xfrm>
            <a:off x="4837366" y="5958817"/>
            <a:ext cx="1219200" cy="3048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rPr>
              <a:t>0.0932</a:t>
            </a:r>
            <a:endParaRPr/>
          </a:p>
        </p:txBody>
      </p:sp>
      <p:sp>
        <p:nvSpPr>
          <p:cNvPr id="481" name="Google Shape;481;p25"/>
          <p:cNvSpPr txBox="1"/>
          <p:nvPr/>
        </p:nvSpPr>
        <p:spPr>
          <a:xfrm>
            <a:off x="4608766" y="5654017"/>
            <a:ext cx="306388" cy="336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a</a:t>
            </a:r>
            <a:endParaRPr/>
          </a:p>
        </p:txBody>
      </p:sp>
      <p:sp>
        <p:nvSpPr>
          <p:cNvPr id="482" name="Google Shape;482;p25"/>
          <p:cNvSpPr txBox="1"/>
          <p:nvPr/>
        </p:nvSpPr>
        <p:spPr>
          <a:xfrm>
            <a:off x="4608766" y="5958817"/>
            <a:ext cx="306388" cy="336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b</a:t>
            </a:r>
            <a:endParaRPr/>
          </a:p>
        </p:txBody>
      </p:sp>
      <p:sp>
        <p:nvSpPr>
          <p:cNvPr id="483" name="Google Shape;483;p25"/>
          <p:cNvSpPr/>
          <p:nvPr/>
        </p:nvSpPr>
        <p:spPr>
          <a:xfrm>
            <a:off x="4837366" y="5349217"/>
            <a:ext cx="1219200" cy="3048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484" name="Google Shape;484;p25"/>
          <p:cNvSpPr txBox="1"/>
          <p:nvPr/>
        </p:nvSpPr>
        <p:spPr>
          <a:xfrm>
            <a:off x="4116641" y="5349217"/>
            <a:ext cx="800100" cy="3381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class</a:t>
            </a:r>
            <a:endParaRPr/>
          </a:p>
        </p:txBody>
      </p:sp>
      <p:sp>
        <p:nvSpPr>
          <p:cNvPr id="485" name="Google Shape;485;p25"/>
          <p:cNvSpPr/>
          <p:nvPr/>
        </p:nvSpPr>
        <p:spPr>
          <a:xfrm>
            <a:off x="3999166" y="3520417"/>
            <a:ext cx="1447800" cy="1981200"/>
          </a:xfrm>
          <a:custGeom>
            <a:rect b="b" l="l" r="r" t="t"/>
            <a:pathLst>
              <a:path extrusionOk="0" h="1248" w="912">
                <a:moveTo>
                  <a:pt x="912" y="1248"/>
                </a:moveTo>
                <a:cubicBezTo>
                  <a:pt x="844" y="1092"/>
                  <a:pt x="776" y="936"/>
                  <a:pt x="624" y="768"/>
                </a:cubicBezTo>
                <a:cubicBezTo>
                  <a:pt x="472" y="600"/>
                  <a:pt x="0" y="368"/>
                  <a:pt x="0" y="240"/>
                </a:cubicBezTo>
                <a:cubicBezTo>
                  <a:pt x="0" y="112"/>
                  <a:pt x="520" y="40"/>
                  <a:pt x="624" y="0"/>
                </a:cubicBezTo>
              </a:path>
            </a:pathLst>
          </a:cu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lt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486" name="Google Shape;486;p25"/>
          <p:cNvSpPr/>
          <p:nvPr/>
        </p:nvSpPr>
        <p:spPr>
          <a:xfrm>
            <a:off x="6875752" y="2430988"/>
            <a:ext cx="1219200" cy="304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hlink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@Base.f1</a:t>
            </a:r>
            <a:endParaRPr/>
          </a:p>
        </p:txBody>
      </p:sp>
      <p:sp>
        <p:nvSpPr>
          <p:cNvPr id="487" name="Google Shape;487;p25"/>
          <p:cNvSpPr/>
          <p:nvPr/>
        </p:nvSpPr>
        <p:spPr>
          <a:xfrm>
            <a:off x="6875752" y="2735788"/>
            <a:ext cx="1219200" cy="304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hlink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@Base.f2</a:t>
            </a:r>
            <a:endParaRPr/>
          </a:p>
        </p:txBody>
      </p:sp>
      <p:sp>
        <p:nvSpPr>
          <p:cNvPr id="488" name="Google Shape;488;p25"/>
          <p:cNvSpPr/>
          <p:nvPr/>
        </p:nvSpPr>
        <p:spPr>
          <a:xfrm>
            <a:off x="6875752" y="3040588"/>
            <a:ext cx="1219200" cy="304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hlink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@Base.f3</a:t>
            </a:r>
            <a:endParaRPr/>
          </a:p>
        </p:txBody>
      </p:sp>
      <p:sp>
        <p:nvSpPr>
          <p:cNvPr id="489" name="Google Shape;489;p25"/>
          <p:cNvSpPr/>
          <p:nvPr/>
        </p:nvSpPr>
        <p:spPr>
          <a:xfrm>
            <a:off x="4989766" y="3368017"/>
            <a:ext cx="1219200" cy="304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hlink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chemeClr val="accent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490" name="Google Shape;490;p25"/>
          <p:cNvSpPr/>
          <p:nvPr/>
        </p:nvSpPr>
        <p:spPr>
          <a:xfrm>
            <a:off x="6875752" y="2126188"/>
            <a:ext cx="1219200" cy="304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hlink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nil</a:t>
            </a:r>
            <a:endParaRPr/>
          </a:p>
        </p:txBody>
      </p:sp>
      <p:sp>
        <p:nvSpPr>
          <p:cNvPr id="491" name="Google Shape;491;p25"/>
          <p:cNvSpPr txBox="1"/>
          <p:nvPr/>
        </p:nvSpPr>
        <p:spPr>
          <a:xfrm>
            <a:off x="4456366" y="4663417"/>
            <a:ext cx="1530350" cy="3698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800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rPr>
              <a:t>class pointer</a:t>
            </a:r>
            <a:endParaRPr/>
          </a:p>
        </p:txBody>
      </p:sp>
      <p:sp>
        <p:nvSpPr>
          <p:cNvPr id="492" name="Google Shape;492;p25"/>
          <p:cNvSpPr txBox="1"/>
          <p:nvPr/>
        </p:nvSpPr>
        <p:spPr>
          <a:xfrm>
            <a:off x="4687509" y="2693329"/>
            <a:ext cx="2092325" cy="3698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800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rPr>
              <a:t>superclass pointer</a:t>
            </a:r>
            <a:endParaRPr/>
          </a:p>
        </p:txBody>
      </p:sp>
      <p:sp>
        <p:nvSpPr>
          <p:cNvPr id="493" name="Google Shape;493;p25"/>
          <p:cNvSpPr/>
          <p:nvPr/>
        </p:nvSpPr>
        <p:spPr>
          <a:xfrm>
            <a:off x="6875752" y="3345388"/>
            <a:ext cx="1219200" cy="304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hlink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c</a:t>
            </a:r>
            <a:endParaRPr/>
          </a:p>
        </p:txBody>
      </p:sp>
      <p:cxnSp>
        <p:nvCxnSpPr>
          <p:cNvPr id="494" name="Google Shape;494;p25"/>
          <p:cNvCxnSpPr>
            <a:endCxn id="490" idx="1"/>
          </p:cNvCxnSpPr>
          <p:nvPr/>
        </p:nvCxnSpPr>
        <p:spPr>
          <a:xfrm rot="-5400000">
            <a:off x="5636452" y="2280988"/>
            <a:ext cx="1241700" cy="1236900"/>
          </a:xfrm>
          <a:prstGeom prst="curvedConnector2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lg" w="lg" type="oval"/>
            <a:tailEnd len="lg" w="lg" type="stealth"/>
          </a:ln>
        </p:spPr>
      </p:cxn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8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p26"/>
          <p:cNvSpPr txBox="1"/>
          <p:nvPr>
            <p:ph type="title"/>
          </p:nvPr>
        </p:nvSpPr>
        <p:spPr>
          <a:xfrm>
            <a:off x="531639" y="753228"/>
            <a:ext cx="6896534" cy="1080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rebuchet MS"/>
              <a:buNone/>
            </a:pPr>
            <a:r>
              <a:rPr lang="en-US"/>
              <a:t>Multiple Inheritance in Python</a:t>
            </a:r>
            <a:endParaRPr/>
          </a:p>
        </p:txBody>
      </p:sp>
      <p:sp>
        <p:nvSpPr>
          <p:cNvPr id="500" name="Google Shape;500;p26"/>
          <p:cNvSpPr txBox="1"/>
          <p:nvPr>
            <p:ph idx="1" type="body"/>
          </p:nvPr>
        </p:nvSpPr>
        <p:spPr>
          <a:xfrm>
            <a:off x="838200" y="2133600"/>
            <a:ext cx="7772400" cy="38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Char char="•"/>
            </a:pPr>
            <a:r>
              <a:rPr lang="en-US" sz="2800"/>
              <a:t>There is a tree representing the ancestors of a class.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Char char="•"/>
            </a:pPr>
            <a:r>
              <a:rPr lang="en-US" sz="2800"/>
              <a:t>A linearization of the classes in that tree is constructed.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Char char="•"/>
            </a:pPr>
            <a:r>
              <a:rPr lang="en-US" sz="2800"/>
              <a:t>When given a method name, each class in that linear list is checked for the presence of the method.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</a:pPr>
            <a:r>
              <a:t/>
            </a:r>
            <a:endParaRPr sz="2800"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Char char="•"/>
            </a:pPr>
            <a:r>
              <a:rPr lang="en-US" sz="2800"/>
              <a:t>(attributes?)</a:t>
            </a:r>
            <a:endParaRPr sz="2000"/>
          </a:p>
        </p:txBody>
      </p:sp>
      <p:sp>
        <p:nvSpPr>
          <p:cNvPr id="501" name="Google Shape;501;p26"/>
          <p:cNvSpPr txBox="1"/>
          <p:nvPr>
            <p:ph idx="10" type="dt"/>
          </p:nvPr>
        </p:nvSpPr>
        <p:spPr>
          <a:xfrm>
            <a:off x="5367881" y="5936188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4/21/21</a:t>
            </a:r>
            <a:endParaRPr/>
          </a:p>
        </p:txBody>
      </p:sp>
      <p:sp>
        <p:nvSpPr>
          <p:cNvPr id="502" name="Google Shape;502;p26"/>
          <p:cNvSpPr txBox="1"/>
          <p:nvPr>
            <p:ph idx="12" type="sldNum"/>
          </p:nvPr>
        </p:nvSpPr>
        <p:spPr>
          <a:xfrm>
            <a:off x="7848600" y="753228"/>
            <a:ext cx="1157674" cy="109078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6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p27"/>
          <p:cNvSpPr txBox="1"/>
          <p:nvPr>
            <p:ph type="title"/>
          </p:nvPr>
        </p:nvSpPr>
        <p:spPr>
          <a:xfrm>
            <a:off x="531639" y="753228"/>
            <a:ext cx="6896534" cy="1080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rebuchet MS"/>
              <a:buNone/>
            </a:pPr>
            <a:r>
              <a:rPr lang="en-US"/>
              <a:t>Multiple Inheritance in Eiffel</a:t>
            </a:r>
            <a:endParaRPr/>
          </a:p>
        </p:txBody>
      </p:sp>
      <p:sp>
        <p:nvSpPr>
          <p:cNvPr id="508" name="Google Shape;508;p27"/>
          <p:cNvSpPr txBox="1"/>
          <p:nvPr>
            <p:ph idx="1" type="body"/>
          </p:nvPr>
        </p:nvSpPr>
        <p:spPr>
          <a:xfrm>
            <a:off x="1066800" y="2057400"/>
            <a:ext cx="7772400" cy="44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</a:pPr>
            <a:r>
              <a:rPr lang="en-US" sz="2400"/>
              <a:t>If a new class inherits another class more than once, only one instance of the other class's attributes appears in an instance of the new class.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</a:pPr>
            <a:r>
              <a:rPr lang="en-US" sz="2400"/>
              <a:t>Identically named attributes (fields) are automatically merged together.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</a:pPr>
            <a:r>
              <a:rPr lang="en-US" sz="2400"/>
              <a:t>Identically named routines must be dealt with.</a:t>
            </a:r>
            <a:br>
              <a:rPr lang="en-US" sz="2400"/>
            </a:br>
            <a:r>
              <a:rPr lang="en-US" sz="2400"/>
              <a:t>Possibilities:</a:t>
            </a:r>
            <a:endParaRPr sz="1800"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</a:pPr>
            <a:r>
              <a:rPr lang="en-US" sz="1800"/>
              <a:t>Rename a feature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</a:pPr>
            <a:r>
              <a:rPr lang="en-US" sz="1800"/>
              <a:t>Select a feature as the polymorphic version of something inherited from multiple ancestors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</a:pPr>
            <a:r>
              <a:rPr lang="en-US" sz="1800"/>
              <a:t>Undefine a version of a feature from an ancestor class (effectively selects the one left)</a:t>
            </a:r>
            <a:endParaRPr/>
          </a:p>
        </p:txBody>
      </p:sp>
      <p:sp>
        <p:nvSpPr>
          <p:cNvPr id="509" name="Google Shape;509;p27"/>
          <p:cNvSpPr txBox="1"/>
          <p:nvPr>
            <p:ph idx="10" type="dt"/>
          </p:nvPr>
        </p:nvSpPr>
        <p:spPr>
          <a:xfrm>
            <a:off x="5367881" y="5936188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4/21/21</a:t>
            </a:r>
            <a:endParaRPr/>
          </a:p>
        </p:txBody>
      </p:sp>
      <p:sp>
        <p:nvSpPr>
          <p:cNvPr id="510" name="Google Shape;510;p27"/>
          <p:cNvSpPr txBox="1"/>
          <p:nvPr>
            <p:ph idx="12" type="sldNum"/>
          </p:nvPr>
        </p:nvSpPr>
        <p:spPr>
          <a:xfrm>
            <a:off x="7848600" y="753228"/>
            <a:ext cx="1157674" cy="109078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4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p28"/>
          <p:cNvSpPr txBox="1"/>
          <p:nvPr>
            <p:ph type="title"/>
          </p:nvPr>
        </p:nvSpPr>
        <p:spPr>
          <a:xfrm>
            <a:off x="531639" y="753230"/>
            <a:ext cx="6896534" cy="10809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ahoma"/>
              <a:buNone/>
            </a:pPr>
            <a:r>
              <a:rPr lang="en-US">
                <a:latin typeface="Tahoma"/>
                <a:ea typeface="Tahoma"/>
                <a:cs typeface="Tahoma"/>
                <a:sym typeface="Tahoma"/>
              </a:rPr>
              <a:t>What Goes Where?</a:t>
            </a:r>
            <a:endParaRPr/>
          </a:p>
        </p:txBody>
      </p:sp>
      <p:sp>
        <p:nvSpPr>
          <p:cNvPr descr="Rectangle: Click to edit Master text styles&#10;Second level&#10;Third level&#10;Fourth level&#10;Fifth level" id="516" name="Google Shape;516;p28"/>
          <p:cNvSpPr txBox="1"/>
          <p:nvPr>
            <p:ph idx="1" type="body"/>
          </p:nvPr>
        </p:nvSpPr>
        <p:spPr>
          <a:xfrm>
            <a:off x="760988" y="2336874"/>
            <a:ext cx="3145080" cy="69313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lnSpcReduction="1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</a:pPr>
            <a:r>
              <a:rPr lang="en-US">
                <a:latin typeface="Tahoma"/>
                <a:ea typeface="Tahoma"/>
                <a:cs typeface="Tahoma"/>
                <a:sym typeface="Tahoma"/>
              </a:rPr>
              <a:t>Classes should contain:</a:t>
            </a:r>
            <a:endParaRPr/>
          </a:p>
        </p:txBody>
      </p:sp>
      <p:sp>
        <p:nvSpPr>
          <p:cNvPr descr="Rectangle: Click to edit Master text styles&#10;Second level&#10;Third level&#10;Fourth level&#10;Fifth level" id="517" name="Google Shape;517;p28"/>
          <p:cNvSpPr txBox="1"/>
          <p:nvPr>
            <p:ph idx="2" type="body"/>
          </p:nvPr>
        </p:nvSpPr>
        <p:spPr>
          <a:xfrm>
            <a:off x="531638" y="3030009"/>
            <a:ext cx="3367045" cy="290617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20000"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Char char="•"/>
            </a:pPr>
            <a:r>
              <a:rPr lang="en-US">
                <a:latin typeface="Tahoma"/>
                <a:ea typeface="Tahoma"/>
                <a:cs typeface="Tahoma"/>
                <a:sym typeface="Tahoma"/>
              </a:rPr>
              <a:t>Class-based</a:t>
            </a:r>
            <a:r>
              <a:rPr lang="en-US">
                <a:solidFill>
                  <a:srgbClr val="CC9900"/>
                </a:solidFill>
                <a:latin typeface="Tahoma"/>
                <a:ea typeface="Tahoma"/>
                <a:cs typeface="Tahoma"/>
                <a:sym typeface="Tahoma"/>
              </a:rPr>
              <a:t>*</a:t>
            </a:r>
            <a:r>
              <a:rPr lang="en-US">
                <a:latin typeface="Tahoma"/>
                <a:ea typeface="Tahoma"/>
                <a:cs typeface="Tahoma"/>
                <a:sym typeface="Tahoma"/>
              </a:rPr>
              <a:t> variable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ct val="100000"/>
              <a:buChar char="•"/>
            </a:pPr>
            <a:r>
              <a:rPr lang="en-US">
                <a:latin typeface="Tahoma"/>
                <a:ea typeface="Tahoma"/>
                <a:cs typeface="Tahoma"/>
                <a:sym typeface="Tahoma"/>
              </a:rPr>
              <a:t>declarations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ct val="100000"/>
              <a:buChar char="•"/>
            </a:pPr>
            <a:r>
              <a:rPr lang="en-US">
                <a:latin typeface="Tahoma"/>
                <a:ea typeface="Tahoma"/>
                <a:cs typeface="Tahoma"/>
                <a:sym typeface="Tahoma"/>
              </a:rPr>
              <a:t>values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ct val="100000"/>
              <a:buChar char="•"/>
            </a:pPr>
            <a:r>
              <a:rPr lang="en-US">
                <a:latin typeface="Tahoma"/>
                <a:ea typeface="Tahoma"/>
                <a:cs typeface="Tahoma"/>
                <a:sym typeface="Tahoma"/>
              </a:rPr>
              <a:t>Instance variable declarations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ct val="100000"/>
              <a:buChar char="•"/>
            </a:pPr>
            <a:r>
              <a:rPr lang="en-US">
                <a:latin typeface="Tahoma"/>
                <a:ea typeface="Tahoma"/>
                <a:cs typeface="Tahoma"/>
                <a:sym typeface="Tahoma"/>
              </a:rPr>
              <a:t>Method definitions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ct val="100000"/>
              <a:buChar char="•"/>
            </a:pPr>
            <a:r>
              <a:rPr lang="en-US">
                <a:latin typeface="Tahoma"/>
                <a:ea typeface="Tahoma"/>
                <a:cs typeface="Tahoma"/>
                <a:sym typeface="Tahoma"/>
              </a:rPr>
              <a:t>instance-based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ct val="100000"/>
              <a:buChar char="•"/>
            </a:pPr>
            <a:r>
              <a:rPr lang="en-US">
                <a:latin typeface="Tahoma"/>
                <a:ea typeface="Tahoma"/>
                <a:cs typeface="Tahoma"/>
                <a:sym typeface="Tahoma"/>
              </a:rPr>
              <a:t>class-based</a:t>
            </a:r>
            <a:r>
              <a:rPr lang="en-US">
                <a:solidFill>
                  <a:srgbClr val="CC9900"/>
                </a:solidFill>
                <a:latin typeface="Tahoma"/>
                <a:ea typeface="Tahoma"/>
                <a:cs typeface="Tahoma"/>
                <a:sym typeface="Tahoma"/>
              </a:rPr>
              <a:t>*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ct val="100000"/>
              <a:buChar char="•"/>
            </a:pPr>
            <a:r>
              <a:rPr lang="en-US">
                <a:latin typeface="Tahoma"/>
                <a:ea typeface="Tahoma"/>
                <a:cs typeface="Tahoma"/>
                <a:sym typeface="Tahoma"/>
              </a:rPr>
              <a:t>Constructors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ct val="100000"/>
              <a:buChar char="•"/>
            </a:pPr>
            <a:r>
              <a:rPr lang="en-US">
                <a:latin typeface="Tahoma"/>
                <a:ea typeface="Tahoma"/>
                <a:cs typeface="Tahoma"/>
                <a:sym typeface="Tahoma"/>
              </a:rPr>
              <a:t>Inheritance relationships</a:t>
            </a:r>
            <a:endParaRPr/>
          </a:p>
        </p:txBody>
      </p:sp>
      <p:sp>
        <p:nvSpPr>
          <p:cNvPr descr="Rectangle: Click to edit Master text styles&#10;Second level&#10;Third level&#10;Fourth level&#10;Fifth level" id="518" name="Google Shape;518;p28"/>
          <p:cNvSpPr txBox="1"/>
          <p:nvPr>
            <p:ph idx="3" type="body"/>
          </p:nvPr>
        </p:nvSpPr>
        <p:spPr>
          <a:xfrm>
            <a:off x="4282646" y="2336873"/>
            <a:ext cx="3145527" cy="69207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lnSpcReduction="1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</a:pPr>
            <a:r>
              <a:rPr lang="en-US">
                <a:latin typeface="Tahoma"/>
                <a:ea typeface="Tahoma"/>
                <a:cs typeface="Tahoma"/>
                <a:sym typeface="Tahoma"/>
              </a:rPr>
              <a:t>Objects should contain:</a:t>
            </a:r>
            <a:endParaRPr/>
          </a:p>
        </p:txBody>
      </p:sp>
      <p:sp>
        <p:nvSpPr>
          <p:cNvPr descr="Rectangle: Click to edit Master text styles&#10;Second level&#10;Third level&#10;Fourth level&#10;Fifth level" id="519" name="Google Shape;519;p28"/>
          <p:cNvSpPr txBox="1"/>
          <p:nvPr>
            <p:ph idx="4" type="body"/>
          </p:nvPr>
        </p:nvSpPr>
        <p:spPr>
          <a:xfrm>
            <a:off x="4061129" y="3030009"/>
            <a:ext cx="3367044" cy="290617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20000"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Char char="•"/>
            </a:pPr>
            <a:r>
              <a:rPr lang="en-US">
                <a:latin typeface="Tahoma"/>
                <a:ea typeface="Tahoma"/>
                <a:cs typeface="Tahoma"/>
                <a:sym typeface="Tahoma"/>
              </a:rPr>
              <a:t>Instance variable values</a:t>
            </a:r>
            <a:endParaRPr/>
          </a:p>
        </p:txBody>
      </p:sp>
      <p:sp>
        <p:nvSpPr>
          <p:cNvPr id="520" name="Google Shape;520;p28"/>
          <p:cNvSpPr txBox="1"/>
          <p:nvPr>
            <p:ph idx="10" type="dt"/>
          </p:nvPr>
        </p:nvSpPr>
        <p:spPr>
          <a:xfrm>
            <a:off x="5367881" y="5936188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rPr>
              <a:t>4/21/21</a:t>
            </a:r>
            <a:endParaRPr sz="1400">
              <a:solidFill>
                <a:schemeClr val="lt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521" name="Google Shape;521;p28"/>
          <p:cNvSpPr txBox="1"/>
          <p:nvPr>
            <p:ph idx="12" type="sldNum"/>
          </p:nvPr>
        </p:nvSpPr>
        <p:spPr>
          <a:xfrm>
            <a:off x="7848600" y="753228"/>
            <a:ext cx="1157674" cy="109078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sz="1400">
              <a:solidFill>
                <a:schemeClr val="lt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522" name="Google Shape;522;p28"/>
          <p:cNvSpPr txBox="1"/>
          <p:nvPr/>
        </p:nvSpPr>
        <p:spPr>
          <a:xfrm>
            <a:off x="2590800" y="6096000"/>
            <a:ext cx="4308475" cy="3698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rPr>
              <a:t>*class-based=="</a:t>
            </a:r>
            <a:r>
              <a:rPr b="1" lang="en-US" sz="1800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static</a:t>
            </a:r>
            <a:r>
              <a:rPr lang="en-US" sz="1800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rPr>
              <a:t>" in Java/C++</a:t>
            </a:r>
            <a:endParaRPr/>
          </a:p>
        </p:txBody>
      </p:sp>
      <p:sp>
        <p:nvSpPr>
          <p:cNvPr id="523" name="Google Shape;523;p28"/>
          <p:cNvSpPr/>
          <p:nvPr/>
        </p:nvSpPr>
        <p:spPr>
          <a:xfrm>
            <a:off x="0" y="2950386"/>
            <a:ext cx="9144000" cy="2905896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lt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524" name="Google Shape;524;p28"/>
          <p:cNvSpPr txBox="1"/>
          <p:nvPr/>
        </p:nvSpPr>
        <p:spPr>
          <a:xfrm>
            <a:off x="5046681" y="708922"/>
            <a:ext cx="2378600" cy="11695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Trebuchet MS"/>
              <a:buAutoNum type="alphaUcPeriod"/>
            </a:pPr>
            <a:r>
              <a:rPr lang="en-US" sz="1400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rPr>
              <a:t>static variables</a:t>
            </a:r>
            <a:endParaRPr/>
          </a:p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Trebuchet MS"/>
              <a:buAutoNum type="alphaUcPeriod"/>
            </a:pPr>
            <a:r>
              <a:rPr lang="en-US" sz="1400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rPr>
              <a:t>static methods</a:t>
            </a:r>
            <a:endParaRPr/>
          </a:p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Trebuchet MS"/>
              <a:buAutoNum type="alphaUcPeriod"/>
            </a:pPr>
            <a:r>
              <a:rPr lang="en-US" sz="1400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rPr>
              <a:t>instance variables</a:t>
            </a:r>
            <a:endParaRPr/>
          </a:p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Trebuchet MS"/>
              <a:buAutoNum type="alphaUcPeriod"/>
            </a:pPr>
            <a:r>
              <a:rPr lang="en-US" sz="1400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rPr>
              <a:t>instance methods</a:t>
            </a:r>
            <a:endParaRPr/>
          </a:p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Trebuchet MS"/>
              <a:buAutoNum type="alphaUcPeriod"/>
            </a:pPr>
            <a:r>
              <a:rPr lang="en-US" sz="1400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rPr>
              <a:t>inheritance relationships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5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51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51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51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51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51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7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517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7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517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7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517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7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517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51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8" name="Shape 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p29"/>
          <p:cNvSpPr txBox="1"/>
          <p:nvPr>
            <p:ph type="ctrTitle"/>
          </p:nvPr>
        </p:nvSpPr>
        <p:spPr>
          <a:xfrm>
            <a:off x="510242" y="2733709"/>
            <a:ext cx="6069268" cy="137307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Trebuchet MS"/>
              <a:buNone/>
            </a:pPr>
            <a:r>
              <a:rPr lang="en-US"/>
              <a:t>2. OBJ</a:t>
            </a:r>
            <a:endParaRPr/>
          </a:p>
        </p:txBody>
      </p:sp>
      <p:sp>
        <p:nvSpPr>
          <p:cNvPr id="530" name="Google Shape;530;p29"/>
          <p:cNvSpPr txBox="1"/>
          <p:nvPr>
            <p:ph idx="1" type="subTitle"/>
          </p:nvPr>
        </p:nvSpPr>
        <p:spPr>
          <a:xfrm>
            <a:off x="510241" y="4394040"/>
            <a:ext cx="6108101" cy="11176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</a:pPr>
            <a:r>
              <a:rPr lang="en-US"/>
              <a:t>The Object-Oriented Language using PLCC</a:t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4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30"/>
          <p:cNvSpPr txBox="1"/>
          <p:nvPr>
            <p:ph type="title"/>
          </p:nvPr>
        </p:nvSpPr>
        <p:spPr>
          <a:xfrm>
            <a:off x="531639" y="753228"/>
            <a:ext cx="6896534" cy="1080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rebuchet MS"/>
              <a:buNone/>
            </a:pPr>
            <a:r>
              <a:rPr lang="en-US"/>
              <a:t>But First: Other Stuff in OBJ</a:t>
            </a:r>
            <a:endParaRPr/>
          </a:p>
        </p:txBody>
      </p:sp>
      <p:sp>
        <p:nvSpPr>
          <p:cNvPr id="536" name="Google Shape;536;p30"/>
          <p:cNvSpPr txBox="1"/>
          <p:nvPr>
            <p:ph idx="1" type="body"/>
          </p:nvPr>
        </p:nvSpPr>
        <p:spPr>
          <a:xfrm>
            <a:off x="533400" y="2336873"/>
            <a:ext cx="6887389" cy="35993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7500" lnSpcReduction="2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None/>
            </a:pPr>
            <a:r>
              <a:rPr lang="en-US">
                <a:latin typeface="Lemon"/>
                <a:ea typeface="Lemon"/>
                <a:cs typeface="Lemon"/>
                <a:sym typeface="Lemon"/>
              </a:rPr>
              <a:t>--&gt; {display 19; display 84; newline}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ct val="100000"/>
              <a:buNone/>
            </a:pPr>
            <a:r>
              <a:rPr lang="en-US">
                <a:latin typeface="Lemon"/>
                <a:ea typeface="Lemon"/>
                <a:cs typeface="Lemon"/>
                <a:sym typeface="Lemon"/>
              </a:rPr>
              <a:t>1984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ct val="100000"/>
              <a:buNone/>
            </a:pPr>
            <a:r>
              <a:rPr lang="en-US">
                <a:latin typeface="Lemon"/>
                <a:ea typeface="Lemon"/>
                <a:cs typeface="Lemon"/>
                <a:sym typeface="Lemon"/>
              </a:rPr>
              <a:t>nil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ct val="100000"/>
              <a:buNone/>
            </a:pPr>
            <a:r>
              <a:rPr lang="en-US">
                <a:latin typeface="Lemon"/>
                <a:ea typeface="Lemon"/>
                <a:cs typeface="Lemon"/>
                <a:sym typeface="Lemon"/>
              </a:rPr>
              <a:t>--&gt; {display# 19; display 84; newline}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ct val="100000"/>
              <a:buNone/>
            </a:pPr>
            <a:r>
              <a:rPr lang="en-US">
                <a:latin typeface="Lemon"/>
                <a:ea typeface="Lemon"/>
                <a:cs typeface="Lemon"/>
                <a:sym typeface="Lemon"/>
              </a:rPr>
              <a:t>19 84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ct val="100000"/>
              <a:buNone/>
            </a:pPr>
            <a:r>
              <a:rPr lang="en-US">
                <a:latin typeface="Lemon"/>
                <a:ea typeface="Lemon"/>
                <a:cs typeface="Lemon"/>
                <a:sym typeface="Lemon"/>
              </a:rPr>
              <a:t>nil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ct val="100000"/>
              <a:buNone/>
            </a:pPr>
            <a:r>
              <a:rPr lang="en-US">
                <a:latin typeface="Lemon"/>
                <a:ea typeface="Lemon"/>
                <a:cs typeface="Lemon"/>
                <a:sym typeface="Lemon"/>
              </a:rPr>
              <a:t>--&gt; display# [1,2,3,[4,5]]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ct val="100000"/>
              <a:buNone/>
            </a:pPr>
            <a:r>
              <a:rPr lang="en-US">
                <a:latin typeface="Lemon"/>
                <a:ea typeface="Lemon"/>
                <a:cs typeface="Lemon"/>
                <a:sym typeface="Lemon"/>
              </a:rPr>
              <a:t>[1,2,3,[4,5]] [1,2,3,[4,5]]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ct val="100000"/>
              <a:buNone/>
            </a:pPr>
            <a:r>
              <a:rPr lang="en-US">
                <a:latin typeface="Lemon"/>
                <a:ea typeface="Lemon"/>
                <a:cs typeface="Lemon"/>
                <a:sym typeface="Lemon"/>
              </a:rPr>
              <a:t>--&gt; display# "abc"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ct val="100000"/>
              <a:buNone/>
            </a:pPr>
            <a:r>
              <a:rPr lang="en-US">
                <a:latin typeface="Lemon"/>
                <a:ea typeface="Lemon"/>
                <a:cs typeface="Lemon"/>
                <a:sym typeface="Lemon"/>
              </a:rPr>
              <a:t>[97,98,99] [97,98,99]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ct val="100000"/>
              <a:buNone/>
            </a:pPr>
            <a:r>
              <a:rPr lang="en-US">
                <a:latin typeface="Lemon"/>
                <a:ea typeface="Lemon"/>
                <a:cs typeface="Lemon"/>
                <a:sym typeface="Lemon"/>
              </a:rPr>
              <a:t>--&gt; { putc 97; newline }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ct val="100000"/>
              <a:buNone/>
            </a:pPr>
            <a:r>
              <a:t/>
            </a:r>
            <a:endParaRPr>
              <a:latin typeface="Lemon"/>
              <a:ea typeface="Lemon"/>
              <a:cs typeface="Lemon"/>
              <a:sym typeface="Lemon"/>
            </a:endParaRPr>
          </a:p>
        </p:txBody>
      </p:sp>
      <p:sp>
        <p:nvSpPr>
          <p:cNvPr id="537" name="Google Shape;537;p30"/>
          <p:cNvSpPr txBox="1"/>
          <p:nvPr>
            <p:ph idx="10" type="dt"/>
          </p:nvPr>
        </p:nvSpPr>
        <p:spPr>
          <a:xfrm>
            <a:off x="5367881" y="5936188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4/21/21</a:t>
            </a:r>
            <a:endParaRPr/>
          </a:p>
        </p:txBody>
      </p:sp>
      <p:sp>
        <p:nvSpPr>
          <p:cNvPr id="538" name="Google Shape;538;p30"/>
          <p:cNvSpPr txBox="1"/>
          <p:nvPr>
            <p:ph idx="12" type="sldNum"/>
          </p:nvPr>
        </p:nvSpPr>
        <p:spPr>
          <a:xfrm>
            <a:off x="7848600" y="753228"/>
            <a:ext cx="1157674" cy="109078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2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Google Shape;543;p31"/>
          <p:cNvSpPr txBox="1"/>
          <p:nvPr>
            <p:ph type="title"/>
          </p:nvPr>
        </p:nvSpPr>
        <p:spPr>
          <a:xfrm>
            <a:off x="531639" y="753228"/>
            <a:ext cx="6896534" cy="1080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rebuchet MS"/>
              <a:buNone/>
            </a:pPr>
            <a:r>
              <a:rPr lang="en-US"/>
              <a:t>The Basics</a:t>
            </a:r>
            <a:endParaRPr/>
          </a:p>
        </p:txBody>
      </p:sp>
      <p:sp>
        <p:nvSpPr>
          <p:cNvPr id="544" name="Google Shape;544;p31"/>
          <p:cNvSpPr txBox="1"/>
          <p:nvPr>
            <p:ph idx="1" type="body"/>
          </p:nvPr>
        </p:nvSpPr>
        <p:spPr>
          <a:xfrm>
            <a:off x="533400" y="2336873"/>
            <a:ext cx="6887389" cy="35993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</a:pPr>
            <a:r>
              <a:rPr lang="en-US"/>
              <a:t>We build objects using environments.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</a:pPr>
            <a:r>
              <a:rPr lang="en-US"/>
              <a:t>A class's environment includes </a:t>
            </a:r>
            <a:r>
              <a:rPr lang="en-US" sz="1800"/>
              <a:t>(as we learned)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</a:pPr>
            <a:r>
              <a:rPr lang="en-US"/>
              <a:t>static variables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</a:pPr>
            <a:r>
              <a:rPr lang="en-US"/>
              <a:t>superclass relationship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</a:pPr>
            <a:r>
              <a:rPr lang="en-US"/>
              <a:t>An object's environment includes </a:t>
            </a:r>
            <a:r>
              <a:rPr lang="en-US" sz="1800"/>
              <a:t>(as we learned)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</a:pPr>
            <a:r>
              <a:rPr lang="en-US"/>
              <a:t>instance variables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</a:pPr>
            <a:r>
              <a:rPr lang="en-US"/>
              <a:t>(instance) methods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</a:pPr>
            <a:r>
              <a:rPr lang="en-US"/>
              <a:t>other built-in stuff to navigate the hierarchies</a:t>
            </a:r>
            <a:endParaRPr/>
          </a:p>
        </p:txBody>
      </p:sp>
      <p:sp>
        <p:nvSpPr>
          <p:cNvPr id="545" name="Google Shape;545;p31"/>
          <p:cNvSpPr txBox="1"/>
          <p:nvPr>
            <p:ph idx="10" type="dt"/>
          </p:nvPr>
        </p:nvSpPr>
        <p:spPr>
          <a:xfrm>
            <a:off x="5367881" y="5936188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4/21/21</a:t>
            </a:r>
            <a:endParaRPr/>
          </a:p>
        </p:txBody>
      </p:sp>
      <p:sp>
        <p:nvSpPr>
          <p:cNvPr id="546" name="Google Shape;546;p31"/>
          <p:cNvSpPr txBox="1"/>
          <p:nvPr>
            <p:ph idx="12" type="sldNum"/>
          </p:nvPr>
        </p:nvSpPr>
        <p:spPr>
          <a:xfrm>
            <a:off x="7848600" y="753228"/>
            <a:ext cx="1157674" cy="109078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0" name="Shape 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" name="Google Shape;551;p32"/>
          <p:cNvSpPr txBox="1"/>
          <p:nvPr>
            <p:ph type="title"/>
          </p:nvPr>
        </p:nvSpPr>
        <p:spPr>
          <a:xfrm>
            <a:off x="531639" y="753228"/>
            <a:ext cx="6896534" cy="1080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rebuchet MS"/>
              <a:buNone/>
            </a:pPr>
            <a:r>
              <a:rPr lang="en-US"/>
              <a:t>Environment Qualification</a:t>
            </a:r>
            <a:br>
              <a:rPr lang="en-US"/>
            </a:br>
            <a:r>
              <a:rPr lang="en-US"/>
              <a:t>Examples</a:t>
            </a:r>
            <a:endParaRPr/>
          </a:p>
        </p:txBody>
      </p:sp>
      <p:sp>
        <p:nvSpPr>
          <p:cNvPr id="552" name="Google Shape;552;p32"/>
          <p:cNvSpPr txBox="1"/>
          <p:nvPr>
            <p:ph idx="1" type="body"/>
          </p:nvPr>
        </p:nvSpPr>
        <p:spPr>
          <a:xfrm>
            <a:off x="533400" y="2336873"/>
            <a:ext cx="6887389" cy="35993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2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None/>
            </a:pPr>
            <a:r>
              <a:rPr lang="en-US">
                <a:latin typeface="Lemon"/>
                <a:ea typeface="Lemon"/>
                <a:cs typeface="Lemon"/>
                <a:sym typeface="Lemon"/>
              </a:rPr>
              <a:t>--&gt; define x = 1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ct val="100000"/>
              <a:buNone/>
            </a:pPr>
            <a:r>
              <a:rPr lang="en-US">
                <a:latin typeface="Lemon"/>
                <a:ea typeface="Lemon"/>
                <a:cs typeface="Lemon"/>
                <a:sym typeface="Lemon"/>
              </a:rPr>
              <a:t>x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ct val="100000"/>
              <a:buNone/>
            </a:pPr>
            <a:r>
              <a:rPr lang="en-US">
                <a:latin typeface="Lemon"/>
                <a:ea typeface="Lemon"/>
                <a:cs typeface="Lemon"/>
                <a:sym typeface="Lemon"/>
              </a:rPr>
              <a:t>--&gt; define outer = @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ct val="100000"/>
              <a:buNone/>
            </a:pPr>
            <a:r>
              <a:rPr lang="en-US">
                <a:latin typeface="Lemon"/>
                <a:ea typeface="Lemon"/>
                <a:cs typeface="Lemon"/>
                <a:sym typeface="Lemon"/>
              </a:rPr>
              <a:t>outer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ct val="100000"/>
              <a:buNone/>
            </a:pPr>
            <a:r>
              <a:rPr lang="en-US">
                <a:latin typeface="Lemon"/>
                <a:ea typeface="Lemon"/>
                <a:cs typeface="Lemon"/>
                <a:sym typeface="Lemon"/>
              </a:rPr>
              <a:t>--&gt; define inner = let x = 2 in @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ct val="100000"/>
              <a:buNone/>
            </a:pPr>
            <a:r>
              <a:rPr lang="en-US">
                <a:latin typeface="Lemon"/>
                <a:ea typeface="Lemon"/>
                <a:cs typeface="Lemon"/>
                <a:sym typeface="Lemon"/>
              </a:rPr>
              <a:t>inner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ct val="100000"/>
              <a:buNone/>
            </a:pPr>
            <a:r>
              <a:rPr lang="en-US">
                <a:latin typeface="Lemon"/>
                <a:ea typeface="Lemon"/>
                <a:cs typeface="Lemon"/>
                <a:sym typeface="Lemon"/>
              </a:rPr>
              <a:t>--&gt; &lt;outer&gt;x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ct val="100000"/>
              <a:buNone/>
            </a:pPr>
            <a:r>
              <a:rPr lang="en-US">
                <a:latin typeface="Lemon"/>
                <a:ea typeface="Lemon"/>
                <a:cs typeface="Lemon"/>
                <a:sym typeface="Lemon"/>
              </a:rPr>
              <a:t>1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ct val="100000"/>
              <a:buNone/>
            </a:pPr>
            <a:r>
              <a:rPr lang="en-US">
                <a:latin typeface="Lemon"/>
                <a:ea typeface="Lemon"/>
                <a:cs typeface="Lemon"/>
                <a:sym typeface="Lemon"/>
              </a:rPr>
              <a:t>--&gt; &lt;inner&gt;x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ct val="100000"/>
              <a:buNone/>
            </a:pPr>
            <a:r>
              <a:rPr lang="en-US">
                <a:latin typeface="Lemon"/>
                <a:ea typeface="Lemon"/>
                <a:cs typeface="Lemon"/>
                <a:sym typeface="Lemon"/>
              </a:rPr>
              <a:t>2</a:t>
            </a:r>
            <a:endParaRPr/>
          </a:p>
        </p:txBody>
      </p:sp>
      <p:sp>
        <p:nvSpPr>
          <p:cNvPr id="553" name="Google Shape;553;p32"/>
          <p:cNvSpPr txBox="1"/>
          <p:nvPr>
            <p:ph idx="10" type="dt"/>
          </p:nvPr>
        </p:nvSpPr>
        <p:spPr>
          <a:xfrm>
            <a:off x="5367881" y="5936188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4/21/21</a:t>
            </a:r>
            <a:endParaRPr/>
          </a:p>
        </p:txBody>
      </p:sp>
      <p:sp>
        <p:nvSpPr>
          <p:cNvPr id="554" name="Google Shape;554;p32"/>
          <p:cNvSpPr txBox="1"/>
          <p:nvPr>
            <p:ph idx="12" type="sldNum"/>
          </p:nvPr>
        </p:nvSpPr>
        <p:spPr>
          <a:xfrm>
            <a:off x="7848600" y="753228"/>
            <a:ext cx="1157674" cy="109078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555" name="Google Shape;555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65101" y="4149899"/>
            <a:ext cx="3521364" cy="2324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2" presetSubtype="4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5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+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5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9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p33"/>
          <p:cNvSpPr txBox="1"/>
          <p:nvPr>
            <p:ph type="title"/>
          </p:nvPr>
        </p:nvSpPr>
        <p:spPr>
          <a:xfrm>
            <a:off x="531639" y="753228"/>
            <a:ext cx="6896534" cy="1080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rebuchet MS"/>
              <a:buNone/>
            </a:pPr>
            <a:r>
              <a:rPr lang="en-US"/>
              <a:t>Fossum's First Example</a:t>
            </a:r>
            <a:endParaRPr/>
          </a:p>
        </p:txBody>
      </p:sp>
      <p:sp>
        <p:nvSpPr>
          <p:cNvPr id="561" name="Google Shape;561;p33"/>
          <p:cNvSpPr txBox="1"/>
          <p:nvPr>
            <p:ph idx="1" type="body"/>
          </p:nvPr>
        </p:nvSpPr>
        <p:spPr>
          <a:xfrm>
            <a:off x="533400" y="2057400"/>
            <a:ext cx="6887389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0000" lnSpcReduction="2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None/>
            </a:pPr>
            <a:r>
              <a:rPr lang="en-US">
                <a:latin typeface="Lemon"/>
                <a:ea typeface="Lemon"/>
                <a:cs typeface="Lemon"/>
                <a:sym typeface="Lemon"/>
              </a:rPr>
              <a:t>define c1 =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ct val="100000"/>
              <a:buNone/>
            </a:pPr>
            <a:r>
              <a:rPr lang="en-US">
                <a:latin typeface="Lemon"/>
                <a:ea typeface="Lemon"/>
                <a:cs typeface="Lemon"/>
                <a:sym typeface="Lemon"/>
              </a:rPr>
              <a:t>    class % extends an unnamed class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ct val="100000"/>
              <a:buNone/>
            </a:pPr>
            <a:r>
              <a:rPr lang="en-US">
                <a:latin typeface="Lemon"/>
                <a:ea typeface="Lemon"/>
                <a:cs typeface="Lemon"/>
                <a:sym typeface="Lemon"/>
              </a:rPr>
              <a:t>        field x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ct val="100000"/>
              <a:buNone/>
            </a:pPr>
            <a:r>
              <a:rPr lang="en-US">
                <a:latin typeface="Lemon"/>
                <a:ea typeface="Lemon"/>
                <a:cs typeface="Lemon"/>
                <a:sym typeface="Lemon"/>
              </a:rPr>
              <a:t>        field y end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ct val="100000"/>
              <a:buNone/>
            </a:pPr>
            <a:r>
              <a:rPr lang="en-US">
                <a:latin typeface="Lemon"/>
                <a:ea typeface="Lemon"/>
                <a:cs typeface="Lemon"/>
                <a:sym typeface="Lemon"/>
              </a:rPr>
              <a:t>define c2 =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ct val="100000"/>
              <a:buNone/>
            </a:pPr>
            <a:r>
              <a:rPr lang="en-US">
                <a:latin typeface="Lemon"/>
                <a:ea typeface="Lemon"/>
                <a:cs typeface="Lemon"/>
                <a:sym typeface="Lemon"/>
              </a:rPr>
              <a:t>    class extends c1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ct val="100000"/>
              <a:buNone/>
            </a:pPr>
            <a:r>
              <a:rPr lang="en-US">
                <a:latin typeface="Lemon"/>
                <a:ea typeface="Lemon"/>
                <a:cs typeface="Lemon"/>
                <a:sym typeface="Lemon"/>
              </a:rPr>
              <a:t>        field z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ct val="100000"/>
              <a:buNone/>
            </a:pPr>
            <a:r>
              <a:rPr lang="en-US">
                <a:latin typeface="Lemon"/>
                <a:ea typeface="Lemon"/>
                <a:cs typeface="Lemon"/>
                <a:sym typeface="Lemon"/>
              </a:rPr>
              <a:t>        field x end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ct val="100000"/>
              <a:buNone/>
            </a:pPr>
            <a:r>
              <a:rPr lang="en-US">
                <a:latin typeface="Lemon"/>
                <a:ea typeface="Lemon"/>
                <a:cs typeface="Lemon"/>
                <a:sym typeface="Lemon"/>
              </a:rPr>
              <a:t>define obj1 = new c1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ct val="100000"/>
              <a:buNone/>
            </a:pPr>
            <a:r>
              <a:rPr lang="en-US">
                <a:latin typeface="Lemon"/>
                <a:ea typeface="Lemon"/>
                <a:cs typeface="Lemon"/>
                <a:sym typeface="Lemon"/>
              </a:rPr>
              <a:t>define obj2 = new c2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ct val="100000"/>
              <a:buNone/>
            </a:pPr>
            <a:r>
              <a:rPr lang="en-US">
                <a:latin typeface="Lemon"/>
                <a:ea typeface="Lemon"/>
                <a:cs typeface="Lemon"/>
                <a:sym typeface="Lemon"/>
              </a:rPr>
              <a:t>&lt;obj1&gt;set x = 3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ct val="100000"/>
              <a:buNone/>
            </a:pPr>
            <a:r>
              <a:rPr lang="en-US">
                <a:latin typeface="Lemon"/>
                <a:ea typeface="Lemon"/>
                <a:cs typeface="Lemon"/>
                <a:sym typeface="Lemon"/>
              </a:rPr>
              <a:t>&lt;obj2&gt;set x = 5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ct val="100000"/>
              <a:buNone/>
            </a:pPr>
            <a:r>
              <a:rPr lang="en-US">
                <a:latin typeface="Lemon"/>
                <a:ea typeface="Lemon"/>
                <a:cs typeface="Lemon"/>
                <a:sym typeface="Lemon"/>
              </a:rPr>
              <a:t>&lt;obj1&gt;x % evaluates to 3</a:t>
            </a:r>
            <a:endParaRPr/>
          </a:p>
        </p:txBody>
      </p:sp>
      <p:sp>
        <p:nvSpPr>
          <p:cNvPr id="562" name="Google Shape;562;p33"/>
          <p:cNvSpPr txBox="1"/>
          <p:nvPr>
            <p:ph idx="10" type="dt"/>
          </p:nvPr>
        </p:nvSpPr>
        <p:spPr>
          <a:xfrm>
            <a:off x="5367881" y="5936188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4/21/21</a:t>
            </a:r>
            <a:endParaRPr/>
          </a:p>
        </p:txBody>
      </p:sp>
      <p:sp>
        <p:nvSpPr>
          <p:cNvPr id="563" name="Google Shape;563;p33"/>
          <p:cNvSpPr txBox="1"/>
          <p:nvPr>
            <p:ph idx="12" type="sldNum"/>
          </p:nvPr>
        </p:nvSpPr>
        <p:spPr>
          <a:xfrm>
            <a:off x="7848600" y="753228"/>
            <a:ext cx="1157674" cy="109078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64" name="Google Shape;564;p33"/>
          <p:cNvSpPr/>
          <p:nvPr/>
        </p:nvSpPr>
        <p:spPr>
          <a:xfrm>
            <a:off x="5486400" y="2971800"/>
            <a:ext cx="2362200" cy="1066800"/>
          </a:xfrm>
          <a:prstGeom prst="wedgeRoundRectCallout">
            <a:avLst>
              <a:gd fmla="val -166973" name="adj1"/>
              <a:gd fmla="val 161697" name="adj2"/>
              <a:gd fmla="val 16667" name="adj3"/>
            </a:avLst>
          </a:prstGeom>
          <a:solidFill>
            <a:schemeClr val="accent1"/>
          </a:solidFill>
          <a:ln cap="flat" cmpd="sng" w="12700">
            <a:solidFill>
              <a:srgbClr val="AF6C0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rPr>
              <a:t>Similar to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lt1"/>
                </a:solidFill>
                <a:latin typeface="Lemon"/>
                <a:ea typeface="Lemon"/>
                <a:cs typeface="Lemon"/>
                <a:sym typeface="Lemon"/>
              </a:rPr>
              <a:t>obj1.x = 3</a:t>
            </a:r>
            <a:endParaRPr/>
          </a:p>
        </p:txBody>
      </p:sp>
      <p:sp>
        <p:nvSpPr>
          <p:cNvPr id="565" name="Google Shape;565;p33"/>
          <p:cNvSpPr/>
          <p:nvPr/>
        </p:nvSpPr>
        <p:spPr>
          <a:xfrm>
            <a:off x="5867400" y="4650768"/>
            <a:ext cx="2979506" cy="1535987"/>
          </a:xfrm>
          <a:prstGeom prst="wedgeRoundRectCallout">
            <a:avLst>
              <a:gd fmla="val -153592" name="adj1"/>
              <a:gd fmla="val -11748" name="adj2"/>
              <a:gd fmla="val 16667" name="adj3"/>
            </a:avLst>
          </a:prstGeom>
          <a:solidFill>
            <a:schemeClr val="accent1"/>
          </a:solidFill>
          <a:ln cap="flat" cmpd="sng" w="12700">
            <a:solidFill>
              <a:srgbClr val="AF6C0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rPr>
              <a:t>…except that the environment applies to the entire expression.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9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" name="Google Shape;570;p34"/>
          <p:cNvSpPr txBox="1"/>
          <p:nvPr>
            <p:ph type="title"/>
          </p:nvPr>
        </p:nvSpPr>
        <p:spPr>
          <a:xfrm>
            <a:off x="533400" y="753228"/>
            <a:ext cx="6887390" cy="1080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rebuchet MS"/>
              <a:buNone/>
            </a:pPr>
            <a:r>
              <a:rPr lang="en-US"/>
              <a:t>Things to Note</a:t>
            </a:r>
            <a:endParaRPr/>
          </a:p>
        </p:txBody>
      </p:sp>
      <p:sp>
        <p:nvSpPr>
          <p:cNvPr id="571" name="Google Shape;571;p34"/>
          <p:cNvSpPr txBox="1"/>
          <p:nvPr>
            <p:ph idx="1" type="body"/>
          </p:nvPr>
        </p:nvSpPr>
        <p:spPr>
          <a:xfrm>
            <a:off x="533400" y="2057400"/>
            <a:ext cx="3357899" cy="387878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62500" lnSpcReduction="2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None/>
            </a:pPr>
            <a:r>
              <a:rPr lang="en-US">
                <a:latin typeface="Lemon"/>
                <a:ea typeface="Lemon"/>
                <a:cs typeface="Lemon"/>
                <a:sym typeface="Lemon"/>
              </a:rPr>
              <a:t>define c1 =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ct val="100000"/>
              <a:buNone/>
            </a:pPr>
            <a:r>
              <a:rPr lang="en-US">
                <a:latin typeface="Lemon"/>
                <a:ea typeface="Lemon"/>
                <a:cs typeface="Lemon"/>
                <a:sym typeface="Lemon"/>
              </a:rPr>
              <a:t>    class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ct val="100000"/>
              <a:buNone/>
            </a:pPr>
            <a:r>
              <a:rPr lang="en-US">
                <a:latin typeface="Lemon"/>
                <a:ea typeface="Lemon"/>
                <a:cs typeface="Lemon"/>
                <a:sym typeface="Lemon"/>
              </a:rPr>
              <a:t>        field x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ct val="100000"/>
              <a:buNone/>
            </a:pPr>
            <a:r>
              <a:rPr lang="en-US">
                <a:latin typeface="Lemon"/>
                <a:ea typeface="Lemon"/>
                <a:cs typeface="Lemon"/>
                <a:sym typeface="Lemon"/>
              </a:rPr>
              <a:t>        field y end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ct val="100000"/>
              <a:buNone/>
            </a:pPr>
            <a:r>
              <a:rPr lang="en-US">
                <a:latin typeface="Lemon"/>
                <a:ea typeface="Lemon"/>
                <a:cs typeface="Lemon"/>
                <a:sym typeface="Lemon"/>
              </a:rPr>
              <a:t>define c2 =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ct val="100000"/>
              <a:buNone/>
            </a:pPr>
            <a:r>
              <a:rPr lang="en-US">
                <a:latin typeface="Lemon"/>
                <a:ea typeface="Lemon"/>
                <a:cs typeface="Lemon"/>
                <a:sym typeface="Lemon"/>
              </a:rPr>
              <a:t>    class extends c1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ct val="100000"/>
              <a:buNone/>
            </a:pPr>
            <a:r>
              <a:rPr lang="en-US">
                <a:latin typeface="Lemon"/>
                <a:ea typeface="Lemon"/>
                <a:cs typeface="Lemon"/>
                <a:sym typeface="Lemon"/>
              </a:rPr>
              <a:t>        field z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ct val="100000"/>
              <a:buNone/>
            </a:pPr>
            <a:r>
              <a:rPr lang="en-US">
                <a:latin typeface="Lemon"/>
                <a:ea typeface="Lemon"/>
                <a:cs typeface="Lemon"/>
                <a:sym typeface="Lemon"/>
              </a:rPr>
              <a:t>        field x end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ct val="100000"/>
              <a:buNone/>
            </a:pPr>
            <a:r>
              <a:rPr lang="en-US">
                <a:latin typeface="Lemon"/>
                <a:ea typeface="Lemon"/>
                <a:cs typeface="Lemon"/>
                <a:sym typeface="Lemon"/>
              </a:rPr>
              <a:t>define obj1 = new c1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ct val="100000"/>
              <a:buNone/>
            </a:pPr>
            <a:r>
              <a:rPr lang="en-US">
                <a:latin typeface="Lemon"/>
                <a:ea typeface="Lemon"/>
                <a:cs typeface="Lemon"/>
                <a:sym typeface="Lemon"/>
              </a:rPr>
              <a:t>define obj2 = new c2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ct val="100000"/>
              <a:buNone/>
            </a:pPr>
            <a:r>
              <a:rPr lang="en-US">
                <a:latin typeface="Lemon"/>
                <a:ea typeface="Lemon"/>
                <a:cs typeface="Lemon"/>
                <a:sym typeface="Lemon"/>
              </a:rPr>
              <a:t>&lt;obj1&gt;set x = 3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ct val="100000"/>
              <a:buNone/>
            </a:pPr>
            <a:r>
              <a:rPr lang="en-US">
                <a:latin typeface="Lemon"/>
                <a:ea typeface="Lemon"/>
                <a:cs typeface="Lemon"/>
                <a:sym typeface="Lemon"/>
              </a:rPr>
              <a:t>&lt;obj2&gt;set x = 5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ct val="100000"/>
              <a:buNone/>
            </a:pPr>
            <a:r>
              <a:rPr lang="en-US">
                <a:latin typeface="Lemon"/>
                <a:ea typeface="Lemon"/>
                <a:cs typeface="Lemon"/>
                <a:sym typeface="Lemon"/>
              </a:rPr>
              <a:t>&lt;obj1&gt;x % evaluates to 3</a:t>
            </a:r>
            <a:endParaRPr/>
          </a:p>
        </p:txBody>
      </p:sp>
      <p:sp>
        <p:nvSpPr>
          <p:cNvPr id="572" name="Google Shape;572;p34"/>
          <p:cNvSpPr txBox="1"/>
          <p:nvPr>
            <p:ph idx="2" type="body"/>
          </p:nvPr>
        </p:nvSpPr>
        <p:spPr>
          <a:xfrm>
            <a:off x="4061128" y="2057400"/>
            <a:ext cx="3359661" cy="387878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62500" lnSpcReduction="20000"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Char char="•"/>
            </a:pPr>
            <a:r>
              <a:rPr lang="en-US"/>
              <a:t>Classes are special environments.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ct val="100000"/>
              <a:buChar char="•"/>
            </a:pPr>
            <a:r>
              <a:rPr lang="en-US"/>
              <a:t>Objects are special environments.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ct val="100000"/>
              <a:buChar char="•"/>
            </a:pPr>
            <a:r>
              <a:rPr lang="en-US"/>
              <a:t>But classes are </a:t>
            </a:r>
            <a:r>
              <a:rPr lang="en-US" u="sng"/>
              <a:t>not</a:t>
            </a:r>
            <a:r>
              <a:rPr lang="en-US"/>
              <a:t> objects.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ct val="100000"/>
              <a:buChar char="•"/>
            </a:pPr>
            <a:r>
              <a:rPr lang="en-US"/>
              <a:t>Up until now we could not treat an environment as a first class entity.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ct val="100000"/>
              <a:buChar char="•"/>
            </a:pPr>
            <a:r>
              <a:rPr lang="en-US"/>
              <a:t>We can assign an environment to a variable.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ct val="100000"/>
              <a:buChar char="•"/>
            </a:pPr>
            <a:r>
              <a:rPr lang="en-US"/>
              <a:t>We can write an expression that evaluates to an environment.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ct val="100000"/>
              <a:buChar char="•"/>
            </a:pPr>
            <a:r>
              <a:rPr lang="en-US"/>
              <a:t>(Env's not "behind the curtain")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ct val="100000"/>
              <a:buNone/>
            </a:pPr>
            <a:r>
              <a:t/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ct val="100000"/>
              <a:buNone/>
            </a:pPr>
            <a:r>
              <a:rPr lang="en-US"/>
              <a:t>&lt;</a:t>
            </a:r>
            <a:r>
              <a:rPr i="1" lang="en-US"/>
              <a:t>env</a:t>
            </a:r>
            <a:r>
              <a:rPr lang="en-US"/>
              <a:t>&gt;</a:t>
            </a:r>
            <a:r>
              <a:rPr i="1" lang="en-US"/>
              <a:t>exp</a:t>
            </a:r>
            <a:endParaRPr i="1"/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ct val="100000"/>
              <a:buNone/>
            </a:pPr>
            <a:r>
              <a:t/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ct val="100000"/>
              <a:buNone/>
            </a:pPr>
            <a:r>
              <a:rPr lang="en-US"/>
              <a:t>"Evaluate the expression </a:t>
            </a:r>
            <a:r>
              <a:rPr i="1" lang="en-US"/>
              <a:t>exp</a:t>
            </a:r>
            <a:r>
              <a:rPr lang="en-US"/>
              <a:t> in the context of the environment </a:t>
            </a:r>
            <a:r>
              <a:rPr i="1" lang="en-US"/>
              <a:t>env</a:t>
            </a:r>
            <a:r>
              <a:rPr lang="en-US"/>
              <a:t>."</a:t>
            </a:r>
            <a:endParaRPr/>
          </a:p>
        </p:txBody>
      </p:sp>
      <p:sp>
        <p:nvSpPr>
          <p:cNvPr id="573" name="Google Shape;573;p34"/>
          <p:cNvSpPr txBox="1"/>
          <p:nvPr>
            <p:ph idx="10" type="dt"/>
          </p:nvPr>
        </p:nvSpPr>
        <p:spPr>
          <a:xfrm>
            <a:off x="5367881" y="5936188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4/21/21</a:t>
            </a:r>
            <a:endParaRPr/>
          </a:p>
        </p:txBody>
      </p:sp>
      <p:sp>
        <p:nvSpPr>
          <p:cNvPr id="574" name="Google Shape;574;p34"/>
          <p:cNvSpPr txBox="1"/>
          <p:nvPr>
            <p:ph idx="12" type="sldNum"/>
          </p:nvPr>
        </p:nvSpPr>
        <p:spPr>
          <a:xfrm>
            <a:off x="7848600" y="753228"/>
            <a:ext cx="1157674" cy="109078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9" name="Shape 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" name="Google Shape;580;p35"/>
          <p:cNvSpPr txBox="1"/>
          <p:nvPr>
            <p:ph type="title"/>
          </p:nvPr>
        </p:nvSpPr>
        <p:spPr>
          <a:xfrm>
            <a:off x="531639" y="753228"/>
            <a:ext cx="6896534" cy="1080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Trebuchet MS"/>
              <a:buNone/>
            </a:pPr>
            <a:r>
              <a:rPr lang="en-US"/>
              <a:t>Fossum's Example Again</a:t>
            </a:r>
            <a:br>
              <a:rPr lang="en-US"/>
            </a:br>
            <a:r>
              <a:rPr lang="en-US"/>
              <a:t>Note use of objects as environments</a:t>
            </a:r>
            <a:endParaRPr/>
          </a:p>
        </p:txBody>
      </p:sp>
      <p:sp>
        <p:nvSpPr>
          <p:cNvPr id="581" name="Google Shape;581;p35"/>
          <p:cNvSpPr txBox="1"/>
          <p:nvPr>
            <p:ph idx="1" type="body"/>
          </p:nvPr>
        </p:nvSpPr>
        <p:spPr>
          <a:xfrm>
            <a:off x="533400" y="2057400"/>
            <a:ext cx="6887389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0000" lnSpcReduction="2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None/>
            </a:pPr>
            <a:r>
              <a:rPr lang="en-US">
                <a:latin typeface="Lemon"/>
                <a:ea typeface="Lemon"/>
                <a:cs typeface="Lemon"/>
                <a:sym typeface="Lemon"/>
              </a:rPr>
              <a:t>define c1 =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ct val="100000"/>
              <a:buNone/>
            </a:pPr>
            <a:r>
              <a:rPr lang="en-US">
                <a:latin typeface="Lemon"/>
                <a:ea typeface="Lemon"/>
                <a:cs typeface="Lemon"/>
                <a:sym typeface="Lemon"/>
              </a:rPr>
              <a:t>    class % extends an unnamed class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ct val="100000"/>
              <a:buNone/>
            </a:pPr>
            <a:r>
              <a:rPr lang="en-US">
                <a:latin typeface="Lemon"/>
                <a:ea typeface="Lemon"/>
                <a:cs typeface="Lemon"/>
                <a:sym typeface="Lemon"/>
              </a:rPr>
              <a:t>        field x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ct val="100000"/>
              <a:buNone/>
            </a:pPr>
            <a:r>
              <a:rPr lang="en-US">
                <a:latin typeface="Lemon"/>
                <a:ea typeface="Lemon"/>
                <a:cs typeface="Lemon"/>
                <a:sym typeface="Lemon"/>
              </a:rPr>
              <a:t>        field y end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ct val="100000"/>
              <a:buNone/>
            </a:pPr>
            <a:r>
              <a:rPr lang="en-US">
                <a:latin typeface="Lemon"/>
                <a:ea typeface="Lemon"/>
                <a:cs typeface="Lemon"/>
                <a:sym typeface="Lemon"/>
              </a:rPr>
              <a:t>define c2 =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ct val="100000"/>
              <a:buNone/>
            </a:pPr>
            <a:r>
              <a:rPr lang="en-US">
                <a:latin typeface="Lemon"/>
                <a:ea typeface="Lemon"/>
                <a:cs typeface="Lemon"/>
                <a:sym typeface="Lemon"/>
              </a:rPr>
              <a:t>    class extends c1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ct val="100000"/>
              <a:buNone/>
            </a:pPr>
            <a:r>
              <a:rPr lang="en-US">
                <a:latin typeface="Lemon"/>
                <a:ea typeface="Lemon"/>
                <a:cs typeface="Lemon"/>
                <a:sym typeface="Lemon"/>
              </a:rPr>
              <a:t>        field z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ct val="100000"/>
              <a:buNone/>
            </a:pPr>
            <a:r>
              <a:rPr lang="en-US">
                <a:latin typeface="Lemon"/>
                <a:ea typeface="Lemon"/>
                <a:cs typeface="Lemon"/>
                <a:sym typeface="Lemon"/>
              </a:rPr>
              <a:t>        field x end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ct val="100000"/>
              <a:buNone/>
            </a:pPr>
            <a:r>
              <a:rPr lang="en-US">
                <a:latin typeface="Lemon"/>
                <a:ea typeface="Lemon"/>
                <a:cs typeface="Lemon"/>
                <a:sym typeface="Lemon"/>
              </a:rPr>
              <a:t>define obj1 = new c1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ct val="100000"/>
              <a:buNone/>
            </a:pPr>
            <a:r>
              <a:rPr lang="en-US">
                <a:latin typeface="Lemon"/>
                <a:ea typeface="Lemon"/>
                <a:cs typeface="Lemon"/>
                <a:sym typeface="Lemon"/>
              </a:rPr>
              <a:t>define obj2 = new c2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ct val="100000"/>
              <a:buNone/>
            </a:pPr>
            <a:r>
              <a:rPr lang="en-US">
                <a:latin typeface="Lemon"/>
                <a:ea typeface="Lemon"/>
                <a:cs typeface="Lemon"/>
                <a:sym typeface="Lemon"/>
              </a:rPr>
              <a:t>&lt;obj1&gt;set x = 3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ct val="100000"/>
              <a:buNone/>
            </a:pPr>
            <a:r>
              <a:rPr lang="en-US">
                <a:latin typeface="Lemon"/>
                <a:ea typeface="Lemon"/>
                <a:cs typeface="Lemon"/>
                <a:sym typeface="Lemon"/>
              </a:rPr>
              <a:t>&lt;obj2&gt;set x = 5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ct val="100000"/>
              <a:buNone/>
            </a:pPr>
            <a:r>
              <a:rPr lang="en-US">
                <a:latin typeface="Lemon"/>
                <a:ea typeface="Lemon"/>
                <a:cs typeface="Lemon"/>
                <a:sym typeface="Lemon"/>
              </a:rPr>
              <a:t>&lt;obj1&gt;x % evaluates to 3</a:t>
            </a:r>
            <a:endParaRPr/>
          </a:p>
        </p:txBody>
      </p:sp>
      <p:sp>
        <p:nvSpPr>
          <p:cNvPr id="582" name="Google Shape;582;p35"/>
          <p:cNvSpPr txBox="1"/>
          <p:nvPr>
            <p:ph idx="10" type="dt"/>
          </p:nvPr>
        </p:nvSpPr>
        <p:spPr>
          <a:xfrm>
            <a:off x="5367881" y="5936188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4/21/21</a:t>
            </a:r>
            <a:endParaRPr/>
          </a:p>
        </p:txBody>
      </p:sp>
      <p:sp>
        <p:nvSpPr>
          <p:cNvPr id="583" name="Google Shape;583;p35"/>
          <p:cNvSpPr txBox="1"/>
          <p:nvPr>
            <p:ph idx="12" type="sldNum"/>
          </p:nvPr>
        </p:nvSpPr>
        <p:spPr>
          <a:xfrm>
            <a:off x="7848600" y="753228"/>
            <a:ext cx="1157674" cy="109078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84" name="Google Shape;584;p35"/>
          <p:cNvSpPr txBox="1"/>
          <p:nvPr/>
        </p:nvSpPr>
        <p:spPr>
          <a:xfrm>
            <a:off x="4800600" y="3481656"/>
            <a:ext cx="3813865" cy="15696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rPr>
              <a:t>Class expressions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rPr>
              <a:t>can go in the angle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rPr>
              <a:t>brackets, too.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rPr>
              <a:t>What would that simulate?</a:t>
            </a:r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8" name="Shape 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9" name="Google Shape;589;p36"/>
          <p:cNvSpPr txBox="1"/>
          <p:nvPr>
            <p:ph type="title"/>
          </p:nvPr>
        </p:nvSpPr>
        <p:spPr>
          <a:xfrm>
            <a:off x="533400" y="753228"/>
            <a:ext cx="6887390" cy="1080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rebuchet MS"/>
              <a:buNone/>
            </a:pPr>
            <a:r>
              <a:rPr lang="en-US"/>
              <a:t>Using environments in methods</a:t>
            </a:r>
            <a:endParaRPr/>
          </a:p>
        </p:txBody>
      </p:sp>
      <p:sp>
        <p:nvSpPr>
          <p:cNvPr id="590" name="Google Shape;590;p36"/>
          <p:cNvSpPr txBox="1"/>
          <p:nvPr>
            <p:ph idx="1" type="body"/>
          </p:nvPr>
        </p:nvSpPr>
        <p:spPr>
          <a:xfrm>
            <a:off x="533400" y="2336873"/>
            <a:ext cx="4660352" cy="35993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2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None/>
            </a:pPr>
            <a:r>
              <a:rPr lang="en-US">
                <a:latin typeface="Lemon"/>
                <a:ea typeface="Lemon"/>
                <a:cs typeface="Lemon"/>
                <a:sym typeface="Lemon"/>
              </a:rPr>
              <a:t>--&gt; define Pair </a:t>
            </a:r>
            <a:br>
              <a:rPr lang="en-US">
                <a:latin typeface="Lemon"/>
                <a:ea typeface="Lemon"/>
                <a:cs typeface="Lemon"/>
                <a:sym typeface="Lemon"/>
              </a:rPr>
            </a:br>
            <a:r>
              <a:rPr lang="en-US">
                <a:latin typeface="Lemon"/>
                <a:ea typeface="Lemon"/>
                <a:cs typeface="Lemon"/>
                <a:sym typeface="Lemon"/>
              </a:rPr>
              <a:t>        class</a:t>
            </a:r>
            <a:br>
              <a:rPr lang="en-US">
                <a:latin typeface="Lemon"/>
                <a:ea typeface="Lemon"/>
                <a:cs typeface="Lemon"/>
                <a:sym typeface="Lemon"/>
              </a:rPr>
            </a:br>
            <a:r>
              <a:rPr lang="en-US">
                <a:latin typeface="Lemon"/>
                <a:ea typeface="Lemon"/>
                <a:cs typeface="Lemon"/>
                <a:sym typeface="Lemon"/>
              </a:rPr>
              <a:t>            field x</a:t>
            </a:r>
            <a:br>
              <a:rPr lang="en-US">
                <a:latin typeface="Lemon"/>
                <a:ea typeface="Lemon"/>
                <a:cs typeface="Lemon"/>
                <a:sym typeface="Lemon"/>
              </a:rPr>
            </a:br>
            <a:r>
              <a:rPr lang="en-US">
                <a:latin typeface="Lemon"/>
                <a:ea typeface="Lemon"/>
                <a:cs typeface="Lemon"/>
                <a:sym typeface="Lemon"/>
              </a:rPr>
              <a:t>            field y</a:t>
            </a:r>
            <a:br>
              <a:rPr lang="en-US">
                <a:latin typeface="Lemon"/>
                <a:ea typeface="Lemon"/>
                <a:cs typeface="Lemon"/>
                <a:sym typeface="Lemon"/>
              </a:rPr>
            </a:br>
            <a:r>
              <a:rPr lang="en-US">
                <a:latin typeface="Lemon"/>
                <a:ea typeface="Lemon"/>
                <a:cs typeface="Lemon"/>
                <a:sym typeface="Lemon"/>
              </a:rPr>
              <a:t>            method sum =</a:t>
            </a:r>
            <a:br>
              <a:rPr lang="en-US">
                <a:latin typeface="Lemon"/>
                <a:ea typeface="Lemon"/>
                <a:cs typeface="Lemon"/>
                <a:sym typeface="Lemon"/>
              </a:rPr>
            </a:br>
            <a:r>
              <a:rPr lang="en-US">
                <a:latin typeface="Lemon"/>
                <a:ea typeface="Lemon"/>
                <a:cs typeface="Lemon"/>
                <a:sym typeface="Lemon"/>
              </a:rPr>
              <a:t>                proc() +(x,y)</a:t>
            </a:r>
            <a:br>
              <a:rPr lang="en-US">
                <a:latin typeface="Lemon"/>
                <a:ea typeface="Lemon"/>
                <a:cs typeface="Lemon"/>
                <a:sym typeface="Lemon"/>
              </a:rPr>
            </a:br>
            <a:r>
              <a:rPr lang="en-US">
                <a:latin typeface="Lemon"/>
                <a:ea typeface="Lemon"/>
                <a:cs typeface="Lemon"/>
                <a:sym typeface="Lemon"/>
              </a:rPr>
              <a:t>        end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ct val="100000"/>
              <a:buNone/>
            </a:pPr>
            <a:r>
              <a:t/>
            </a:r>
            <a:endParaRPr>
              <a:latin typeface="Lemon"/>
              <a:ea typeface="Lemon"/>
              <a:cs typeface="Lemon"/>
              <a:sym typeface="Lemon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ct val="100000"/>
              <a:buNone/>
            </a:pPr>
            <a:r>
              <a:rPr lang="en-US">
                <a:latin typeface="Lemon"/>
                <a:ea typeface="Lemon"/>
                <a:cs typeface="Lemon"/>
                <a:sym typeface="Lemon"/>
              </a:rPr>
              <a:t>Pair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ct val="100000"/>
              <a:buNone/>
            </a:pPr>
            <a:r>
              <a:rPr lang="en-US">
                <a:latin typeface="Lemon"/>
                <a:ea typeface="Lemon"/>
                <a:cs typeface="Lemon"/>
                <a:sym typeface="Lemon"/>
              </a:rPr>
              <a:t>--&gt; define p = new Pair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ct val="100000"/>
              <a:buNone/>
            </a:pPr>
            <a:r>
              <a:rPr lang="en-US">
                <a:latin typeface="Lemon"/>
                <a:ea typeface="Lemon"/>
                <a:cs typeface="Lemon"/>
                <a:sym typeface="Lemon"/>
              </a:rPr>
              <a:t>p</a:t>
            </a:r>
            <a:endParaRPr/>
          </a:p>
        </p:txBody>
      </p:sp>
      <p:sp>
        <p:nvSpPr>
          <p:cNvPr id="591" name="Google Shape;591;p36"/>
          <p:cNvSpPr txBox="1"/>
          <p:nvPr>
            <p:ph idx="2" type="body"/>
          </p:nvPr>
        </p:nvSpPr>
        <p:spPr>
          <a:xfrm>
            <a:off x="5542202" y="2336871"/>
            <a:ext cx="3359661" cy="35993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2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None/>
            </a:pPr>
            <a:r>
              <a:rPr lang="en-US">
                <a:latin typeface="Lemon"/>
                <a:ea typeface="Lemon"/>
                <a:cs typeface="Lemon"/>
                <a:sym typeface="Lemon"/>
              </a:rPr>
              <a:t>--&gt; set &lt;p&gt;x = 2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ct val="100000"/>
              <a:buNone/>
            </a:pPr>
            <a:r>
              <a:rPr lang="en-US">
                <a:latin typeface="Lemon"/>
                <a:ea typeface="Lemon"/>
                <a:cs typeface="Lemon"/>
                <a:sym typeface="Lemon"/>
              </a:rPr>
              <a:t>2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ct val="100000"/>
              <a:buNone/>
            </a:pPr>
            <a:r>
              <a:rPr lang="en-US">
                <a:latin typeface="Lemon"/>
                <a:ea typeface="Lemon"/>
                <a:cs typeface="Lemon"/>
                <a:sym typeface="Lemon"/>
              </a:rPr>
              <a:t>--&gt; &lt;p&gt;x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ct val="100000"/>
              <a:buNone/>
            </a:pPr>
            <a:r>
              <a:rPr lang="en-US">
                <a:latin typeface="Lemon"/>
                <a:ea typeface="Lemon"/>
                <a:cs typeface="Lemon"/>
                <a:sym typeface="Lemon"/>
              </a:rPr>
              <a:t>2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ct val="100000"/>
              <a:buNone/>
            </a:pPr>
            <a:r>
              <a:rPr lang="en-US">
                <a:latin typeface="Lemon"/>
                <a:ea typeface="Lemon"/>
                <a:cs typeface="Lemon"/>
                <a:sym typeface="Lemon"/>
              </a:rPr>
              <a:t>--&gt; &lt;p&gt;set y = 13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ct val="100000"/>
              <a:buNone/>
            </a:pPr>
            <a:r>
              <a:rPr lang="en-US">
                <a:latin typeface="Lemon"/>
                <a:ea typeface="Lemon"/>
                <a:cs typeface="Lemon"/>
                <a:sym typeface="Lemon"/>
              </a:rPr>
              <a:t>13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ct val="100000"/>
              <a:buNone/>
            </a:pPr>
            <a:r>
              <a:rPr lang="en-US">
                <a:latin typeface="Lemon"/>
                <a:ea typeface="Lemon"/>
                <a:cs typeface="Lemon"/>
                <a:sym typeface="Lemon"/>
              </a:rPr>
              <a:t>--&gt; &lt;p&gt;.sum()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ct val="100000"/>
              <a:buNone/>
            </a:pPr>
            <a:r>
              <a:rPr lang="en-US">
                <a:latin typeface="Lemon"/>
                <a:ea typeface="Lemon"/>
                <a:cs typeface="Lemon"/>
                <a:sym typeface="Lemon"/>
              </a:rPr>
              <a:t>15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ct val="100000"/>
              <a:buNone/>
            </a:pPr>
            <a:r>
              <a:rPr lang="en-US">
                <a:latin typeface="Lemon"/>
                <a:ea typeface="Lemon"/>
                <a:cs typeface="Lemon"/>
                <a:sym typeface="Lemon"/>
              </a:rPr>
              <a:t>--&gt; .&lt;p&gt;sum()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ct val="100000"/>
              <a:buNone/>
            </a:pPr>
            <a:r>
              <a:rPr lang="en-US">
                <a:latin typeface="Lemon"/>
                <a:ea typeface="Lemon"/>
                <a:cs typeface="Lemon"/>
                <a:sym typeface="Lemon"/>
              </a:rPr>
              <a:t>15</a:t>
            </a:r>
            <a:endParaRPr/>
          </a:p>
        </p:txBody>
      </p:sp>
      <p:sp>
        <p:nvSpPr>
          <p:cNvPr id="592" name="Google Shape;592;p36"/>
          <p:cNvSpPr txBox="1"/>
          <p:nvPr>
            <p:ph idx="10" type="dt"/>
          </p:nvPr>
        </p:nvSpPr>
        <p:spPr>
          <a:xfrm>
            <a:off x="5367881" y="5936188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4/21/21</a:t>
            </a:r>
            <a:endParaRPr/>
          </a:p>
        </p:txBody>
      </p:sp>
      <p:sp>
        <p:nvSpPr>
          <p:cNvPr id="593" name="Google Shape;593;p36"/>
          <p:cNvSpPr txBox="1"/>
          <p:nvPr>
            <p:ph idx="12" type="sldNum"/>
          </p:nvPr>
        </p:nvSpPr>
        <p:spPr>
          <a:xfrm>
            <a:off x="7848600" y="753228"/>
            <a:ext cx="1157674" cy="109078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94" name="Google Shape;594;p36"/>
          <p:cNvSpPr txBox="1"/>
          <p:nvPr/>
        </p:nvSpPr>
        <p:spPr>
          <a:xfrm rot="1800000">
            <a:off x="7040797" y="2800973"/>
            <a:ext cx="1269194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FACEBE"/>
                </a:solidFill>
                <a:latin typeface="Tahoma"/>
                <a:ea typeface="Tahoma"/>
                <a:cs typeface="Tahoma"/>
                <a:sym typeface="Tahoma"/>
              </a:rPr>
              <a:t>ValRefs!</a:t>
            </a:r>
            <a:endParaRPr/>
          </a:p>
        </p:txBody>
      </p:sp>
      <p:sp>
        <p:nvSpPr>
          <p:cNvPr id="595" name="Google Shape;595;p36"/>
          <p:cNvSpPr/>
          <p:nvPr/>
        </p:nvSpPr>
        <p:spPr>
          <a:xfrm>
            <a:off x="5486400" y="4343400"/>
            <a:ext cx="2590800" cy="1524000"/>
          </a:xfrm>
          <a:prstGeom prst="roundRect">
            <a:avLst>
              <a:gd fmla="val 16667" name="adj"/>
            </a:avLst>
          </a:prstGeom>
          <a:noFill/>
          <a:ln cap="flat" cmpd="sng" w="12700">
            <a:solidFill>
              <a:srgbClr val="AF6C0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lt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596" name="Google Shape;596;p36"/>
          <p:cNvSpPr/>
          <p:nvPr/>
        </p:nvSpPr>
        <p:spPr>
          <a:xfrm>
            <a:off x="2743200" y="5946039"/>
            <a:ext cx="2450552" cy="911961"/>
          </a:xfrm>
          <a:prstGeom prst="cloudCallout">
            <a:avLst>
              <a:gd fmla="val 70289" name="adj1"/>
              <a:gd fmla="val -91487" name="adj2"/>
            </a:avLst>
          </a:prstGeom>
          <a:solidFill>
            <a:schemeClr val="accent1"/>
          </a:solidFill>
          <a:ln cap="flat" cmpd="sng" w="12700">
            <a:solidFill>
              <a:srgbClr val="AF6C0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rPr>
              <a:t>so does it matter which one we do?</a:t>
            </a:r>
            <a:endParaRPr/>
          </a:p>
        </p:txBody>
      </p:sp>
      <p:sp>
        <p:nvSpPr>
          <p:cNvPr id="597" name="Google Shape;597;p36"/>
          <p:cNvSpPr/>
          <p:nvPr/>
        </p:nvSpPr>
        <p:spPr>
          <a:xfrm>
            <a:off x="7577874" y="6019800"/>
            <a:ext cx="1323990" cy="838200"/>
          </a:xfrm>
          <a:prstGeom prst="cloud">
            <a:avLst/>
          </a:prstGeom>
          <a:solidFill>
            <a:schemeClr val="accent1"/>
          </a:solidFill>
          <a:ln cap="flat" cmpd="sng" w="12700">
            <a:solidFill>
              <a:srgbClr val="AF6C0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rPr>
              <a:t>oh yeah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5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3000"/>
                                        <p:tgtEl>
                                          <p:spTgt spid="5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1" name="Shape 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2" name="Google Shape;602;p37"/>
          <p:cNvSpPr txBox="1"/>
          <p:nvPr>
            <p:ph type="title"/>
          </p:nvPr>
        </p:nvSpPr>
        <p:spPr>
          <a:xfrm>
            <a:off x="531639" y="753228"/>
            <a:ext cx="6896534" cy="1080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rebuchet MS"/>
              <a:buNone/>
            </a:pPr>
            <a:r>
              <a:rPr lang="en-US"/>
              <a:t>and you thought it was hard to remember the dot…</a:t>
            </a:r>
            <a:endParaRPr/>
          </a:p>
        </p:txBody>
      </p:sp>
      <p:sp>
        <p:nvSpPr>
          <p:cNvPr id="603" name="Google Shape;603;p37"/>
          <p:cNvSpPr txBox="1"/>
          <p:nvPr>
            <p:ph idx="1" type="body"/>
          </p:nvPr>
        </p:nvSpPr>
        <p:spPr>
          <a:xfrm>
            <a:off x="531638" y="2097955"/>
            <a:ext cx="8155161" cy="395498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62500" lnSpcReduction="2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None/>
            </a:pPr>
            <a:r>
              <a:rPr lang="en-US">
                <a:latin typeface="Lemon"/>
                <a:ea typeface="Lemon"/>
                <a:cs typeface="Lemon"/>
                <a:sym typeface="Lemon"/>
              </a:rPr>
              <a:t>--&gt; define Num = class field x method plus = proc( a ) +( x, a ) end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ct val="100000"/>
              <a:buNone/>
            </a:pPr>
            <a:r>
              <a:rPr lang="en-US">
                <a:latin typeface="Lemon"/>
                <a:ea typeface="Lemon"/>
                <a:cs typeface="Lemon"/>
                <a:sym typeface="Lemon"/>
              </a:rPr>
              <a:t>--&gt; define x = 10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ct val="100000"/>
              <a:buNone/>
            </a:pPr>
            <a:r>
              <a:rPr lang="en-US">
                <a:latin typeface="Lemon"/>
                <a:ea typeface="Lemon"/>
                <a:cs typeface="Lemon"/>
                <a:sym typeface="Lemon"/>
              </a:rPr>
              <a:t>x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ct val="100000"/>
              <a:buNone/>
            </a:pPr>
            <a:r>
              <a:rPr lang="en-US">
                <a:latin typeface="Lemon"/>
                <a:ea typeface="Lemon"/>
                <a:cs typeface="Lemon"/>
                <a:sym typeface="Lemon"/>
              </a:rPr>
              <a:t>--&gt; define n = new Num</a:t>
            </a:r>
            <a:endParaRPr>
              <a:latin typeface="Lemon"/>
              <a:ea typeface="Lemon"/>
              <a:cs typeface="Lemon"/>
              <a:sym typeface="Lemon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ct val="100000"/>
              <a:buNone/>
            </a:pPr>
            <a:r>
              <a:rPr lang="en-US">
                <a:latin typeface="Lemon"/>
                <a:ea typeface="Lemon"/>
                <a:cs typeface="Lemon"/>
                <a:sym typeface="Lemon"/>
              </a:rPr>
              <a:t>n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ct val="100000"/>
              <a:buNone/>
            </a:pPr>
            <a:r>
              <a:rPr lang="en-US">
                <a:latin typeface="Lemon"/>
                <a:ea typeface="Lemon"/>
                <a:cs typeface="Lemon"/>
                <a:sym typeface="Lemon"/>
              </a:rPr>
              <a:t>--&gt; &lt;n&gt;set x = 2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ct val="100000"/>
              <a:buNone/>
            </a:pPr>
            <a:r>
              <a:rPr lang="en-US">
                <a:latin typeface="Lemon"/>
                <a:ea typeface="Lemon"/>
                <a:cs typeface="Lemon"/>
                <a:sym typeface="Lemon"/>
              </a:rPr>
              <a:t>2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ct val="100000"/>
              <a:buNone/>
            </a:pPr>
            <a:r>
              <a:rPr lang="en-US">
                <a:latin typeface="Lemon"/>
                <a:ea typeface="Lemon"/>
                <a:cs typeface="Lemon"/>
                <a:sym typeface="Lemon"/>
              </a:rPr>
              <a:t>--&gt; &lt;n&gt;.plus( x )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ct val="100000"/>
              <a:buNone/>
            </a:pPr>
            <a:r>
              <a:rPr lang="en-US">
                <a:latin typeface="Lemon"/>
                <a:ea typeface="Lemon"/>
                <a:cs typeface="Lemon"/>
                <a:sym typeface="Lemon"/>
              </a:rPr>
              <a:t>4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ct val="100000"/>
              <a:buNone/>
            </a:pPr>
            <a:r>
              <a:rPr lang="en-US">
                <a:latin typeface="Lemon"/>
                <a:ea typeface="Lemon"/>
                <a:cs typeface="Lemon"/>
                <a:sym typeface="Lemon"/>
              </a:rPr>
              <a:t>--&gt; .&lt;n&gt;plus( x )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ct val="100000"/>
              <a:buNone/>
            </a:pPr>
            <a:r>
              <a:rPr lang="en-US">
                <a:latin typeface="Lemon"/>
                <a:ea typeface="Lemon"/>
                <a:cs typeface="Lemon"/>
                <a:sym typeface="Lemon"/>
              </a:rPr>
              <a:t>12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ct val="100000"/>
              <a:buNone/>
            </a:pPr>
            <a:r>
              <a:t/>
            </a:r>
            <a:endParaRPr>
              <a:latin typeface="Lemon"/>
              <a:ea typeface="Lemon"/>
              <a:cs typeface="Lemon"/>
              <a:sym typeface="Lemon"/>
            </a:endParaRPr>
          </a:p>
          <a:p>
            <a:pPr indent="-228631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ct val="100000"/>
              <a:buChar char="•"/>
            </a:pPr>
            <a:r>
              <a:rPr lang="en-US" sz="2900"/>
              <a:t>Which one should we normally use?</a:t>
            </a:r>
            <a:endParaRPr/>
          </a:p>
        </p:txBody>
      </p:sp>
      <p:sp>
        <p:nvSpPr>
          <p:cNvPr id="604" name="Google Shape;604;p37"/>
          <p:cNvSpPr txBox="1"/>
          <p:nvPr>
            <p:ph idx="10" type="dt"/>
          </p:nvPr>
        </p:nvSpPr>
        <p:spPr>
          <a:xfrm>
            <a:off x="5367881" y="5936188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4/21/21</a:t>
            </a:r>
            <a:endParaRPr/>
          </a:p>
        </p:txBody>
      </p:sp>
      <p:sp>
        <p:nvSpPr>
          <p:cNvPr id="605" name="Google Shape;605;p37"/>
          <p:cNvSpPr txBox="1"/>
          <p:nvPr>
            <p:ph idx="12" type="sldNum"/>
          </p:nvPr>
        </p:nvSpPr>
        <p:spPr>
          <a:xfrm>
            <a:off x="7848600" y="753228"/>
            <a:ext cx="1157674" cy="109078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9" name="Shape 6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" name="Google Shape;610;p38"/>
          <p:cNvSpPr txBox="1"/>
          <p:nvPr>
            <p:ph type="title"/>
          </p:nvPr>
        </p:nvSpPr>
        <p:spPr>
          <a:xfrm>
            <a:off x="531639" y="753228"/>
            <a:ext cx="6896534" cy="1080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rebuchet MS"/>
              <a:buNone/>
            </a:pPr>
            <a:r>
              <a:rPr lang="en-US"/>
              <a:t>Reminder:</a:t>
            </a:r>
            <a:br>
              <a:rPr lang="en-US"/>
            </a:br>
            <a:r>
              <a:rPr lang="en-US"/>
              <a:t>OOP Design Approaches</a:t>
            </a:r>
            <a:endParaRPr/>
          </a:p>
        </p:txBody>
      </p:sp>
      <p:sp>
        <p:nvSpPr>
          <p:cNvPr id="611" name="Google Shape;611;p38"/>
          <p:cNvSpPr txBox="1"/>
          <p:nvPr>
            <p:ph idx="10" type="dt"/>
          </p:nvPr>
        </p:nvSpPr>
        <p:spPr>
          <a:xfrm>
            <a:off x="5367881" y="5936188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4/21/21</a:t>
            </a:r>
            <a:endParaRPr/>
          </a:p>
        </p:txBody>
      </p:sp>
      <p:sp>
        <p:nvSpPr>
          <p:cNvPr id="612" name="Google Shape;612;p38"/>
          <p:cNvSpPr txBox="1"/>
          <p:nvPr>
            <p:ph idx="12" type="sldNum"/>
          </p:nvPr>
        </p:nvSpPr>
        <p:spPr>
          <a:xfrm>
            <a:off x="7848600" y="753228"/>
            <a:ext cx="1157674" cy="109078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13" name="Google Shape;613;p38"/>
          <p:cNvSpPr/>
          <p:nvPr/>
        </p:nvSpPr>
        <p:spPr>
          <a:xfrm>
            <a:off x="1371600" y="2116702"/>
            <a:ext cx="1219200" cy="304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hlink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@Derived.f1</a:t>
            </a:r>
            <a:endParaRPr/>
          </a:p>
        </p:txBody>
      </p:sp>
      <p:sp>
        <p:nvSpPr>
          <p:cNvPr id="614" name="Google Shape;614;p38"/>
          <p:cNvSpPr/>
          <p:nvPr/>
        </p:nvSpPr>
        <p:spPr>
          <a:xfrm>
            <a:off x="1371600" y="2421502"/>
            <a:ext cx="1219200" cy="304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hlink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@Derived.f2</a:t>
            </a:r>
            <a:endParaRPr/>
          </a:p>
        </p:txBody>
      </p:sp>
      <p:sp>
        <p:nvSpPr>
          <p:cNvPr id="615" name="Google Shape;615;p38"/>
          <p:cNvSpPr/>
          <p:nvPr/>
        </p:nvSpPr>
        <p:spPr>
          <a:xfrm>
            <a:off x="1219200" y="4402702"/>
            <a:ext cx="1219200" cy="304800"/>
          </a:xfrm>
          <a:prstGeom prst="rect">
            <a:avLst/>
          </a:prstGeom>
          <a:solidFill>
            <a:srgbClr val="FACEBE"/>
          </a:solidFill>
          <a:ln cap="flat" cmpd="sng" w="952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3A3838"/>
                </a:solidFill>
                <a:latin typeface="Tahoma"/>
                <a:ea typeface="Tahoma"/>
                <a:cs typeface="Tahoma"/>
                <a:sym typeface="Tahoma"/>
              </a:rPr>
              <a:t>6</a:t>
            </a:r>
            <a:endParaRPr/>
          </a:p>
        </p:txBody>
      </p:sp>
      <p:sp>
        <p:nvSpPr>
          <p:cNvPr id="616" name="Google Shape;616;p38"/>
          <p:cNvSpPr/>
          <p:nvPr/>
        </p:nvSpPr>
        <p:spPr>
          <a:xfrm>
            <a:off x="1219200" y="4707502"/>
            <a:ext cx="1219200" cy="304800"/>
          </a:xfrm>
          <a:prstGeom prst="rect">
            <a:avLst/>
          </a:prstGeom>
          <a:solidFill>
            <a:srgbClr val="FACEBE"/>
          </a:solidFill>
          <a:ln cap="flat" cmpd="sng" w="952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3A3838"/>
                </a:solidFill>
                <a:latin typeface="Tahoma"/>
                <a:ea typeface="Tahoma"/>
                <a:cs typeface="Tahoma"/>
                <a:sym typeface="Tahoma"/>
              </a:rPr>
              <a:t>0.0932</a:t>
            </a:r>
            <a:endParaRPr/>
          </a:p>
        </p:txBody>
      </p:sp>
      <p:sp>
        <p:nvSpPr>
          <p:cNvPr id="617" name="Google Shape;617;p38"/>
          <p:cNvSpPr txBox="1"/>
          <p:nvPr/>
        </p:nvSpPr>
        <p:spPr>
          <a:xfrm>
            <a:off x="990600" y="4402702"/>
            <a:ext cx="306388" cy="336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a</a:t>
            </a:r>
            <a:endParaRPr/>
          </a:p>
        </p:txBody>
      </p:sp>
      <p:sp>
        <p:nvSpPr>
          <p:cNvPr id="618" name="Google Shape;618;p38"/>
          <p:cNvSpPr txBox="1"/>
          <p:nvPr/>
        </p:nvSpPr>
        <p:spPr>
          <a:xfrm>
            <a:off x="990600" y="4707502"/>
            <a:ext cx="306388" cy="336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b</a:t>
            </a:r>
            <a:endParaRPr/>
          </a:p>
        </p:txBody>
      </p:sp>
      <p:sp>
        <p:nvSpPr>
          <p:cNvPr id="619" name="Google Shape;619;p38"/>
          <p:cNvSpPr/>
          <p:nvPr/>
        </p:nvSpPr>
        <p:spPr>
          <a:xfrm>
            <a:off x="1219200" y="4097902"/>
            <a:ext cx="1219200" cy="304800"/>
          </a:xfrm>
          <a:prstGeom prst="rect">
            <a:avLst/>
          </a:prstGeom>
          <a:solidFill>
            <a:srgbClr val="FACEBE"/>
          </a:solidFill>
          <a:ln cap="flat" cmpd="sng" w="952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3A3838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620" name="Google Shape;620;p38"/>
          <p:cNvSpPr txBox="1"/>
          <p:nvPr/>
        </p:nvSpPr>
        <p:spPr>
          <a:xfrm>
            <a:off x="374650" y="4097902"/>
            <a:ext cx="923925" cy="3381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fn_tbl</a:t>
            </a:r>
            <a:endParaRPr/>
          </a:p>
        </p:txBody>
      </p:sp>
      <p:sp>
        <p:nvSpPr>
          <p:cNvPr id="621" name="Google Shape;621;p38"/>
          <p:cNvSpPr/>
          <p:nvPr/>
        </p:nvSpPr>
        <p:spPr>
          <a:xfrm>
            <a:off x="381000" y="2269102"/>
            <a:ext cx="1447800" cy="1981200"/>
          </a:xfrm>
          <a:custGeom>
            <a:rect b="b" l="l" r="r" t="t"/>
            <a:pathLst>
              <a:path extrusionOk="0" h="1248" w="912">
                <a:moveTo>
                  <a:pt x="912" y="1248"/>
                </a:moveTo>
                <a:cubicBezTo>
                  <a:pt x="844" y="1092"/>
                  <a:pt x="776" y="936"/>
                  <a:pt x="624" y="768"/>
                </a:cubicBezTo>
                <a:cubicBezTo>
                  <a:pt x="472" y="600"/>
                  <a:pt x="0" y="368"/>
                  <a:pt x="0" y="240"/>
                </a:cubicBezTo>
                <a:cubicBezTo>
                  <a:pt x="0" y="112"/>
                  <a:pt x="520" y="40"/>
                  <a:pt x="624" y="0"/>
                </a:cubicBezTo>
              </a:path>
            </a:pathLst>
          </a:cu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lt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622" name="Google Shape;622;p38"/>
          <p:cNvSpPr/>
          <p:nvPr/>
        </p:nvSpPr>
        <p:spPr>
          <a:xfrm>
            <a:off x="1371600" y="2726302"/>
            <a:ext cx="1219200" cy="304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hlink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@Base.f3</a:t>
            </a:r>
            <a:endParaRPr/>
          </a:p>
        </p:txBody>
      </p:sp>
      <p:sp>
        <p:nvSpPr>
          <p:cNvPr id="623" name="Google Shape;623;p38"/>
          <p:cNvSpPr/>
          <p:nvPr/>
        </p:nvSpPr>
        <p:spPr>
          <a:xfrm>
            <a:off x="2819400" y="2116702"/>
            <a:ext cx="1219200" cy="304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hlink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@Base.f1</a:t>
            </a:r>
            <a:endParaRPr/>
          </a:p>
        </p:txBody>
      </p:sp>
      <p:sp>
        <p:nvSpPr>
          <p:cNvPr id="624" name="Google Shape;624;p38"/>
          <p:cNvSpPr/>
          <p:nvPr/>
        </p:nvSpPr>
        <p:spPr>
          <a:xfrm>
            <a:off x="2819400" y="2421502"/>
            <a:ext cx="1219200" cy="304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hlink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@Base.f2</a:t>
            </a:r>
            <a:endParaRPr/>
          </a:p>
        </p:txBody>
      </p:sp>
      <p:sp>
        <p:nvSpPr>
          <p:cNvPr id="625" name="Google Shape;625;p38"/>
          <p:cNvSpPr/>
          <p:nvPr/>
        </p:nvSpPr>
        <p:spPr>
          <a:xfrm>
            <a:off x="2819400" y="2726302"/>
            <a:ext cx="1219200" cy="304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hlink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@Base.f3</a:t>
            </a:r>
            <a:endParaRPr/>
          </a:p>
        </p:txBody>
      </p:sp>
      <p:sp>
        <p:nvSpPr>
          <p:cNvPr id="626" name="Google Shape;626;p38"/>
          <p:cNvSpPr txBox="1"/>
          <p:nvPr/>
        </p:nvSpPr>
        <p:spPr>
          <a:xfrm>
            <a:off x="1378063" y="2997764"/>
            <a:ext cx="1261884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rPr>
              <a:t>for</a:t>
            </a:r>
            <a:br>
              <a:rPr lang="en-US" sz="2000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rPr>
            </a:br>
            <a:r>
              <a:rPr b="1" lang="en-US" sz="2000">
                <a:solidFill>
                  <a:schemeClr val="accent2"/>
                </a:solidFill>
                <a:latin typeface="Courier New"/>
                <a:ea typeface="Courier New"/>
                <a:cs typeface="Courier New"/>
                <a:sym typeface="Courier New"/>
              </a:rPr>
              <a:t>Derived</a:t>
            </a:r>
            <a:endParaRPr b="1" sz="2000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627" name="Google Shape;627;p38"/>
          <p:cNvSpPr txBox="1"/>
          <p:nvPr/>
        </p:nvSpPr>
        <p:spPr>
          <a:xfrm>
            <a:off x="2931988" y="2981889"/>
            <a:ext cx="800219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rPr>
              <a:t>for</a:t>
            </a:r>
            <a:br>
              <a:rPr lang="en-US" sz="2000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rPr>
            </a:br>
            <a:r>
              <a:rPr b="1" lang="en-US" sz="2000">
                <a:solidFill>
                  <a:srgbClr val="FACEBE"/>
                </a:solidFill>
                <a:latin typeface="Courier New"/>
                <a:ea typeface="Courier New"/>
                <a:cs typeface="Courier New"/>
                <a:sym typeface="Courier New"/>
              </a:rPr>
              <a:t>Base</a:t>
            </a:r>
            <a:endParaRPr b="1" sz="2000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628" name="Google Shape;628;p38"/>
          <p:cNvSpPr/>
          <p:nvPr/>
        </p:nvSpPr>
        <p:spPr>
          <a:xfrm>
            <a:off x="5657814" y="3661744"/>
            <a:ext cx="1219200" cy="304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hlink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@Derived.f1</a:t>
            </a:r>
            <a:endParaRPr/>
          </a:p>
        </p:txBody>
      </p:sp>
      <p:sp>
        <p:nvSpPr>
          <p:cNvPr id="629" name="Google Shape;629;p38"/>
          <p:cNvSpPr/>
          <p:nvPr/>
        </p:nvSpPr>
        <p:spPr>
          <a:xfrm>
            <a:off x="5657814" y="3966544"/>
            <a:ext cx="1219200" cy="304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hlink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@Derived.f2</a:t>
            </a:r>
            <a:endParaRPr/>
          </a:p>
        </p:txBody>
      </p:sp>
      <p:sp>
        <p:nvSpPr>
          <p:cNvPr id="630" name="Google Shape;630;p38"/>
          <p:cNvSpPr/>
          <p:nvPr/>
        </p:nvSpPr>
        <p:spPr>
          <a:xfrm>
            <a:off x="5505414" y="5642944"/>
            <a:ext cx="1219200" cy="3048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rPr>
              <a:t>6</a:t>
            </a:r>
            <a:endParaRPr/>
          </a:p>
        </p:txBody>
      </p:sp>
      <p:sp>
        <p:nvSpPr>
          <p:cNvPr id="631" name="Google Shape;631;p38"/>
          <p:cNvSpPr/>
          <p:nvPr/>
        </p:nvSpPr>
        <p:spPr>
          <a:xfrm>
            <a:off x="5505414" y="5947744"/>
            <a:ext cx="1219200" cy="3048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rPr>
              <a:t>0.0932</a:t>
            </a:r>
            <a:endParaRPr/>
          </a:p>
        </p:txBody>
      </p:sp>
      <p:sp>
        <p:nvSpPr>
          <p:cNvPr id="632" name="Google Shape;632;p38"/>
          <p:cNvSpPr txBox="1"/>
          <p:nvPr/>
        </p:nvSpPr>
        <p:spPr>
          <a:xfrm>
            <a:off x="5276814" y="5642944"/>
            <a:ext cx="306388" cy="336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a</a:t>
            </a:r>
            <a:endParaRPr/>
          </a:p>
        </p:txBody>
      </p:sp>
      <p:sp>
        <p:nvSpPr>
          <p:cNvPr id="633" name="Google Shape;633;p38"/>
          <p:cNvSpPr txBox="1"/>
          <p:nvPr/>
        </p:nvSpPr>
        <p:spPr>
          <a:xfrm>
            <a:off x="5276814" y="5947744"/>
            <a:ext cx="306388" cy="336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b</a:t>
            </a:r>
            <a:endParaRPr/>
          </a:p>
        </p:txBody>
      </p:sp>
      <p:sp>
        <p:nvSpPr>
          <p:cNvPr id="634" name="Google Shape;634;p38"/>
          <p:cNvSpPr/>
          <p:nvPr/>
        </p:nvSpPr>
        <p:spPr>
          <a:xfrm>
            <a:off x="5505414" y="5338144"/>
            <a:ext cx="1219200" cy="3048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635" name="Google Shape;635;p38"/>
          <p:cNvSpPr txBox="1"/>
          <p:nvPr/>
        </p:nvSpPr>
        <p:spPr>
          <a:xfrm>
            <a:off x="4784689" y="5338144"/>
            <a:ext cx="800100" cy="3381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class</a:t>
            </a:r>
            <a:endParaRPr/>
          </a:p>
        </p:txBody>
      </p:sp>
      <p:sp>
        <p:nvSpPr>
          <p:cNvPr id="636" name="Google Shape;636;p38"/>
          <p:cNvSpPr/>
          <p:nvPr/>
        </p:nvSpPr>
        <p:spPr>
          <a:xfrm>
            <a:off x="4667214" y="3509344"/>
            <a:ext cx="1447800" cy="1981200"/>
          </a:xfrm>
          <a:custGeom>
            <a:rect b="b" l="l" r="r" t="t"/>
            <a:pathLst>
              <a:path extrusionOk="0" h="1248" w="912">
                <a:moveTo>
                  <a:pt x="912" y="1248"/>
                </a:moveTo>
                <a:cubicBezTo>
                  <a:pt x="844" y="1092"/>
                  <a:pt x="776" y="936"/>
                  <a:pt x="624" y="768"/>
                </a:cubicBezTo>
                <a:cubicBezTo>
                  <a:pt x="472" y="600"/>
                  <a:pt x="0" y="368"/>
                  <a:pt x="0" y="240"/>
                </a:cubicBezTo>
                <a:cubicBezTo>
                  <a:pt x="0" y="112"/>
                  <a:pt x="520" y="40"/>
                  <a:pt x="624" y="0"/>
                </a:cubicBezTo>
              </a:path>
            </a:pathLst>
          </a:cu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lt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637" name="Google Shape;637;p38"/>
          <p:cNvSpPr/>
          <p:nvPr/>
        </p:nvSpPr>
        <p:spPr>
          <a:xfrm>
            <a:off x="7543800" y="2419915"/>
            <a:ext cx="1219200" cy="304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hlink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@Base.f1</a:t>
            </a:r>
            <a:endParaRPr/>
          </a:p>
        </p:txBody>
      </p:sp>
      <p:sp>
        <p:nvSpPr>
          <p:cNvPr id="638" name="Google Shape;638;p38"/>
          <p:cNvSpPr/>
          <p:nvPr/>
        </p:nvSpPr>
        <p:spPr>
          <a:xfrm>
            <a:off x="7543800" y="2724715"/>
            <a:ext cx="1219200" cy="304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hlink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@Base.f2</a:t>
            </a:r>
            <a:endParaRPr/>
          </a:p>
        </p:txBody>
      </p:sp>
      <p:sp>
        <p:nvSpPr>
          <p:cNvPr id="639" name="Google Shape;639;p38"/>
          <p:cNvSpPr/>
          <p:nvPr/>
        </p:nvSpPr>
        <p:spPr>
          <a:xfrm>
            <a:off x="7543800" y="3029515"/>
            <a:ext cx="1219200" cy="304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hlink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@Base.f3</a:t>
            </a:r>
            <a:endParaRPr/>
          </a:p>
        </p:txBody>
      </p:sp>
      <p:sp>
        <p:nvSpPr>
          <p:cNvPr id="640" name="Google Shape;640;p38"/>
          <p:cNvSpPr/>
          <p:nvPr/>
        </p:nvSpPr>
        <p:spPr>
          <a:xfrm>
            <a:off x="5657814" y="3356944"/>
            <a:ext cx="1219200" cy="304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hlink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chemeClr val="accent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641" name="Google Shape;641;p38"/>
          <p:cNvSpPr/>
          <p:nvPr/>
        </p:nvSpPr>
        <p:spPr>
          <a:xfrm>
            <a:off x="7543800" y="2115115"/>
            <a:ext cx="1219200" cy="304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hlink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nil</a:t>
            </a:r>
            <a:endParaRPr/>
          </a:p>
        </p:txBody>
      </p:sp>
      <p:sp>
        <p:nvSpPr>
          <p:cNvPr id="642" name="Google Shape;642;p38"/>
          <p:cNvSpPr txBox="1"/>
          <p:nvPr/>
        </p:nvSpPr>
        <p:spPr>
          <a:xfrm>
            <a:off x="5124414" y="4652344"/>
            <a:ext cx="1530350" cy="3698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800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rPr>
              <a:t>class pointer</a:t>
            </a:r>
            <a:endParaRPr/>
          </a:p>
        </p:txBody>
      </p:sp>
      <p:sp>
        <p:nvSpPr>
          <p:cNvPr id="643" name="Google Shape;643;p38"/>
          <p:cNvSpPr txBox="1"/>
          <p:nvPr/>
        </p:nvSpPr>
        <p:spPr>
          <a:xfrm>
            <a:off x="5355557" y="2682256"/>
            <a:ext cx="2092325" cy="3698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800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rPr>
              <a:t>superclass pointer</a:t>
            </a:r>
            <a:endParaRPr/>
          </a:p>
        </p:txBody>
      </p:sp>
      <p:sp>
        <p:nvSpPr>
          <p:cNvPr id="644" name="Google Shape;644;p38"/>
          <p:cNvSpPr/>
          <p:nvPr/>
        </p:nvSpPr>
        <p:spPr>
          <a:xfrm>
            <a:off x="7543800" y="3334315"/>
            <a:ext cx="1219200" cy="304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hlink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c</a:t>
            </a:r>
            <a:endParaRPr/>
          </a:p>
        </p:txBody>
      </p:sp>
      <p:cxnSp>
        <p:nvCxnSpPr>
          <p:cNvPr id="645" name="Google Shape;645;p38"/>
          <p:cNvCxnSpPr>
            <a:endCxn id="641" idx="1"/>
          </p:cNvCxnSpPr>
          <p:nvPr/>
        </p:nvCxnSpPr>
        <p:spPr>
          <a:xfrm rot="-5400000">
            <a:off x="6304500" y="2269915"/>
            <a:ext cx="1241700" cy="1236900"/>
          </a:xfrm>
          <a:prstGeom prst="curvedConnector2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lg" w="lg" type="oval"/>
            <a:tailEnd len="lg" w="lg" type="stealth"/>
          </a:ln>
        </p:spPr>
      </p:cxnSp>
      <p:sp>
        <p:nvSpPr>
          <p:cNvPr id="646" name="Google Shape;646;p38"/>
          <p:cNvSpPr txBox="1"/>
          <p:nvPr/>
        </p:nvSpPr>
        <p:spPr>
          <a:xfrm>
            <a:off x="2781111" y="4356676"/>
            <a:ext cx="1276503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rPr>
              <a:t>The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rPr>
              <a:t>function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rPr>
              <a:t>table</a:t>
            </a:r>
            <a:endParaRPr/>
          </a:p>
        </p:txBody>
      </p:sp>
      <p:sp>
        <p:nvSpPr>
          <p:cNvPr id="647" name="Google Shape;647;p38"/>
          <p:cNvSpPr txBox="1"/>
          <p:nvPr/>
        </p:nvSpPr>
        <p:spPr>
          <a:xfrm>
            <a:off x="7257820" y="4366950"/>
            <a:ext cx="1015021" cy="15696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rPr>
              <a:t>The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rPr>
              <a:t>class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rPr>
              <a:t>object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rPr>
              <a:t>chain</a:t>
            </a:r>
            <a:endParaRPr/>
          </a:p>
        </p:txBody>
      </p:sp>
      <p:cxnSp>
        <p:nvCxnSpPr>
          <p:cNvPr id="648" name="Google Shape;648;p38"/>
          <p:cNvCxnSpPr/>
          <p:nvPr/>
        </p:nvCxnSpPr>
        <p:spPr>
          <a:xfrm flipH="1">
            <a:off x="3732207" y="2267515"/>
            <a:ext cx="1052483" cy="4438085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2" name="Shape 6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3" name="Google Shape;653;p39"/>
          <p:cNvSpPr txBox="1"/>
          <p:nvPr>
            <p:ph type="title"/>
          </p:nvPr>
        </p:nvSpPr>
        <p:spPr>
          <a:xfrm>
            <a:off x="531639" y="753228"/>
            <a:ext cx="6896534" cy="1080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rebuchet MS"/>
              <a:buNone/>
            </a:pPr>
            <a:r>
              <a:rPr lang="en-US"/>
              <a:t>… and then there's OBJ</a:t>
            </a:r>
            <a:endParaRPr/>
          </a:p>
        </p:txBody>
      </p:sp>
      <p:sp>
        <p:nvSpPr>
          <p:cNvPr id="654" name="Google Shape;654;p39"/>
          <p:cNvSpPr txBox="1"/>
          <p:nvPr>
            <p:ph idx="10" type="dt"/>
          </p:nvPr>
        </p:nvSpPr>
        <p:spPr>
          <a:xfrm>
            <a:off x="5367881" y="5936188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4/21/21</a:t>
            </a:r>
            <a:endParaRPr/>
          </a:p>
        </p:txBody>
      </p:sp>
      <p:sp>
        <p:nvSpPr>
          <p:cNvPr id="655" name="Google Shape;655;p39"/>
          <p:cNvSpPr txBox="1"/>
          <p:nvPr>
            <p:ph idx="12" type="sldNum"/>
          </p:nvPr>
        </p:nvSpPr>
        <p:spPr>
          <a:xfrm>
            <a:off x="7848600" y="753228"/>
            <a:ext cx="1157674" cy="109078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656" name="Google Shape;656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0399" y="0"/>
            <a:ext cx="8703202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6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0" name="Shape 6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1" name="Google Shape;661;p40"/>
          <p:cNvSpPr txBox="1"/>
          <p:nvPr>
            <p:ph type="title"/>
          </p:nvPr>
        </p:nvSpPr>
        <p:spPr>
          <a:xfrm>
            <a:off x="533400" y="753228"/>
            <a:ext cx="6887390" cy="1080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rebuchet MS"/>
              <a:buNone/>
            </a:pPr>
            <a:r>
              <a:rPr lang="en-US"/>
              <a:t>Simple Examples</a:t>
            </a:r>
            <a:endParaRPr/>
          </a:p>
        </p:txBody>
      </p:sp>
      <p:sp>
        <p:nvSpPr>
          <p:cNvPr id="662" name="Google Shape;662;p40"/>
          <p:cNvSpPr txBox="1"/>
          <p:nvPr>
            <p:ph idx="1" type="body"/>
          </p:nvPr>
        </p:nvSpPr>
        <p:spPr>
          <a:xfrm>
            <a:off x="533400" y="2071729"/>
            <a:ext cx="8229600" cy="173217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</a:pPr>
            <a:r>
              <a:rPr lang="en-US" u="sng">
                <a:solidFill>
                  <a:schemeClr val="hlink"/>
                </a:solidFill>
                <a:hlinkClick r:id="rId3"/>
              </a:rPr>
              <a:t>accumulator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</a:pPr>
            <a:r>
              <a:rPr lang="en-US" u="sng">
                <a:solidFill>
                  <a:schemeClr val="hlink"/>
                </a:solidFill>
                <a:hlinkClick r:id="rId4"/>
              </a:rPr>
              <a:t>circ-5ths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</a:pPr>
            <a:r>
              <a:rPr lang="en-US"/>
              <a:t>based on music idea of circle of fifths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</a:pPr>
            <a:r>
              <a:rPr lang="en-US"/>
              <a:t>The next "fifth up" is actually 7 notes up from the current one.</a:t>
            </a:r>
            <a:endParaRPr/>
          </a:p>
        </p:txBody>
      </p:sp>
      <p:sp>
        <p:nvSpPr>
          <p:cNvPr id="663" name="Google Shape;663;p40"/>
          <p:cNvSpPr txBox="1"/>
          <p:nvPr>
            <p:ph idx="10" type="dt"/>
          </p:nvPr>
        </p:nvSpPr>
        <p:spPr>
          <a:xfrm>
            <a:off x="5367881" y="5936188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4/21/21</a:t>
            </a:r>
            <a:endParaRPr/>
          </a:p>
        </p:txBody>
      </p:sp>
      <p:sp>
        <p:nvSpPr>
          <p:cNvPr id="664" name="Google Shape;664;p40"/>
          <p:cNvSpPr txBox="1"/>
          <p:nvPr>
            <p:ph idx="12" type="sldNum"/>
          </p:nvPr>
        </p:nvSpPr>
        <p:spPr>
          <a:xfrm>
            <a:off x="7848600" y="753228"/>
            <a:ext cx="1157674" cy="109078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665" name="Google Shape;665;p4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219200" y="4138209"/>
            <a:ext cx="6489700" cy="1828800"/>
          </a:xfrm>
          <a:prstGeom prst="rect">
            <a:avLst/>
          </a:prstGeom>
          <a:noFill/>
          <a:ln>
            <a:noFill/>
          </a:ln>
        </p:spPr>
      </p:pic>
      <p:sp>
        <p:nvSpPr>
          <p:cNvPr id="666" name="Google Shape;666;p40"/>
          <p:cNvSpPr txBox="1"/>
          <p:nvPr/>
        </p:nvSpPr>
        <p:spPr>
          <a:xfrm>
            <a:off x="1600200" y="3803904"/>
            <a:ext cx="5724644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lt1"/>
                </a:solidFill>
                <a:latin typeface="Lemon"/>
                <a:ea typeface="Lemon"/>
                <a:cs typeface="Lemon"/>
                <a:sym typeface="Lemon"/>
              </a:rPr>
              <a:t>D-------A------E-------B------F#----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0" name="Shape 6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1" name="Google Shape;671;p41"/>
          <p:cNvSpPr txBox="1"/>
          <p:nvPr>
            <p:ph type="title"/>
          </p:nvPr>
        </p:nvSpPr>
        <p:spPr>
          <a:xfrm>
            <a:off x="531639" y="753228"/>
            <a:ext cx="6896534" cy="1080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rebuchet MS"/>
              <a:buNone/>
            </a:pPr>
            <a:r>
              <a:rPr lang="en-US"/>
              <a:t>Class/Superclass Example</a:t>
            </a:r>
            <a:endParaRPr/>
          </a:p>
        </p:txBody>
      </p:sp>
      <p:sp>
        <p:nvSpPr>
          <p:cNvPr id="672" name="Google Shape;672;p41"/>
          <p:cNvSpPr txBox="1"/>
          <p:nvPr>
            <p:ph idx="1" type="body"/>
          </p:nvPr>
        </p:nvSpPr>
        <p:spPr>
          <a:xfrm>
            <a:off x="533400" y="2057400"/>
            <a:ext cx="8305800" cy="387878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2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None/>
            </a:pPr>
            <a:r>
              <a:rPr lang="en-US">
                <a:latin typeface="Lemon"/>
                <a:ea typeface="Lemon"/>
                <a:cs typeface="Lemon"/>
                <a:sym typeface="Lemon"/>
              </a:rPr>
              <a:t>define Super = class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ct val="100000"/>
              <a:buNone/>
            </a:pPr>
            <a:r>
              <a:rPr lang="en-US">
                <a:latin typeface="Lemon"/>
                <a:ea typeface="Lemon"/>
                <a:cs typeface="Lemon"/>
                <a:sym typeface="Lemon"/>
              </a:rPr>
              <a:t>                static x = 10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ct val="100000"/>
              <a:buNone/>
            </a:pPr>
            <a:r>
              <a:rPr lang="en-US">
                <a:latin typeface="Lemon"/>
                <a:ea typeface="Lemon"/>
                <a:cs typeface="Lemon"/>
                <a:sym typeface="Lemon"/>
              </a:rPr>
              <a:t>                static y = 11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ct val="100000"/>
              <a:buNone/>
            </a:pPr>
            <a:r>
              <a:rPr lang="en-US">
                <a:latin typeface="Lemon"/>
                <a:ea typeface="Lemon"/>
                <a:cs typeface="Lemon"/>
                <a:sym typeface="Lemon"/>
              </a:rPr>
              <a:t>                field a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ct val="100000"/>
              <a:buNone/>
            </a:pPr>
            <a:r>
              <a:rPr lang="en-US">
                <a:latin typeface="Lemon"/>
                <a:ea typeface="Lemon"/>
                <a:cs typeface="Lemon"/>
                <a:sym typeface="Lemon"/>
              </a:rPr>
              <a:t>                field b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ct val="100000"/>
              <a:buNone/>
            </a:pPr>
            <a:r>
              <a:rPr lang="en-US">
                <a:latin typeface="Lemon"/>
                <a:ea typeface="Lemon"/>
                <a:cs typeface="Lemon"/>
                <a:sym typeface="Lemon"/>
              </a:rPr>
              <a:t>                method init = proc( m, n ) {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ct val="100000"/>
              <a:buNone/>
            </a:pPr>
            <a:r>
              <a:rPr lang="en-US">
                <a:latin typeface="Lemon"/>
                <a:ea typeface="Lemon"/>
                <a:cs typeface="Lemon"/>
                <a:sym typeface="Lemon"/>
              </a:rPr>
              <a:t>                    set a = m;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ct val="100000"/>
              <a:buNone/>
            </a:pPr>
            <a:r>
              <a:rPr lang="en-US">
                <a:latin typeface="Lemon"/>
                <a:ea typeface="Lemon"/>
                <a:cs typeface="Lemon"/>
                <a:sym typeface="Lemon"/>
              </a:rPr>
              <a:t>                    set b = n;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ct val="100000"/>
              <a:buNone/>
            </a:pPr>
            <a:r>
              <a:rPr lang="en-US">
                <a:latin typeface="Lemon"/>
                <a:ea typeface="Lemon"/>
                <a:cs typeface="Lemon"/>
                <a:sym typeface="Lemon"/>
              </a:rPr>
              <a:t>                    self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ct val="100000"/>
              <a:buNone/>
            </a:pPr>
            <a:r>
              <a:rPr lang="en-US">
                <a:latin typeface="Lemon"/>
                <a:ea typeface="Lemon"/>
                <a:cs typeface="Lemon"/>
                <a:sym typeface="Lemon"/>
              </a:rPr>
              <a:t>                }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ct val="100000"/>
              <a:buNone/>
            </a:pPr>
            <a:r>
              <a:rPr lang="en-US">
                <a:latin typeface="Lemon"/>
                <a:ea typeface="Lemon"/>
                <a:cs typeface="Lemon"/>
                <a:sym typeface="Lemon"/>
              </a:rPr>
              <a:t>            end</a:t>
            </a:r>
            <a:endParaRPr/>
          </a:p>
        </p:txBody>
      </p:sp>
      <p:sp>
        <p:nvSpPr>
          <p:cNvPr id="673" name="Google Shape;673;p41"/>
          <p:cNvSpPr txBox="1"/>
          <p:nvPr>
            <p:ph idx="10" type="dt"/>
          </p:nvPr>
        </p:nvSpPr>
        <p:spPr>
          <a:xfrm>
            <a:off x="5367881" y="5936188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4/21/21</a:t>
            </a:r>
            <a:endParaRPr/>
          </a:p>
        </p:txBody>
      </p:sp>
      <p:sp>
        <p:nvSpPr>
          <p:cNvPr id="674" name="Google Shape;674;p41"/>
          <p:cNvSpPr txBox="1"/>
          <p:nvPr>
            <p:ph idx="12" type="sldNum"/>
          </p:nvPr>
        </p:nvSpPr>
        <p:spPr>
          <a:xfrm>
            <a:off x="7848600" y="753228"/>
            <a:ext cx="1157674" cy="109078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675" name="Google Shape;675;p41"/>
          <p:cNvGrpSpPr/>
          <p:nvPr/>
        </p:nvGrpSpPr>
        <p:grpSpPr>
          <a:xfrm>
            <a:off x="228600" y="2743200"/>
            <a:ext cx="1905000" cy="2452956"/>
            <a:chOff x="228600" y="2743200"/>
            <a:chExt cx="1905000" cy="2452956"/>
          </a:xfrm>
        </p:grpSpPr>
        <p:sp>
          <p:nvSpPr>
            <p:cNvPr id="676" name="Google Shape;676;p41"/>
            <p:cNvSpPr/>
            <p:nvPr/>
          </p:nvSpPr>
          <p:spPr>
            <a:xfrm>
              <a:off x="228600" y="2743200"/>
              <a:ext cx="1905000" cy="457200"/>
            </a:xfrm>
            <a:prstGeom prst="rect">
              <a:avLst/>
            </a:prstGeom>
            <a:solidFill>
              <a:schemeClr val="accent1"/>
            </a:solidFill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lt1"/>
                  </a:solidFill>
                  <a:latin typeface="Tahoma"/>
                  <a:ea typeface="Tahoma"/>
                  <a:cs typeface="Tahoma"/>
                  <a:sym typeface="Tahoma"/>
                </a:rPr>
                <a:t>Super</a:t>
              </a:r>
              <a:endParaRPr/>
            </a:p>
          </p:txBody>
        </p:sp>
        <p:sp>
          <p:nvSpPr>
            <p:cNvPr id="677" name="Google Shape;677;p41"/>
            <p:cNvSpPr/>
            <p:nvPr/>
          </p:nvSpPr>
          <p:spPr>
            <a:xfrm>
              <a:off x="228600" y="3200400"/>
              <a:ext cx="1905000" cy="1493178"/>
            </a:xfrm>
            <a:prstGeom prst="rect">
              <a:avLst/>
            </a:prstGeom>
            <a:solidFill>
              <a:schemeClr val="accent1"/>
            </a:solidFill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lt1"/>
                  </a:solidFill>
                  <a:latin typeface="Tahoma"/>
                  <a:ea typeface="Tahoma"/>
                  <a:cs typeface="Tahoma"/>
                  <a:sym typeface="Tahoma"/>
                </a:rPr>
                <a:t>$x</a:t>
              </a:r>
              <a:endParaRPr/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lt1"/>
                  </a:solidFill>
                  <a:latin typeface="Tahoma"/>
                  <a:ea typeface="Tahoma"/>
                  <a:cs typeface="Tahoma"/>
                  <a:sym typeface="Tahoma"/>
                </a:rPr>
                <a:t>$y</a:t>
              </a:r>
              <a:endParaRPr/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lt1"/>
                  </a:solidFill>
                  <a:latin typeface="Tahoma"/>
                  <a:ea typeface="Tahoma"/>
                  <a:cs typeface="Tahoma"/>
                  <a:sym typeface="Tahoma"/>
                </a:rPr>
                <a:t>a</a:t>
              </a:r>
              <a:endParaRPr/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lt1"/>
                  </a:solidFill>
                  <a:latin typeface="Tahoma"/>
                  <a:ea typeface="Tahoma"/>
                  <a:cs typeface="Tahoma"/>
                  <a:sym typeface="Tahoma"/>
                </a:rPr>
                <a:t>b</a:t>
              </a:r>
              <a:endParaRPr/>
            </a:p>
          </p:txBody>
        </p:sp>
        <p:sp>
          <p:nvSpPr>
            <p:cNvPr id="678" name="Google Shape;678;p41"/>
            <p:cNvSpPr/>
            <p:nvPr/>
          </p:nvSpPr>
          <p:spPr>
            <a:xfrm>
              <a:off x="228600" y="4693578"/>
              <a:ext cx="1905000" cy="502578"/>
            </a:xfrm>
            <a:prstGeom prst="rect">
              <a:avLst/>
            </a:prstGeom>
            <a:solidFill>
              <a:schemeClr val="accent1"/>
            </a:solidFill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lt1"/>
                  </a:solidFill>
                  <a:latin typeface="Tahoma"/>
                  <a:ea typeface="Tahoma"/>
                  <a:cs typeface="Tahoma"/>
                  <a:sym typeface="Tahoma"/>
                </a:rPr>
                <a:t>init( m, n )</a:t>
              </a:r>
              <a:endParaRPr/>
            </a:p>
          </p:txBody>
        </p:sp>
      </p:grp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2" name="Shape 6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3" name="Google Shape;683;p42"/>
          <p:cNvSpPr txBox="1"/>
          <p:nvPr>
            <p:ph type="title"/>
          </p:nvPr>
        </p:nvSpPr>
        <p:spPr>
          <a:xfrm>
            <a:off x="531639" y="753228"/>
            <a:ext cx="6896534" cy="1080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rebuchet MS"/>
              <a:buNone/>
            </a:pPr>
            <a:r>
              <a:rPr lang="en-US"/>
              <a:t>Class/Superclass Example</a:t>
            </a:r>
            <a:endParaRPr/>
          </a:p>
        </p:txBody>
      </p:sp>
      <p:sp>
        <p:nvSpPr>
          <p:cNvPr id="684" name="Google Shape;684;p42"/>
          <p:cNvSpPr txBox="1"/>
          <p:nvPr>
            <p:ph idx="1" type="body"/>
          </p:nvPr>
        </p:nvSpPr>
        <p:spPr>
          <a:xfrm>
            <a:off x="381000" y="2071034"/>
            <a:ext cx="83058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2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None/>
            </a:pPr>
            <a:r>
              <a:rPr lang="en-US">
                <a:latin typeface="Lemon"/>
                <a:ea typeface="Lemon"/>
                <a:cs typeface="Lemon"/>
                <a:sym typeface="Lemon"/>
              </a:rPr>
              <a:t>define Sub = class extends Super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ct val="100000"/>
              <a:buNone/>
            </a:pPr>
            <a:r>
              <a:rPr lang="en-US">
                <a:latin typeface="Lemon"/>
                <a:ea typeface="Lemon"/>
                <a:cs typeface="Lemon"/>
                <a:sym typeface="Lemon"/>
              </a:rPr>
              <a:t>                static x = 20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ct val="100000"/>
              <a:buNone/>
            </a:pPr>
            <a:r>
              <a:rPr lang="en-US">
                <a:latin typeface="Lemon"/>
                <a:ea typeface="Lemon"/>
                <a:cs typeface="Lemon"/>
                <a:sym typeface="Lemon"/>
              </a:rPr>
              <a:t>                static z = 22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ct val="100000"/>
              <a:buNone/>
            </a:pPr>
            <a:r>
              <a:rPr lang="en-US">
                <a:latin typeface="Lemon"/>
                <a:ea typeface="Lemon"/>
                <a:cs typeface="Lemon"/>
                <a:sym typeface="Lemon"/>
              </a:rPr>
              <a:t>                field a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ct val="100000"/>
              <a:buNone/>
            </a:pPr>
            <a:r>
              <a:rPr lang="en-US">
                <a:latin typeface="Lemon"/>
                <a:ea typeface="Lemon"/>
                <a:cs typeface="Lemon"/>
                <a:sym typeface="Lemon"/>
              </a:rPr>
              <a:t>                field c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ct val="100000"/>
              <a:buNone/>
            </a:pPr>
            <a:r>
              <a:rPr lang="en-US">
                <a:latin typeface="Lemon"/>
                <a:ea typeface="Lemon"/>
                <a:cs typeface="Lemon"/>
                <a:sym typeface="Lemon"/>
              </a:rPr>
              <a:t>                method init = proc( p, q, r ) {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ct val="100000"/>
              <a:buNone/>
            </a:pPr>
            <a:r>
              <a:rPr lang="en-US">
                <a:latin typeface="Lemon"/>
                <a:ea typeface="Lemon"/>
                <a:cs typeface="Lemon"/>
                <a:sym typeface="Lemon"/>
              </a:rPr>
              <a:t>                    .&lt;super&gt;init(*(p,2),q);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ct val="100000"/>
              <a:buNone/>
            </a:pPr>
            <a:r>
              <a:rPr lang="en-US">
                <a:latin typeface="Lemon"/>
                <a:ea typeface="Lemon"/>
                <a:cs typeface="Lemon"/>
                <a:sym typeface="Lemon"/>
              </a:rPr>
              <a:t>                    set a = p;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ct val="100000"/>
              <a:buNone/>
            </a:pPr>
            <a:r>
              <a:rPr lang="en-US">
                <a:latin typeface="Lemon"/>
                <a:ea typeface="Lemon"/>
                <a:cs typeface="Lemon"/>
                <a:sym typeface="Lemon"/>
              </a:rPr>
              <a:t>                    set c = r;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ct val="100000"/>
              <a:buNone/>
            </a:pPr>
            <a:r>
              <a:rPr lang="en-US">
                <a:latin typeface="Lemon"/>
                <a:ea typeface="Lemon"/>
                <a:cs typeface="Lemon"/>
                <a:sym typeface="Lemon"/>
              </a:rPr>
              <a:t>                    self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ct val="100000"/>
              <a:buNone/>
            </a:pPr>
            <a:r>
              <a:rPr lang="en-US">
                <a:latin typeface="Lemon"/>
                <a:ea typeface="Lemon"/>
                <a:cs typeface="Lemon"/>
                <a:sym typeface="Lemon"/>
              </a:rPr>
              <a:t>                }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ct val="100000"/>
              <a:buNone/>
            </a:pPr>
            <a:r>
              <a:rPr lang="en-US">
                <a:latin typeface="Lemon"/>
                <a:ea typeface="Lemon"/>
                <a:cs typeface="Lemon"/>
                <a:sym typeface="Lemon"/>
              </a:rPr>
              <a:t>            end</a:t>
            </a:r>
            <a:endParaRPr/>
          </a:p>
        </p:txBody>
      </p:sp>
      <p:sp>
        <p:nvSpPr>
          <p:cNvPr id="685" name="Google Shape;685;p42"/>
          <p:cNvSpPr txBox="1"/>
          <p:nvPr>
            <p:ph idx="10" type="dt"/>
          </p:nvPr>
        </p:nvSpPr>
        <p:spPr>
          <a:xfrm>
            <a:off x="5367881" y="5936188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4/21/21</a:t>
            </a:r>
            <a:endParaRPr/>
          </a:p>
        </p:txBody>
      </p:sp>
      <p:sp>
        <p:nvSpPr>
          <p:cNvPr id="686" name="Google Shape;686;p42"/>
          <p:cNvSpPr txBox="1"/>
          <p:nvPr>
            <p:ph idx="12" type="sldNum"/>
          </p:nvPr>
        </p:nvSpPr>
        <p:spPr>
          <a:xfrm>
            <a:off x="7848600" y="753228"/>
            <a:ext cx="1157674" cy="109078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687" name="Google Shape;687;p42"/>
          <p:cNvGrpSpPr/>
          <p:nvPr/>
        </p:nvGrpSpPr>
        <p:grpSpPr>
          <a:xfrm>
            <a:off x="228600" y="2743200"/>
            <a:ext cx="1905000" cy="2452956"/>
            <a:chOff x="228600" y="2743200"/>
            <a:chExt cx="1905000" cy="2452956"/>
          </a:xfrm>
        </p:grpSpPr>
        <p:sp>
          <p:nvSpPr>
            <p:cNvPr id="688" name="Google Shape;688;p42"/>
            <p:cNvSpPr/>
            <p:nvPr/>
          </p:nvSpPr>
          <p:spPr>
            <a:xfrm>
              <a:off x="228600" y="2743200"/>
              <a:ext cx="1905000" cy="457200"/>
            </a:xfrm>
            <a:prstGeom prst="rect">
              <a:avLst/>
            </a:prstGeom>
            <a:solidFill>
              <a:schemeClr val="accent1"/>
            </a:solidFill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lt1"/>
                  </a:solidFill>
                  <a:latin typeface="Tahoma"/>
                  <a:ea typeface="Tahoma"/>
                  <a:cs typeface="Tahoma"/>
                  <a:sym typeface="Tahoma"/>
                </a:rPr>
                <a:t>Super</a:t>
              </a:r>
              <a:endParaRPr/>
            </a:p>
          </p:txBody>
        </p:sp>
        <p:sp>
          <p:nvSpPr>
            <p:cNvPr id="689" name="Google Shape;689;p42"/>
            <p:cNvSpPr/>
            <p:nvPr/>
          </p:nvSpPr>
          <p:spPr>
            <a:xfrm>
              <a:off x="228600" y="3200400"/>
              <a:ext cx="1905000" cy="1493178"/>
            </a:xfrm>
            <a:prstGeom prst="rect">
              <a:avLst/>
            </a:prstGeom>
            <a:solidFill>
              <a:schemeClr val="accent1"/>
            </a:solidFill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lt1"/>
                  </a:solidFill>
                  <a:latin typeface="Tahoma"/>
                  <a:ea typeface="Tahoma"/>
                  <a:cs typeface="Tahoma"/>
                  <a:sym typeface="Tahoma"/>
                </a:rPr>
                <a:t>$x</a:t>
              </a:r>
              <a:endParaRPr/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lt1"/>
                  </a:solidFill>
                  <a:latin typeface="Tahoma"/>
                  <a:ea typeface="Tahoma"/>
                  <a:cs typeface="Tahoma"/>
                  <a:sym typeface="Tahoma"/>
                </a:rPr>
                <a:t>$y</a:t>
              </a:r>
              <a:endParaRPr/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lt1"/>
                  </a:solidFill>
                  <a:latin typeface="Tahoma"/>
                  <a:ea typeface="Tahoma"/>
                  <a:cs typeface="Tahoma"/>
                  <a:sym typeface="Tahoma"/>
                </a:rPr>
                <a:t>a</a:t>
              </a:r>
              <a:endParaRPr/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lt1"/>
                  </a:solidFill>
                  <a:latin typeface="Tahoma"/>
                  <a:ea typeface="Tahoma"/>
                  <a:cs typeface="Tahoma"/>
                  <a:sym typeface="Tahoma"/>
                </a:rPr>
                <a:t>b</a:t>
              </a:r>
              <a:endParaRPr/>
            </a:p>
          </p:txBody>
        </p:sp>
        <p:sp>
          <p:nvSpPr>
            <p:cNvPr id="690" name="Google Shape;690;p42"/>
            <p:cNvSpPr/>
            <p:nvPr/>
          </p:nvSpPr>
          <p:spPr>
            <a:xfrm>
              <a:off x="228600" y="4693578"/>
              <a:ext cx="1905000" cy="502578"/>
            </a:xfrm>
            <a:prstGeom prst="rect">
              <a:avLst/>
            </a:prstGeom>
            <a:solidFill>
              <a:schemeClr val="accent1"/>
            </a:solidFill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lt1"/>
                  </a:solidFill>
                  <a:latin typeface="Tahoma"/>
                  <a:ea typeface="Tahoma"/>
                  <a:cs typeface="Tahoma"/>
                  <a:sym typeface="Tahoma"/>
                </a:rPr>
                <a:t>init( m, n )</a:t>
              </a:r>
              <a:endParaRPr/>
            </a:p>
          </p:txBody>
        </p:sp>
      </p:grpSp>
      <p:grpSp>
        <p:nvGrpSpPr>
          <p:cNvPr id="691" name="Google Shape;691;p42"/>
          <p:cNvGrpSpPr/>
          <p:nvPr/>
        </p:nvGrpSpPr>
        <p:grpSpPr>
          <a:xfrm>
            <a:off x="7184204" y="4222678"/>
            <a:ext cx="1905000" cy="2452956"/>
            <a:chOff x="228600" y="2743200"/>
            <a:chExt cx="1905000" cy="2452956"/>
          </a:xfrm>
        </p:grpSpPr>
        <p:sp>
          <p:nvSpPr>
            <p:cNvPr id="692" name="Google Shape;692;p42"/>
            <p:cNvSpPr/>
            <p:nvPr/>
          </p:nvSpPr>
          <p:spPr>
            <a:xfrm>
              <a:off x="228600" y="2743200"/>
              <a:ext cx="1905000" cy="457200"/>
            </a:xfrm>
            <a:prstGeom prst="rect">
              <a:avLst/>
            </a:prstGeom>
            <a:solidFill>
              <a:schemeClr val="accent1"/>
            </a:solidFill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lt1"/>
                  </a:solidFill>
                  <a:latin typeface="Tahoma"/>
                  <a:ea typeface="Tahoma"/>
                  <a:cs typeface="Tahoma"/>
                  <a:sym typeface="Tahoma"/>
                </a:rPr>
                <a:t>Sub</a:t>
              </a:r>
              <a:endParaRPr/>
            </a:p>
          </p:txBody>
        </p:sp>
        <p:sp>
          <p:nvSpPr>
            <p:cNvPr id="693" name="Google Shape;693;p42"/>
            <p:cNvSpPr/>
            <p:nvPr/>
          </p:nvSpPr>
          <p:spPr>
            <a:xfrm>
              <a:off x="228600" y="3200400"/>
              <a:ext cx="1905000" cy="1493178"/>
            </a:xfrm>
            <a:prstGeom prst="rect">
              <a:avLst/>
            </a:prstGeom>
            <a:solidFill>
              <a:schemeClr val="accent1"/>
            </a:solidFill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lt1"/>
                  </a:solidFill>
                  <a:latin typeface="Tahoma"/>
                  <a:ea typeface="Tahoma"/>
                  <a:cs typeface="Tahoma"/>
                  <a:sym typeface="Tahoma"/>
                </a:rPr>
                <a:t>$x</a:t>
              </a:r>
              <a:endParaRPr/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lt1"/>
                  </a:solidFill>
                  <a:latin typeface="Tahoma"/>
                  <a:ea typeface="Tahoma"/>
                  <a:cs typeface="Tahoma"/>
                  <a:sym typeface="Tahoma"/>
                </a:rPr>
                <a:t>$z</a:t>
              </a:r>
              <a:endParaRPr/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lt1"/>
                  </a:solidFill>
                  <a:latin typeface="Tahoma"/>
                  <a:ea typeface="Tahoma"/>
                  <a:cs typeface="Tahoma"/>
                  <a:sym typeface="Tahoma"/>
                </a:rPr>
                <a:t>a</a:t>
              </a:r>
              <a:endParaRPr/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lt1"/>
                  </a:solidFill>
                  <a:latin typeface="Tahoma"/>
                  <a:ea typeface="Tahoma"/>
                  <a:cs typeface="Tahoma"/>
                  <a:sym typeface="Tahoma"/>
                </a:rPr>
                <a:t>c</a:t>
              </a:r>
              <a:endParaRPr/>
            </a:p>
          </p:txBody>
        </p:sp>
        <p:sp>
          <p:nvSpPr>
            <p:cNvPr id="694" name="Google Shape;694;p42"/>
            <p:cNvSpPr/>
            <p:nvPr/>
          </p:nvSpPr>
          <p:spPr>
            <a:xfrm>
              <a:off x="228600" y="4693578"/>
              <a:ext cx="1905000" cy="502578"/>
            </a:xfrm>
            <a:prstGeom prst="rect">
              <a:avLst/>
            </a:prstGeom>
            <a:solidFill>
              <a:schemeClr val="accent1"/>
            </a:solidFill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lt1"/>
                  </a:solidFill>
                  <a:latin typeface="Tahoma"/>
                  <a:ea typeface="Tahoma"/>
                  <a:cs typeface="Tahoma"/>
                  <a:sym typeface="Tahoma"/>
                </a:rPr>
                <a:t>init( p,q,r )</a:t>
              </a:r>
              <a:endParaRPr/>
            </a:p>
          </p:txBody>
        </p:sp>
      </p:grp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8" name="Shape 6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9" name="Google Shape;699;p43"/>
          <p:cNvSpPr txBox="1"/>
          <p:nvPr>
            <p:ph type="title"/>
          </p:nvPr>
        </p:nvSpPr>
        <p:spPr>
          <a:xfrm>
            <a:off x="531639" y="753228"/>
            <a:ext cx="6896534" cy="1080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rebuchet MS"/>
              <a:buNone/>
            </a:pPr>
            <a:r>
              <a:rPr lang="en-US"/>
              <a:t>Class/Superclass Example</a:t>
            </a:r>
            <a:endParaRPr/>
          </a:p>
        </p:txBody>
      </p:sp>
      <p:sp>
        <p:nvSpPr>
          <p:cNvPr id="700" name="Google Shape;700;p43"/>
          <p:cNvSpPr txBox="1"/>
          <p:nvPr>
            <p:ph idx="1" type="body"/>
          </p:nvPr>
        </p:nvSpPr>
        <p:spPr>
          <a:xfrm>
            <a:off x="2362200" y="2071034"/>
            <a:ext cx="4495800" cy="47869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62500" lnSpcReduction="2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None/>
            </a:pPr>
            <a:r>
              <a:rPr lang="en-US"/>
              <a:t>--&gt; define obj = .&lt;new Sub&gt;init( 100, 130, 160 )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ct val="100000"/>
              <a:buNone/>
            </a:pPr>
            <a:r>
              <a:rPr lang="en-US"/>
              <a:t>object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ct val="100000"/>
              <a:buNone/>
            </a:pPr>
            <a:r>
              <a:rPr lang="en-US"/>
              <a:t>--&gt; &lt;obj&gt;a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ct val="100000"/>
              <a:buNone/>
            </a:pPr>
            <a:r>
              <a:rPr lang="en-US"/>
              <a:t>100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ct val="100000"/>
              <a:buNone/>
            </a:pPr>
            <a:r>
              <a:rPr lang="en-US"/>
              <a:t>--&gt; &lt;obj&gt;b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ct val="100000"/>
              <a:buNone/>
            </a:pPr>
            <a:r>
              <a:rPr lang="en-US"/>
              <a:t>130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ct val="100000"/>
              <a:buNone/>
            </a:pPr>
            <a:r>
              <a:rPr lang="en-US"/>
              <a:t>--&gt; &lt;obj&gt;c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ct val="100000"/>
              <a:buNone/>
            </a:pPr>
            <a:r>
              <a:rPr lang="en-US"/>
              <a:t>160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ct val="100000"/>
              <a:buNone/>
            </a:pPr>
            <a:r>
              <a:rPr lang="en-US"/>
              <a:t>--&gt; &lt;obj&gt;super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ct val="100000"/>
              <a:buNone/>
            </a:pPr>
            <a:r>
              <a:rPr lang="en-US"/>
              <a:t>object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ct val="100000"/>
              <a:buNone/>
            </a:pPr>
            <a:r>
              <a:rPr lang="en-US"/>
              <a:t>--&gt; &lt;&lt;obj&gt;super&gt;a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ct val="100000"/>
              <a:buNone/>
            </a:pPr>
            <a:r>
              <a:rPr lang="en-US"/>
              <a:t>200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ct val="100000"/>
              <a:buNone/>
            </a:pPr>
            <a:r>
              <a:rPr lang="en-US"/>
              <a:t>--&gt; &lt;&lt;obj&gt;super&gt;b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ct val="100000"/>
              <a:buNone/>
            </a:pPr>
            <a:r>
              <a:rPr lang="en-US"/>
              <a:t>130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ct val="100000"/>
              <a:buNone/>
            </a:pPr>
            <a:r>
              <a:rPr lang="en-US"/>
              <a:t>--&gt; &lt;&lt;obj&gt;super&gt;c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ct val="100000"/>
              <a:buNone/>
            </a:pPr>
            <a:r>
              <a:rPr lang="en-US"/>
              <a:t>no binding for c</a:t>
            </a:r>
            <a:endParaRPr/>
          </a:p>
        </p:txBody>
      </p:sp>
      <p:sp>
        <p:nvSpPr>
          <p:cNvPr id="701" name="Google Shape;701;p43"/>
          <p:cNvSpPr txBox="1"/>
          <p:nvPr>
            <p:ph idx="10" type="dt"/>
          </p:nvPr>
        </p:nvSpPr>
        <p:spPr>
          <a:xfrm>
            <a:off x="5367881" y="5936188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4/21/21</a:t>
            </a:r>
            <a:endParaRPr/>
          </a:p>
        </p:txBody>
      </p:sp>
      <p:sp>
        <p:nvSpPr>
          <p:cNvPr id="702" name="Google Shape;702;p43"/>
          <p:cNvSpPr txBox="1"/>
          <p:nvPr>
            <p:ph idx="12" type="sldNum"/>
          </p:nvPr>
        </p:nvSpPr>
        <p:spPr>
          <a:xfrm>
            <a:off x="7848600" y="753228"/>
            <a:ext cx="1157674" cy="109078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703" name="Google Shape;703;p43"/>
          <p:cNvGrpSpPr/>
          <p:nvPr/>
        </p:nvGrpSpPr>
        <p:grpSpPr>
          <a:xfrm>
            <a:off x="228600" y="2299753"/>
            <a:ext cx="1905000" cy="2452956"/>
            <a:chOff x="228600" y="2743200"/>
            <a:chExt cx="1905000" cy="2452956"/>
          </a:xfrm>
        </p:grpSpPr>
        <p:sp>
          <p:nvSpPr>
            <p:cNvPr id="704" name="Google Shape;704;p43"/>
            <p:cNvSpPr/>
            <p:nvPr/>
          </p:nvSpPr>
          <p:spPr>
            <a:xfrm>
              <a:off x="228600" y="2743200"/>
              <a:ext cx="1905000" cy="457200"/>
            </a:xfrm>
            <a:prstGeom prst="rect">
              <a:avLst/>
            </a:prstGeom>
            <a:solidFill>
              <a:schemeClr val="accent1"/>
            </a:solidFill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lt1"/>
                  </a:solidFill>
                  <a:latin typeface="Tahoma"/>
                  <a:ea typeface="Tahoma"/>
                  <a:cs typeface="Tahoma"/>
                  <a:sym typeface="Tahoma"/>
                </a:rPr>
                <a:t>Super</a:t>
              </a:r>
              <a:endParaRPr/>
            </a:p>
          </p:txBody>
        </p:sp>
        <p:sp>
          <p:nvSpPr>
            <p:cNvPr id="705" name="Google Shape;705;p43"/>
            <p:cNvSpPr/>
            <p:nvPr/>
          </p:nvSpPr>
          <p:spPr>
            <a:xfrm>
              <a:off x="228600" y="3200400"/>
              <a:ext cx="1905000" cy="1493178"/>
            </a:xfrm>
            <a:prstGeom prst="rect">
              <a:avLst/>
            </a:prstGeom>
            <a:solidFill>
              <a:schemeClr val="accent1"/>
            </a:solidFill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lt1"/>
                  </a:solidFill>
                  <a:latin typeface="Tahoma"/>
                  <a:ea typeface="Tahoma"/>
                  <a:cs typeface="Tahoma"/>
                  <a:sym typeface="Tahoma"/>
                </a:rPr>
                <a:t>$x</a:t>
              </a:r>
              <a:endParaRPr/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lt1"/>
                  </a:solidFill>
                  <a:latin typeface="Tahoma"/>
                  <a:ea typeface="Tahoma"/>
                  <a:cs typeface="Tahoma"/>
                  <a:sym typeface="Tahoma"/>
                </a:rPr>
                <a:t>$y</a:t>
              </a:r>
              <a:endParaRPr/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lt1"/>
                  </a:solidFill>
                  <a:latin typeface="Tahoma"/>
                  <a:ea typeface="Tahoma"/>
                  <a:cs typeface="Tahoma"/>
                  <a:sym typeface="Tahoma"/>
                </a:rPr>
                <a:t>a</a:t>
              </a:r>
              <a:endParaRPr/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lt1"/>
                  </a:solidFill>
                  <a:latin typeface="Tahoma"/>
                  <a:ea typeface="Tahoma"/>
                  <a:cs typeface="Tahoma"/>
                  <a:sym typeface="Tahoma"/>
                </a:rPr>
                <a:t>b</a:t>
              </a:r>
              <a:endParaRPr/>
            </a:p>
          </p:txBody>
        </p:sp>
        <p:sp>
          <p:nvSpPr>
            <p:cNvPr id="706" name="Google Shape;706;p43"/>
            <p:cNvSpPr/>
            <p:nvPr/>
          </p:nvSpPr>
          <p:spPr>
            <a:xfrm>
              <a:off x="228600" y="4693578"/>
              <a:ext cx="1905000" cy="502578"/>
            </a:xfrm>
            <a:prstGeom prst="rect">
              <a:avLst/>
            </a:prstGeom>
            <a:solidFill>
              <a:schemeClr val="accent1"/>
            </a:solidFill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lt1"/>
                  </a:solidFill>
                  <a:latin typeface="Tahoma"/>
                  <a:ea typeface="Tahoma"/>
                  <a:cs typeface="Tahoma"/>
                  <a:sym typeface="Tahoma"/>
                </a:rPr>
                <a:t>init( m, n )</a:t>
              </a:r>
              <a:endParaRPr/>
            </a:p>
          </p:txBody>
        </p:sp>
      </p:grpSp>
      <p:grpSp>
        <p:nvGrpSpPr>
          <p:cNvPr id="707" name="Google Shape;707;p43"/>
          <p:cNvGrpSpPr/>
          <p:nvPr/>
        </p:nvGrpSpPr>
        <p:grpSpPr>
          <a:xfrm>
            <a:off x="6896100" y="3200400"/>
            <a:ext cx="1905000" cy="2452956"/>
            <a:chOff x="228600" y="2743200"/>
            <a:chExt cx="1905000" cy="2452956"/>
          </a:xfrm>
        </p:grpSpPr>
        <p:sp>
          <p:nvSpPr>
            <p:cNvPr id="708" name="Google Shape;708;p43"/>
            <p:cNvSpPr/>
            <p:nvPr/>
          </p:nvSpPr>
          <p:spPr>
            <a:xfrm>
              <a:off x="228600" y="2743200"/>
              <a:ext cx="1905000" cy="457200"/>
            </a:xfrm>
            <a:prstGeom prst="rect">
              <a:avLst/>
            </a:prstGeom>
            <a:solidFill>
              <a:schemeClr val="accent1"/>
            </a:solidFill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lt1"/>
                  </a:solidFill>
                  <a:latin typeface="Tahoma"/>
                  <a:ea typeface="Tahoma"/>
                  <a:cs typeface="Tahoma"/>
                  <a:sym typeface="Tahoma"/>
                </a:rPr>
                <a:t>Sub</a:t>
              </a:r>
              <a:endParaRPr/>
            </a:p>
          </p:txBody>
        </p:sp>
        <p:sp>
          <p:nvSpPr>
            <p:cNvPr id="709" name="Google Shape;709;p43"/>
            <p:cNvSpPr/>
            <p:nvPr/>
          </p:nvSpPr>
          <p:spPr>
            <a:xfrm>
              <a:off x="228600" y="3200400"/>
              <a:ext cx="1905000" cy="1493178"/>
            </a:xfrm>
            <a:prstGeom prst="rect">
              <a:avLst/>
            </a:prstGeom>
            <a:solidFill>
              <a:schemeClr val="accent1"/>
            </a:solidFill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lt1"/>
                  </a:solidFill>
                  <a:latin typeface="Tahoma"/>
                  <a:ea typeface="Tahoma"/>
                  <a:cs typeface="Tahoma"/>
                  <a:sym typeface="Tahoma"/>
                </a:rPr>
                <a:t>$x</a:t>
              </a:r>
              <a:endParaRPr/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lt1"/>
                  </a:solidFill>
                  <a:latin typeface="Tahoma"/>
                  <a:ea typeface="Tahoma"/>
                  <a:cs typeface="Tahoma"/>
                  <a:sym typeface="Tahoma"/>
                </a:rPr>
                <a:t>$z</a:t>
              </a:r>
              <a:endParaRPr/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lt1"/>
                  </a:solidFill>
                  <a:latin typeface="Tahoma"/>
                  <a:ea typeface="Tahoma"/>
                  <a:cs typeface="Tahoma"/>
                  <a:sym typeface="Tahoma"/>
                </a:rPr>
                <a:t>a</a:t>
              </a:r>
              <a:endParaRPr/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lt1"/>
                  </a:solidFill>
                  <a:latin typeface="Tahoma"/>
                  <a:ea typeface="Tahoma"/>
                  <a:cs typeface="Tahoma"/>
                  <a:sym typeface="Tahoma"/>
                </a:rPr>
                <a:t>c</a:t>
              </a:r>
              <a:endParaRPr/>
            </a:p>
          </p:txBody>
        </p:sp>
        <p:sp>
          <p:nvSpPr>
            <p:cNvPr id="710" name="Google Shape;710;p43"/>
            <p:cNvSpPr/>
            <p:nvPr/>
          </p:nvSpPr>
          <p:spPr>
            <a:xfrm>
              <a:off x="228600" y="4693578"/>
              <a:ext cx="1905000" cy="502578"/>
            </a:xfrm>
            <a:prstGeom prst="rect">
              <a:avLst/>
            </a:prstGeom>
            <a:solidFill>
              <a:schemeClr val="accent1"/>
            </a:solidFill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lt1"/>
                  </a:solidFill>
                  <a:latin typeface="Tahoma"/>
                  <a:ea typeface="Tahoma"/>
                  <a:cs typeface="Tahoma"/>
                  <a:sym typeface="Tahoma"/>
                </a:rPr>
                <a:t>init( p,q,r )</a:t>
              </a:r>
              <a:endParaRPr/>
            </a:p>
          </p:txBody>
        </p:sp>
      </p:grp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4" name="Shape 7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5" name="Google Shape;715;p44"/>
          <p:cNvSpPr txBox="1"/>
          <p:nvPr>
            <p:ph type="title"/>
          </p:nvPr>
        </p:nvSpPr>
        <p:spPr>
          <a:xfrm>
            <a:off x="531639" y="753228"/>
            <a:ext cx="6896534" cy="1080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rebuchet MS"/>
              <a:buNone/>
            </a:pPr>
            <a:r>
              <a:rPr lang="en-US"/>
              <a:t>When an Object is Created</a:t>
            </a:r>
            <a:endParaRPr/>
          </a:p>
        </p:txBody>
      </p:sp>
      <p:sp>
        <p:nvSpPr>
          <p:cNvPr id="716" name="Google Shape;716;p44"/>
          <p:cNvSpPr txBox="1"/>
          <p:nvPr>
            <p:ph idx="1" type="body"/>
          </p:nvPr>
        </p:nvSpPr>
        <p:spPr>
          <a:xfrm>
            <a:off x="533400" y="2344284"/>
            <a:ext cx="7467600" cy="35993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</a:pPr>
            <a:r>
              <a:rPr lang="en-US"/>
              <a:t>Object is allocated.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</a:pPr>
            <a:r>
              <a:rPr lang="en-US"/>
              <a:t>Object gets an environment whose bindings refer to the methods and fields.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</a:pPr>
            <a:r>
              <a:rPr lang="en-US"/>
              <a:t>Object also gets connected to the static environment of its class.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</a:pPr>
            <a:r>
              <a:rPr lang="en-US"/>
              <a:t>A </a:t>
            </a:r>
            <a:r>
              <a:rPr lang="en-US" u="sng"/>
              <a:t>separate</a:t>
            </a:r>
            <a:r>
              <a:rPr lang="en-US"/>
              <a:t> object </a:t>
            </a:r>
            <a:r>
              <a:rPr i="1" lang="en-US"/>
              <a:t>part</a:t>
            </a:r>
            <a:r>
              <a:rPr lang="en-US"/>
              <a:t> is created for every class in the ancestor chain!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</a:pPr>
            <a:r>
              <a:rPr lang="en-US"/>
              <a:t>Those object parts are also chained together.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</a:pPr>
            <a:r>
              <a:rPr lang="en-US"/>
              <a:t>Search order: </a:t>
            </a:r>
            <a:r>
              <a:rPr lang="en-US" u="sng">
                <a:solidFill>
                  <a:schemeClr val="hlink"/>
                </a:solidFill>
                <a:hlinkClick r:id="rId3"/>
              </a:rPr>
              <a:t>wheres-waldo.obj</a:t>
            </a:r>
            <a:endParaRPr/>
          </a:p>
          <a:p>
            <a:pPr indent="-762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</a:pPr>
            <a:r>
              <a:t/>
            </a:r>
            <a:endParaRPr/>
          </a:p>
        </p:txBody>
      </p:sp>
      <p:sp>
        <p:nvSpPr>
          <p:cNvPr id="717" name="Google Shape;717;p44"/>
          <p:cNvSpPr txBox="1"/>
          <p:nvPr>
            <p:ph idx="10" type="dt"/>
          </p:nvPr>
        </p:nvSpPr>
        <p:spPr>
          <a:xfrm>
            <a:off x="5367881" y="5936188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4/21/21</a:t>
            </a:r>
            <a:endParaRPr/>
          </a:p>
        </p:txBody>
      </p:sp>
      <p:sp>
        <p:nvSpPr>
          <p:cNvPr id="718" name="Google Shape;718;p44"/>
          <p:cNvSpPr txBox="1"/>
          <p:nvPr>
            <p:ph idx="12" type="sldNum"/>
          </p:nvPr>
        </p:nvSpPr>
        <p:spPr>
          <a:xfrm>
            <a:off x="7848600" y="753228"/>
            <a:ext cx="1157674" cy="109078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2" name="Shape 7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3" name="Google Shape;723;p45"/>
          <p:cNvSpPr txBox="1"/>
          <p:nvPr>
            <p:ph idx="10" type="dt"/>
          </p:nvPr>
        </p:nvSpPr>
        <p:spPr>
          <a:xfrm>
            <a:off x="5367881" y="5936188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4/21/21</a:t>
            </a:r>
            <a:endParaRPr/>
          </a:p>
        </p:txBody>
      </p:sp>
      <p:pic>
        <p:nvPicPr>
          <p:cNvPr id="724" name="Google Shape;724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0399" y="0"/>
            <a:ext cx="8703202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725" name="Google Shape;725;p45"/>
          <p:cNvSpPr txBox="1"/>
          <p:nvPr>
            <p:ph idx="12" type="sldNum"/>
          </p:nvPr>
        </p:nvSpPr>
        <p:spPr>
          <a:xfrm>
            <a:off x="7848600" y="753228"/>
            <a:ext cx="1157674" cy="109078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26" name="Google Shape;726;p45"/>
          <p:cNvSpPr txBox="1"/>
          <p:nvPr/>
        </p:nvSpPr>
        <p:spPr>
          <a:xfrm>
            <a:off x="381000" y="0"/>
            <a:ext cx="205740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400">
                <a:solidFill>
                  <a:srgbClr val="B76F0B"/>
                </a:solidFill>
                <a:latin typeface="Tahoma"/>
                <a:ea typeface="Tahoma"/>
                <a:cs typeface="Tahoma"/>
                <a:sym typeface="Tahoma"/>
              </a:rPr>
              <a:t>reviewing…</a:t>
            </a:r>
            <a:endParaRPr/>
          </a:p>
        </p:txBody>
      </p:sp>
      <p:sp>
        <p:nvSpPr>
          <p:cNvPr id="727" name="Google Shape;727;p45"/>
          <p:cNvSpPr/>
          <p:nvPr/>
        </p:nvSpPr>
        <p:spPr>
          <a:xfrm>
            <a:off x="7467600" y="6477000"/>
            <a:ext cx="609600" cy="2286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lt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1" name="Shape 7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2" name="Google Shape;732;p46"/>
          <p:cNvSpPr txBox="1"/>
          <p:nvPr>
            <p:ph type="title"/>
          </p:nvPr>
        </p:nvSpPr>
        <p:spPr>
          <a:xfrm>
            <a:off x="531639" y="753228"/>
            <a:ext cx="6896534" cy="1080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rebuchet MS"/>
              <a:buNone/>
            </a:pPr>
            <a:r>
              <a:rPr lang="en-US"/>
              <a:t>When an Object is Created</a:t>
            </a:r>
            <a:endParaRPr/>
          </a:p>
        </p:txBody>
      </p:sp>
      <p:sp>
        <p:nvSpPr>
          <p:cNvPr id="733" name="Google Shape;733;p46"/>
          <p:cNvSpPr txBox="1"/>
          <p:nvPr>
            <p:ph idx="1" type="body"/>
          </p:nvPr>
        </p:nvSpPr>
        <p:spPr>
          <a:xfrm>
            <a:off x="533400" y="2336873"/>
            <a:ext cx="6887389" cy="35993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</a:pPr>
            <a:r>
              <a:rPr lang="en-US"/>
              <a:t>Class variables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</a:pPr>
            <a:r>
              <a:rPr lang="en-US">
                <a:latin typeface="Lemon"/>
                <a:ea typeface="Lemon"/>
                <a:cs typeface="Lemon"/>
                <a:sym typeface="Lemon"/>
              </a:rPr>
              <a:t>myclass</a:t>
            </a:r>
            <a:r>
              <a:rPr lang="en-US"/>
              <a:t>: refers back to class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</a:pPr>
            <a:r>
              <a:rPr lang="en-US">
                <a:latin typeface="Lemon"/>
                <a:ea typeface="Lemon"/>
                <a:cs typeface="Lemon"/>
                <a:sym typeface="Lemon"/>
              </a:rPr>
              <a:t>superclass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</a:pPr>
            <a:r>
              <a:rPr lang="en-US"/>
              <a:t>Instance variables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</a:pPr>
            <a:r>
              <a:rPr lang="en-US">
                <a:latin typeface="Lemon"/>
                <a:ea typeface="Lemon"/>
                <a:cs typeface="Lemon"/>
                <a:sym typeface="Lemon"/>
              </a:rPr>
              <a:t>this</a:t>
            </a:r>
            <a:r>
              <a:rPr lang="en-US"/>
              <a:t>: the object environment in which the current method is running (may not be bottom of object chain)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</a:pPr>
            <a:r>
              <a:rPr lang="en-US">
                <a:latin typeface="Lemon"/>
                <a:ea typeface="Lemon"/>
                <a:cs typeface="Lemon"/>
                <a:sym typeface="Lemon"/>
              </a:rPr>
              <a:t>super</a:t>
            </a:r>
            <a:r>
              <a:rPr lang="en-US"/>
              <a:t>: the environment of the part of the object chain above this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</a:pPr>
            <a:r>
              <a:rPr lang="en-US">
                <a:latin typeface="Lemon"/>
                <a:ea typeface="Lemon"/>
                <a:cs typeface="Lemon"/>
                <a:sym typeface="Lemon"/>
              </a:rPr>
              <a:t>self</a:t>
            </a:r>
            <a:r>
              <a:rPr lang="en-US"/>
              <a:t>: the actual object, i.e. the bottom of the object chain (defined at the top of the chain)</a:t>
            </a:r>
            <a:endParaRPr/>
          </a:p>
          <a:p>
            <a:pPr indent="-762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</a:pPr>
            <a:r>
              <a:t/>
            </a:r>
            <a:endParaRPr/>
          </a:p>
        </p:txBody>
      </p:sp>
      <p:sp>
        <p:nvSpPr>
          <p:cNvPr id="734" name="Google Shape;734;p46"/>
          <p:cNvSpPr txBox="1"/>
          <p:nvPr>
            <p:ph idx="10" type="dt"/>
          </p:nvPr>
        </p:nvSpPr>
        <p:spPr>
          <a:xfrm>
            <a:off x="5367881" y="5936188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4/21/21</a:t>
            </a:r>
            <a:endParaRPr/>
          </a:p>
        </p:txBody>
      </p:sp>
      <p:sp>
        <p:nvSpPr>
          <p:cNvPr id="735" name="Google Shape;735;p46"/>
          <p:cNvSpPr txBox="1"/>
          <p:nvPr>
            <p:ph idx="12" type="sldNum"/>
          </p:nvPr>
        </p:nvSpPr>
        <p:spPr>
          <a:xfrm>
            <a:off x="7848600" y="753228"/>
            <a:ext cx="1157674" cy="109078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9" name="Shape 7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0" name="Google Shape;740;p47"/>
          <p:cNvSpPr txBox="1"/>
          <p:nvPr>
            <p:ph type="title"/>
          </p:nvPr>
        </p:nvSpPr>
        <p:spPr>
          <a:xfrm>
            <a:off x="531639" y="753228"/>
            <a:ext cx="6896534" cy="1080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rebuchet MS"/>
              <a:buNone/>
            </a:pPr>
            <a:r>
              <a:rPr lang="en-US"/>
              <a:t>Objects: More Syntactic Sugar?!</a:t>
            </a:r>
            <a:endParaRPr/>
          </a:p>
        </p:txBody>
      </p:sp>
      <p:sp>
        <p:nvSpPr>
          <p:cNvPr id="741" name="Google Shape;741;p47"/>
          <p:cNvSpPr txBox="1"/>
          <p:nvPr>
            <p:ph idx="1" type="body"/>
          </p:nvPr>
        </p:nvSpPr>
        <p:spPr>
          <a:xfrm>
            <a:off x="533400" y="2336873"/>
            <a:ext cx="6887389" cy="35993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</a:pPr>
            <a:r>
              <a:rPr lang="en-US"/>
              <a:t>See this example.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</a:pPr>
            <a:r>
              <a:rPr lang="en-US" u="sng">
                <a:solidFill>
                  <a:schemeClr val="hlink"/>
                </a:solidFill>
                <a:hlinkClick r:id="rId3"/>
              </a:rPr>
              <a:t>obj-no-classes.obj</a:t>
            </a:r>
            <a:endParaRPr/>
          </a:p>
        </p:txBody>
      </p:sp>
      <p:sp>
        <p:nvSpPr>
          <p:cNvPr id="742" name="Google Shape;742;p47"/>
          <p:cNvSpPr txBox="1"/>
          <p:nvPr>
            <p:ph idx="10" type="dt"/>
          </p:nvPr>
        </p:nvSpPr>
        <p:spPr>
          <a:xfrm>
            <a:off x="5367881" y="5936188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4/21/21</a:t>
            </a:r>
            <a:endParaRPr/>
          </a:p>
        </p:txBody>
      </p:sp>
      <p:sp>
        <p:nvSpPr>
          <p:cNvPr id="743" name="Google Shape;743;p47"/>
          <p:cNvSpPr txBox="1"/>
          <p:nvPr>
            <p:ph idx="12" type="sldNum"/>
          </p:nvPr>
        </p:nvSpPr>
        <p:spPr>
          <a:xfrm>
            <a:off x="7848600" y="753228"/>
            <a:ext cx="1157674" cy="109078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7" name="Shape 7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8" name="Google Shape;748;p48"/>
          <p:cNvSpPr txBox="1"/>
          <p:nvPr>
            <p:ph type="title"/>
          </p:nvPr>
        </p:nvSpPr>
        <p:spPr>
          <a:xfrm>
            <a:off x="531639" y="753228"/>
            <a:ext cx="6896534" cy="1080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rebuchet MS"/>
              <a:buNone/>
            </a:pPr>
            <a:r>
              <a:rPr lang="en-US"/>
              <a:t>Summary</a:t>
            </a:r>
            <a:endParaRPr/>
          </a:p>
        </p:txBody>
      </p:sp>
      <p:sp>
        <p:nvSpPr>
          <p:cNvPr id="749" name="Google Shape;749;p48"/>
          <p:cNvSpPr txBox="1"/>
          <p:nvPr>
            <p:ph idx="1" type="body"/>
          </p:nvPr>
        </p:nvSpPr>
        <p:spPr>
          <a:xfrm>
            <a:off x="533400" y="2336873"/>
            <a:ext cx="6887389" cy="35993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Char char="•"/>
            </a:pPr>
            <a:r>
              <a:rPr lang="en-US"/>
              <a:t>What are the requirements for a language to be object-oriented?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ct val="100000"/>
              <a:buChar char="•"/>
            </a:pPr>
            <a:r>
              <a:rPr lang="en-US"/>
              <a:t>What are some OO language designs?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ct val="100000"/>
              <a:buChar char="•"/>
            </a:pPr>
            <a:r>
              <a:rPr lang="en-US"/>
              <a:t>(</a:t>
            </a:r>
            <a:r>
              <a:rPr lang="en-US" u="sng"/>
              <a:t>How</a:t>
            </a:r>
            <a:r>
              <a:rPr lang="en-US"/>
              <a:t> does OBJ do object orientation?)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ct val="100000"/>
              <a:buChar char="•"/>
            </a:pPr>
            <a:r>
              <a:rPr lang="en-US"/>
              <a:t>Important: how environment concept is applied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ct val="100000"/>
              <a:buChar char="•"/>
            </a:pPr>
            <a:r>
              <a:rPr lang="en-US"/>
              <a:t>What are the syntax and semantics of OBJ?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ct val="100000"/>
              <a:buChar char="•"/>
            </a:pPr>
            <a:r>
              <a:rPr lang="en-US"/>
              <a:t>For homework, check out other new stuff.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ct val="100000"/>
              <a:buChar char="•"/>
            </a:pPr>
            <a:r>
              <a:rPr lang="en-US"/>
              <a:t>lists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ct val="100000"/>
              <a:buChar char="•"/>
            </a:pPr>
            <a:r>
              <a:rPr lang="en-US"/>
              <a:t>characters and strings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ct val="100000"/>
              <a:buChar char="•"/>
            </a:pPr>
            <a:r>
              <a:rPr lang="en-US"/>
              <a:t>output primitives</a:t>
            </a:r>
            <a:endParaRPr/>
          </a:p>
        </p:txBody>
      </p:sp>
      <p:sp>
        <p:nvSpPr>
          <p:cNvPr id="750" name="Google Shape;750;p48"/>
          <p:cNvSpPr txBox="1"/>
          <p:nvPr>
            <p:ph idx="10" type="dt"/>
          </p:nvPr>
        </p:nvSpPr>
        <p:spPr>
          <a:xfrm>
            <a:off x="5367881" y="5936188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4/21/21</a:t>
            </a:r>
            <a:endParaRPr/>
          </a:p>
        </p:txBody>
      </p:sp>
      <p:sp>
        <p:nvSpPr>
          <p:cNvPr id="751" name="Google Shape;751;p48"/>
          <p:cNvSpPr txBox="1"/>
          <p:nvPr>
            <p:ph idx="12" type="sldNum"/>
          </p:nvPr>
        </p:nvSpPr>
        <p:spPr>
          <a:xfrm>
            <a:off x="7848600" y="753228"/>
            <a:ext cx="1157674" cy="109078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Berlin">
  <a:themeElements>
    <a:clrScheme name="Berlin">
      <a:dk1>
        <a:srgbClr val="000000"/>
      </a:dk1>
      <a:lt1>
        <a:srgbClr val="FFFFFF"/>
      </a:lt1>
      <a:dk2>
        <a:srgbClr val="9D360E"/>
      </a:dk2>
      <a:lt2>
        <a:srgbClr val="E7E6E6"/>
      </a:lt2>
      <a:accent1>
        <a:srgbClr val="F09415"/>
      </a:accent1>
      <a:accent2>
        <a:srgbClr val="C1B56B"/>
      </a:accent2>
      <a:accent3>
        <a:srgbClr val="4BAF73"/>
      </a:accent3>
      <a:accent4>
        <a:srgbClr val="5AA6C0"/>
      </a:accent4>
      <a:accent5>
        <a:srgbClr val="D17DF9"/>
      </a:accent5>
      <a:accent6>
        <a:srgbClr val="FA7E5C"/>
      </a:accent6>
      <a:hlink>
        <a:srgbClr val="FFAE3E"/>
      </a:hlink>
      <a:folHlink>
        <a:srgbClr val="FCC77E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2009-11-12T18:07:53Z</dcterms:created>
  <dc:creator>James Heliotis</dc:creator>
</cp:coreProperties>
</file>